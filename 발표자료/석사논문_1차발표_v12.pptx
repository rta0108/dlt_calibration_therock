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87" r:id="rId17"/>
    <p:sldId id="267" r:id="rId13"/>
    <p:sldId id="288" r:id="rId38"/>
    <p:sldId id="289" r:id="rId39"/>
    <p:sldId id="268" r:id="rId14"/>
    <p:sldId id="269" r:id="rId15"/>
    <p:sldId id="270" r:id="rId16"/>
    <p:sldId id="286" r:id="rId37"/>
    <p:sldId id="272" r:id="rId18"/>
    <p:sldId id="273" r:id="rId19"/>
    <p:sldId id="274" r:id="rId20"/>
    <p:sldId id="290" r:id="rId40"/>
    <p:sldId id="291" r:id="rId41"/>
    <p:sldId id="276" r:id="rId22"/>
    <p:sldId id="292" r:id="rId42"/>
    <p:sldId id="293" r:id="rId43"/>
    <p:sldId id="277" r:id="rId23"/>
    <p:sldId id="278" r:id="rId24"/>
    <p:sldId id="279" r:id="rId25"/>
    <p:sldId id="280" r:id="rId26"/>
    <p:sldId id="281" r:id="rId27"/>
    <p:sldId id="282" r:id="rId28"/>
    <p:sldId id="283" r:id="rId29"/>
    <p:sldId id="284" r:id="rId30"/>
    <p:sldId id="285" r:id="rId31"/>
    <p:sldId id="294" r:id="rId44"/>
    <p:sldId id="295" r:id="rId45"/>
    <p:sldId id="296" r:id="rId46"/>
    <p:sldId id="275" r:id="rId21"/>
    <p:sldId id="297" r:id="rId4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2.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40.xml"/><Relationship Id="rId22" Type="http://schemas.openxmlformats.org/officeDocument/2006/relationships/slide" Target="slides/slide25.xml"/><Relationship Id="rId23" Type="http://schemas.openxmlformats.org/officeDocument/2006/relationships/slide" Target="slides/slide28.xml"/><Relationship Id="rId24" Type="http://schemas.openxmlformats.org/officeDocument/2006/relationships/slide" Target="slides/slide29.xml"/><Relationship Id="rId25" Type="http://schemas.openxmlformats.org/officeDocument/2006/relationships/slide" Target="slides/slide30.xml"/><Relationship Id="rId26" Type="http://schemas.openxmlformats.org/officeDocument/2006/relationships/slide" Target="slides/slide31.xml"/><Relationship Id="rId27" Type="http://schemas.openxmlformats.org/officeDocument/2006/relationships/slide" Target="slides/slide32.xml"/><Relationship Id="rId28" Type="http://schemas.openxmlformats.org/officeDocument/2006/relationships/slide" Target="slides/slide33.xml"/><Relationship Id="rId29" Type="http://schemas.openxmlformats.org/officeDocument/2006/relationships/slide" Target="slides/slide34.xml"/><Relationship Id="rId30" Type="http://schemas.openxmlformats.org/officeDocument/2006/relationships/slide" Target="slides/slide35.xml"/><Relationship Id="rId31" Type="http://schemas.openxmlformats.org/officeDocument/2006/relationships/slide" Target="slides/slide36.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19.xml"/><Relationship Id="rId38" Type="http://schemas.openxmlformats.org/officeDocument/2006/relationships/slide" Target="slides/slide14.xml"/><Relationship Id="rId39" Type="http://schemas.openxmlformats.org/officeDocument/2006/relationships/slide" Target="slides/slide15.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a:solidFill>
                  <a:srgbClr val="000000"/>
                </a:solidFill>
                <a:latin typeface="나눔스퀘어 Bold"/>
                <a:ea typeface="나눔스퀘어 Bold"/>
              </a:rPr>
              <a:t>oracle 선택 용량 (미사용 메시 16개, 참조 부위 164개)</a:t>
            </a:r>
          </a:p>
        </c:rich>
      </c:tx>
      <c:layout/>
      <c:overlay val="0"/>
    </c:title>
    <c:autoTitleDeleted val="0"/>
    <c:plotArea>
      <c:barChart>
        <c:barDir val="col"/>
        <c:grouping val="clustered"/>
        <c:ser>
          <c:idx val="0"/>
          <c:order val="0"/>
          <c:tx>
            <c:strRef>
              <c:f>Sheet1!$B$1</c:f>
              <c:strCache>
                <c:ptCount val="1"/>
                <c:pt idx="0">
                  <c:v>전체 평균</c:v>
                </c:pt>
              </c:strCache>
            </c:strRef>
          </c:tx>
          <c:spPr>
            <a:solidFill>
              <a:srgbClr val="000000"/>
            </a:solidFill>
          </c:spPr>
          <c:cat>
            <c:strRef>
              <c:f>Sheet1!$A$2:$A$5</c:f>
              <c:strCache>
                <c:ptCount val="4"/>
                <c:pt idx="0">
                  <c:v>Raw PartField</c:v>
                </c:pt>
                <c:pt idx="1">
                  <c:v>비언어 관찰 후보</c:v>
                </c:pt>
                <c:pt idx="2">
                  <c:v>제안 (합집합)</c:v>
                </c:pt>
                <c:pt idx="3">
                  <c:v>제안 (합집합·차집합)</c:v>
                </c:pt>
              </c:strCache>
            </c:strRef>
          </c:cat>
          <c:val>
            <c:numRef>
              <c:f>Sheet1!$B$2:$B$5</c:f>
              <c:numCache>
                <c:formatCode>General</c:formatCode>
                <c:ptCount val="4"/>
                <c:pt idx="0">
                  <c:v>0.458</c:v>
                </c:pt>
                <c:pt idx="1">
                  <c:v>0.485</c:v>
                </c:pt>
                <c:pt idx="2">
                  <c:v>0.493</c:v>
                </c:pt>
                <c:pt idx="3">
                  <c:v>0.502</c:v>
                </c:pt>
              </c:numCache>
            </c:numRef>
          </c:val>
        </c:ser>
        <c:ser>
          <c:idx val="1"/>
          <c:order val="1"/>
          <c:tx>
            <c:strRef>
              <c:f>Sheet1!$C$1</c:f>
              <c:strCache>
                <c:ptCount val="1"/>
                <c:pt idx="0">
                  <c:v>작은 부위 평균</c:v>
                </c:pt>
              </c:strCache>
            </c:strRef>
          </c:tx>
          <c:spPr>
            <a:solidFill>
              <a:srgbClr val="A6A6A6"/>
            </a:solidFill>
          </c:spPr>
          <c:cat>
            <c:strRef>
              <c:f>Sheet1!$A$2:$A$5</c:f>
              <c:strCache>
                <c:ptCount val="4"/>
                <c:pt idx="0">
                  <c:v>Raw PartField</c:v>
                </c:pt>
                <c:pt idx="1">
                  <c:v>비언어 관찰 후보</c:v>
                </c:pt>
                <c:pt idx="2">
                  <c:v>제안 (합집합)</c:v>
                </c:pt>
                <c:pt idx="3">
                  <c:v>제안 (합집합·차집합)</c:v>
                </c:pt>
              </c:strCache>
            </c:strRef>
          </c:cat>
          <c:val>
            <c:numRef>
              <c:f>Sheet1!$C$2:$C$5</c:f>
              <c:numCache>
                <c:formatCode>General</c:formatCode>
                <c:ptCount val="4"/>
                <c:pt idx="0">
                  <c:v>0.14</c:v>
                </c:pt>
                <c:pt idx="1">
                  <c:v>0.153</c:v>
                </c:pt>
                <c:pt idx="2">
                  <c:v>0.171</c:v>
                </c:pt>
                <c:pt idx="3">
                  <c:v>0.174</c:v>
                </c:pt>
              </c:numCache>
            </c:numRef>
          </c:val>
        </c:ser>
        <c:dLbls>
          <c:numFmt formatCode="0.000" sourceLinked="0"/>
          <c:txPr>
            <a:bodyPr/>
            <a:lstStyle/>
            <a:p>
              <a:pPr>
                <a:defRPr sz="11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A6A6A6"/>
            </a:solidFill>
          </a:ln>
        </c:spPr>
        <c:txPr>
          <a:bodyPr/>
          <a:lstStyle/>
          <a:p>
            <a:pPr>
              <a:defRPr sz="1200"/>
            </a:pPr>
          </a:p>
        </c:txPr>
        <c:crossAx val="-2113994440"/>
        <c:crosses val="autoZero"/>
        <c:auto val="1"/>
        <c:lblAlgn val="ctr"/>
        <c:lblOffset val="100"/>
        <c:noMultiLvlLbl val="0"/>
      </c:catAx>
      <c:valAx>
        <c:axId val="-2113994440"/>
        <c:scaling>
          <c:max val="0.6"/>
          <c:min val="0.0"/>
        </c:scaling>
        <c:delete val="0"/>
        <c:axPos val="l"/>
        <c:majorGridlines>
          <c:spPr>
            <a:ln>
              <a:solidFill>
                <a:srgbClr val="E7E7E7"/>
              </a:solidFill>
            </a:ln>
          </c:spPr>
        </c:majorGridlines>
        <c:majorTickMark val="out"/>
        <c:minorTickMark val="none"/>
        <c:tickLblPos val="nextTo"/>
        <c:spPr>
          <a:ln>
            <a:noFill/>
          </a:ln>
        </c:spPr>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200">
          <a:latin typeface="나눔스퀘어"/>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0:15] 안녕하십니까. 이정진 교수님 연구실 석사과정 강민수입니다. 오늘 발표드릴 학위 논문 주제는 '의미 있는 표면 영역 그래프와 연속 UV 상태를 이용한 오디오 반응형 프로젝션 매핑 콘텐츠 저작'입니다.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0:30] 먼저 제 연구 질문을 소개하겠습니다. 저는 물체 표면의 어디가 의미 있는가라는 질문으로 연구해 왔습니다. 이전 연구에서는 캘리브레이션 기준점을 추천했는데, 사람들이 감상할 때 주목하는 곳과 보정 기준으로 고르는 곳이 달랐습니다. 즉 의미 있는 표면은 과업에 따라 달라집니다. 이를 DLT 보정 도구로 확장했고, 학위 논문에서는 이 질문을 점에서 영역으로, 보정에서 콘텐츠 저작으로 넓혔습니다.</a:t>
            </a:r>
          </a:p>
          <a:p/>
          <a:p>
            <a:r>
              <a:t>[확인 필요] 사진, 입학 연월, 이전 논문 게재처·연도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0:03] 먼저 연구 배경입니다.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0:20] 프로젝션 매핑은 실제 물체의 표면을 화면으로 쓰는 기술입니다. 보시는 것처럼 좋은 프로젝션 매핑 콘텐츠는 물체의 눈, 창문, 모서리 같은 형태 특징에 맞춰 사건이 일어날 때 평면 영상과는 다른 몰입감을 줍니다.</a:t>
            </a:r>
          </a:p>
          <a:p>
            <a:endParaRPr/>
          </a:p>
          <a:p>
            <a:r>
              <a:t>[확인 필요] 사례 영상 출처와 사용 권리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0:30] 하지만 이런 콘텐츠를 만들려면 제작자가 중요한 영역을 직접 고르고, 영역마다 사건의 시작과 이동을 설계하고, 여러 시점의 경계와 UV seam을 맞추고, 음악 타이밍까지 반복해서 조정해야 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0:35] 생성형 모델을 그대로 쓰면 네 가지 문제가 생깁니다. 시점마다 따로 만들면 같은 표면에 다른 무늬가 생기고, 2D mask나 딱 잘린 경계는 물체를 조각내며, 물체 전체에 하나의 오디오 신호를 쓰면 특징을 살리지 못합니다. 또 데칼이나 이미지 교체처럼 보여 사건으로 읽히지 않는 경우가 많았습니다.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0:35] 관련 연구와의 차이입니다. PartField와 PartSLIP의 3D 부위 표현은 새로 제안하지 않고 저작용 영역 그래프로 바꿉니다. Tex4D는 움직이는 메시와 텍스트를 다루지만 오디오가 없고, PixTex는 학습 기반인 반면 저희는 학습 없이 기존 모델과 결정적 처리를 결합합니다. 일반 오디오 비주얼라이저와 달리 오디오를 표면 역할별로 나눠 연결합니다.</a:t>
            </a:r>
          </a:p>
          <a:p/>
          <a:p>
            <a:r>
              <a:t>[확인 필요] 참고문헌 서지 정보 (특히 PixTex), 프로젝션 매핑 저작 도구 선행연구를 더할지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0:40] 본 연구는 의미 있는 표면 영역을 저작 단위로 만들고, 영역마다 다른 사건을 생성해 모든 시점이 공유하는 UV 영상으로 출력합니다. 기여는 세 가지입니다. 첫째, 편집 가능한 영역 그래프. 둘째, 사건별 오디오 특징과 정규화로 사건의 종류, 시작, 빈 구간, 동시 시작을 정하는 편성. 셋째, 영역이 생성과 보호 범위를 정하고 결과를 UV에 보존하는 저작 흐름입니다. 모델 학습은 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0:03] 다음은 제안 방법입니다.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0:45] 전체 파이프라인입니다. 메시를 24개 시점에서 렌더링하고 PartField 특징과 DINO, SAM2 관측으로 영역을 제안하면, 사용자가 편집기에서 수정해 승인합니다. 오디오는 control lane과 사건 편성으로 바뀝니다. 회색 단계만 생성 모델로, FLUX가 사건의 정점 상태를, LTX가 145프레임 시간 변화를 만듭니다. 결과는 UV에 되돌려 배타 owner로 합쳐 30초 UV 영상이 됩니다. 나머지는 결정적 처리입니다.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0:30] MSR은 정답 label이 아니라 저작 단위입니다. 의미, 기능, 구조, 작가 지정 근거를 함께 쓰고, 경계는 딱 자르지 않고 전이 구간을 둡니다. 영역들의 관계를 그래프로 만든 것이 MSRG이고, 각 영역에 Source, Path, Reservoir 같은 역할을 줍니다. 역할은 자동 제안 후 사용자가 수정합니다.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0:30] 오디오는 STFT에서 onset, 화성·타악 분리, 대역 에너지, 변화량을 계산해 다섯 lane으로 묶습니다. 각 lane은 특징의 가중합에 올라갈 때와 내려갈 때 시간 상수가 다른 smoothing을 적용해서, seed는 빠르게 반응하고 reservoir는 천천히 쌓입니다.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0:40] UV 통합입니다. 각 텍셀은 face ID와 barycentric 좌표를 갖고 있어 화면 좌표를 정확히 계산하고, 같은 face가 보일 때만 색을 가져옵니다. 생성 영상의 첫 프레임과의 차이만 기본 텍스처에 더하고, 여러 시점은 정면일수록, 잔차가 작을수록 큰 가중치로 합칩니다. 텍셀마다 owner가 하나라 사건이 겹쳐도 충돌하지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0:03] 다음은 실험 결과입니다.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0:25] 정답 영상이 없어서 질문마다 지표를 정했습니다. 영역 제안은 표현력 상한, 영역별 반응은 effective rank, 오디오는 실제 대 7초 이동 조건의 시작점 점수로 봅니다. 작품성은 네 단계 판정으로 따로 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0:35] 두 번째는 영역별 반응입니다. 같은 오디오에서 Global과 Soft MSR은 시간 반응이 한 갈래였지만, 역할 그래프를 쓴 Full MSRG는 3.58, 2.24 갈래로 나뉘었고 오디오 변화와의 상관은 0.90, 0.94였습니다. 오른쪽은 이전 파이프라인의 30초 결과로, 실제 타이밍의 정렬이 섞은 타이밍보다 높았습니다.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0:20] 다음은 고정 메시에서 갈비가 열리며 내부 구조가 드러나는 6초 사건입니다. 한 영역 안에서만 일어나는 사건의 예시이고, 오디오는 없습니다.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0:30] 세 번째는 표면 일관성입니다. UV seam 양쪽의 색 차이는 31.33에서 2.51로 92% 줄었고, coverage는 1.0, TheRock의 네 부위 사건에서 소유 영역 밖 변화는 0이었습니다. 왼쪽은 투영 기반과 UV 고정을 같은 측면에서 비교한 것입니다.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0:00] [부록] 30초 구성 과정입니다. TheRock의 현재 결과입니다. 처음 30초 시도는 짧은 사건을 늘이면서 출력 프레임의 50에서 71퍼센트가 반복됐고, 앞 사건이 귀와 입 영역을 침범해 기각했습니다. E230에서는 한 텍셀이 한 영역에만 속하는 배타 소유권과 실제 생성 프레임 연결을 적용해 2048 제곱, 24fps, 721프레임의 30초 UV 영상을 만들었습니다. frame stretch와 활성 source frame 재사용은 없고, 영역 겹침과 보호 영역 변화도 0입니다. 이어 E231에서는 음악 구조로 사건 시작과 중첩을 배치했습니다. 정렬 조건은 5대5, 7초 이동 대조군은 0대5였고 시작점 점수도 0.838 대 0.210이었습니다. 다만 사건 종류와 내부 움직임은 아직 저자가 고정했으므로, 직접적인 audio-driven motion으로 과장해서 말하지 않겠습니다.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0:03] 마지막으로 연구의 연장선과 향후 계획입니다.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0:30] 연구의 연장선입니다. 이전 연구의 saliency 추천 정점을 대응점으로 쓰는 카메라 없는 DLT 보정 도구를 만들었고, 가상 프로젝터에서 10점 기준 0.71픽셀 재투영 오차를 확인했습니다. 콘텐츠가 UV에 있으므로 프로젝터만 다시 보정하면 같은 TheRock 실물에 그대로 투사할 수 있습니다.</a:t>
            </a:r>
          </a:p>
          <a:p/>
          <a:p>
            <a:r>
              <a:t>[확인 필요] 발표 전 실물 시험을 하면 오차(mm)와 사진으로 교체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0:30] 한계는 사건 강도 불균형, 영역당 한 번뿐인 사건, raw audio를 직접 쓰지 않는 점, 한 곡과 한 메시라는 점입니다. 그래서 사건 내부 움직임, 지각 평가, 일반화, 저작 평가, 실물 투사 순서로 진행하겠습니다.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0:20] 정리하면, 의미 있는 표면 영역을 저작 단위로 음악에 맞춰 사건을 편성하고 UV 영상으로 출력하는 흐름을 TheRock에서 확보했고, 다음은 사람의 평가와 일반화, 실물 투사입니다.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0:03] 감사합니다. 질문 받겠습니다.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0:00] 부록입니다. 질의응답 때 필요한 장으로 바로 이동합니다.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0:00] 질문이 범위를 넘을 때 쓰는 장입니다. 왼쪽은 근거로 말할 수 있는 것, 오른쪽은 아직 말하지 않는 것입니다.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0:00] 실패 실험이 방법을 어떻게 바꿨는지 묻는 질문에 쓰는 장입니다.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0:00] 예상 질문과 답변입니다.</a:t>
            </a:r>
          </a:p>
          <a:p/>
          <a:p>
            <a:r>
              <a:t>Q1. MSR은 semantic segmentation과 무엇이 다른가?</a:t>
            </a:r>
          </a:p>
          <a:p>
            <a:r>
              <a:t>A. 정답 label 예측이 아니라 저작에 필요한 영역을 수정 가능한 후보로 제시하는 것이 목적입니다. 의미, 기하, 작가 지정 근거를 함께 쓰고 soft 경계, 불확실성, 계층, 인접, 역할을 기록합니다. 이전 연구에서도 같은 물체라도 감상할 때 주목하는 곳과 캘리브레이션 기준점으로 고르는 곳이 달랐습니다. 의미 있는 표면은 과업에 따라 달라지기 때문에 저작 과업 기준의 단위로 정의했습니다.</a:t>
            </a:r>
          </a:p>
          <a:p/>
          <a:p>
            <a:r>
              <a:t>Q2. PartField와 SAM2를 조합한 것만으로 novelty가 충분한가?</a:t>
            </a:r>
          </a:p>
          <a:p>
            <a:r>
              <a:t>A. 모델 결합 자체를 기여로 주장하지 않습니다. 제한된 후보 예산, 원본 표면에서 실행되는 구성 연산, 연속 UV 소유권, 역할 그래프와 오디오 조건 사건 편성을 하나의 저작 흐름으로 만든 것이 기여입니다. 관련 연구 검토와 사용자 연구로 이 범위를 더 검증할 계획입니다.</a:t>
            </a:r>
          </a:p>
          <a:p/>
          <a:p>
            <a:r>
              <a:t>Q3. Full MSRG가 더 예쁘다는 뜻인가?</a:t>
            </a:r>
          </a:p>
          <a:p>
            <a:r>
              <a:t>A. 아닙니다. effective rank는 영역별 시간 반응이 하나의 변화로 붕괴하지 않았는지를 보는 다양성 지표입니다. 미적 품질과 선호는 별도 평가가 필요합니다.</a:t>
            </a:r>
          </a:p>
          <a:p/>
          <a:p>
            <a:r>
              <a:t>Q4. 정렬 점수가 높으면 오디오 인과성이 증명되는가?</a:t>
            </a:r>
          </a:p>
          <a:p>
            <a:r>
              <a:t>A. engineering gate 수준의 근거입니다. 실제 정렬 조건이 대조 조건보다 높았지만, 사람이 느끼는 인과성은 실제 타이밍, 시간 이동, 역할 섞기를 숨긴 비교 평가가 필요합니다.</a:t>
            </a:r>
          </a:p>
          <a:p/>
          <a:p>
            <a:r>
              <a:t>Q5. 오디오는 현재 어디까지 연결되었는가?</a:t>
            </a:r>
          </a:p>
          <a:p>
            <a:r>
              <a:t>A. E237에서는 사건마다 다른 오디오 특징 조합을 percentile로 정규화해 사건의 종류, 시작, 빈 구간, 동시 시작을 정했습니다. 다만 생성 모델은 raw audio를 직접 받지 않으므로 사건 내부 움직임은 오디오가 만들지 않습니다. E231의 정렬 대조(5/5 대 0/5, 0.838 대 0.210)는 내부 진단이고 사건이 다섯 개뿐이라 지각 평가로 보완합니다.</a:t>
            </a:r>
          </a:p>
          <a:p/>
          <a:p>
            <a:r>
              <a:t>Q6. 실제 프로젝터에서 검증했는가?</a:t>
            </a:r>
          </a:p>
          <a:p>
            <a:r>
              <a:t>A. 아직 아닙니다. E237 영상을 Unity의 메시에 적용해 재생까지 확인했고(E238), 보정 도구는 가상 프로젝터로 검증했습니다. 실물 대응점 오차, 렌즈 왜곡, 가림, 밝기 보정은 다음 단계입니다.</a:t>
            </a:r>
          </a:p>
          <a:p/>
          <a:p>
            <a:r>
              <a:t>Q7. oracle 선택 용량이 자동 분할 정확도인가?</a:t>
            </a:r>
          </a:p>
          <a:p>
            <a:r>
              <a:t>A. 아닙니다. 기준 부위를 보고 문법 안에서 고른 최대 IoU라서 후보 집합이 표현할 수 있는 상한입니다. 자동 선택의 정확도는 작가가 만든 기준 영역과 비교하는 평가로 따로 확인할 계획입니다.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0:00] 보정 도구 관련 질문에 쓰는 장입니다. 대응점을 실물에 맞추면 DLT로 3x4 투영 행렬을 풀고, RQ 분해로 프로젝터의 위치, 방향, 초점거리, 주점을 구해 Unity 카메라에 적용합니다. 수치 안정성을 위해 Hartley 정규화를 쓰고, 좌우가 뒤집히거나 모델이 프로젝터 바로 앞뒤에 놓이는 해는 적용하지 않습니다. 6점은 손떨림 1~2px에도 카메라가 일그러질 수 있어 기본을 12점으로 두었습니다. 기반 논문에서도 실물 오차가 6점 4~6px, 12점 1~2px였습니다.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0:35] 첫 번째 결과입니다. 같은 후보 수와 집합 연산 아래, 미사용 메시 16개, 164개 부위에서 제안 방식이 Raw PartField보다 4.35%p, 비언어 후보보다 1.67%p 높았고 신뢰구간은 0을 포함하지 않았습니다. 이것은 자동 정확도가 아니라 표현력 상한이고, 작은 부위에서는 나쁜 사례가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0:40] 제안 방법입니다. PartField로 face마다 448차원 특징을 얻고, 인접 관계를 지키는 응집 클러스터링으로 전체 계층을 한 번에 만듭니다. 후보는 예산 B 안에서 한 영역이나 두 영역의 합집합으로 만들고, 24시점의 SAM2, DINO 관측과 얼마나 겹치는지, 즉 이 식의 IoU로 고릅니다. 승인 후에는 경계가 부드러운 연속 field가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0:40] 이 lane으로 사건을 편성합니다. 사건마다 다른 특징 조합을 쓰고, 점수 범위가 달라서 각 사건의 30초 분포 기준 percentile로 정규화합니다. 임계값을 넘을 때만 시작하므로 빈 구간이 생기고, 영역이 다르면 동시에 시작합니다. 오른쪽처럼 raw audio로 직접 영상을 만들거나 보간하는 방식은 기각했고, 현재 오디오는 편성과 프롬프트 의미를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0:35] 생성은 두 단계입니다. FLUX에 고정 렌더와 owner mask를 넣어 사건의 정점 상태를 만들고, 여러 방향에 투영해 이상한 후보를 거릅니다. 그다음 LTX에 여섯 개 keyframe을 주어 145프레임의 시간 변화를 만들고, latent를 두 배로 업스케일해 1536 해상도로 얻습니다. 국소성은 다음 단계의 owner 합성이 보장합니다.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0:35] 오디오와 사건 시작의 정렬입니다. E231에서 음악 특징으로 고른 시작점은 시작 프레임 점수 평균 0.838, 오디오를 7초 밀면 0.210이었고, trigger는 5개 대 0개였습니다. 다만 귀는 이동 조건이 더 높았고 사건이 다섯 개뿐인 내부 진단이라, 사람의 지각 평가로 확인할 예정입니다.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0:50] 현재 결과인 E237입니다. 영상은 정면, 측면, 후면을 동시에 보여 주고 아래 타임라인이 음악 진행을 표시합니다. [재생] 2.5초에 전면이 시작하고 코가 겹쳐 시작합니다. 12초 부근은 임계값을 넘는 사건이 없어 비어 있고, 16초에 귀와 눈이 동시에 시작합니다. 마지막 24초에 저음이 커지며 후면이 열립니다. 형상과 기본 텍스처는 그대로이고 텍셀당 owner는 하나입니다. 다만 사건 강도가 불균형하고 한 곡, 한 메시의 결과입니다.</a:t>
            </a:r>
          </a:p>
          <a:p/>
          <a:p>
            <a:r>
              <a:t>[확인 필요] E237 영상을 그림 자리에 넣고 '클릭 시 재생'으로 설정</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0:40] 앞으로의 핵심은 평가입니다. 먼저 지각 평가로 지금의 자동 진단이 사람에게도 의미 있게 보이는지 확인합니다. 오디오는 정렬, 7초 이동, 음악 무관 고정 시간표 등과, 공간은 owner 제거, binary mask 등과 비교합니다. 조건 이름을 숨기고 쌍대 선호와 7점 척도로 응답받아, pilot으로 인원을 정한 뒤 Friedman과 Wilcoxon으로 분석합니다.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0:35] 다음은 저작, 일반화, 실물 평가입니다. 저작은 수동 mask, hard mask, 제안 편집기를 같은 참여자가 모두 써 보고 시간과 부담을 비교합니다. 일반화는 음악 세 곡, 메시 세 종 이상으로 성공과 실패를 모두 보고하고, 실물 투사는 보정에 쓰지 않은 지점의 mm 오차를 잽니다.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0:00] 역할 자동 제안, 전달, 표면 상태 식을 묻는 질문에 쓰는 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0:00] 모델 버전과 실행 시간을 묻는 질문에 쓰는 장입니다. 모든 모델은 학습 없이 기존 checkpoint로 추론만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0:00] 참고문헌입니다.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0:00] E237 사건 시간표입니다. 영상이 재생되지 않을 때 24번 대신 쓸 수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896F29A-2B32-0284-487D-823922EA4536}"/>
              </a:ext>
            </a:extLst>
          </p:cNvPr>
          <p:cNvSpPr>
            <a:spLocks noGrp="1"/>
          </p:cNvSpPr>
          <p:nvPr>
            <p:ph type="ctrTitle"/>
          </p:nvPr>
        </p:nvSpPr>
        <p:spPr>
          <a:xfrm>
            <a:off x="1524000" y="1122363"/>
            <a:ext cx="9144000" cy="2387600"/>
          </a:xfrm>
        </p:spPr>
        <p:txBody>
          <a:bodyPr anchor="b"/>
          <a:lstStyle>
            <a:lvl1pPr algn="ctr">
              <a:buNone/>
              <a:defRPr sz="6000"/>
            </a:lvl1pPr>
          </a:lstStyle>
          <a:p>
            <a:r>
              <a:t>마스터 제목 스타일 편집</a:t>
            </a:r>
          </a:p>
        </p:txBody>
      </p:sp>
      <p:sp>
        <p:nvSpPr>
          <p:cNvPr id="3" name="부제목 2">
            <a:extLst>
              <a:ext uri="{FF2B5EF4-FFF2-40B4-BE49-F238E27FC236}">
                <a16:creationId xmlns:a16="http://schemas.microsoft.com/office/drawing/2014/main" id="{E174DDDD-1438-5924-96C4-64CE18181B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클릭하여 마스터 부제목 스타일 편집</a:t>
            </a:r>
          </a:p>
        </p:txBody>
      </p:sp>
      <p:sp>
        <p:nvSpPr>
          <p:cNvPr id="4" name="날짜 개체 틀 3">
            <a:extLst>
              <a:ext uri="{FF2B5EF4-FFF2-40B4-BE49-F238E27FC236}">
                <a16:creationId xmlns:a16="http://schemas.microsoft.com/office/drawing/2014/main" id="{A0377C4D-3E26-0A63-5ADA-72BEBB4D9D02}"/>
              </a:ext>
            </a:extLst>
          </p:cNvPr>
          <p:cNvSpPr>
            <a:spLocks noGrp="1"/>
          </p:cNvSpPr>
          <p:nvPr>
            <p:ph type="dt" idx="10"/>
          </p:nvPr>
        </p:nvSpPr>
        <p:spPr/>
        <p:txBody>
          <a:bodyPr/>
          <a:lstStyle/>
          <a:p>
            <a:fld id="{D6165519-2835-4128-BDBB-D8E6EE91CB5A}" type="datetimeFigureOut">
              <a:t>2026-10-06</a:t>
            </a:fld>
            <a:endParaRPr/>
          </a:p>
        </p:txBody>
      </p:sp>
      <p:sp>
        <p:nvSpPr>
          <p:cNvPr id="5" name="바닥글 개체 틀 4">
            <a:extLst>
              <a:ext uri="{FF2B5EF4-FFF2-40B4-BE49-F238E27FC236}">
                <a16:creationId xmlns:a16="http://schemas.microsoft.com/office/drawing/2014/main" id="{3E811BD7-3746-9493-8C40-5FF39DD11D00}"/>
              </a:ext>
            </a:extLst>
          </p:cNvPr>
          <p:cNvSpPr>
            <a:spLocks noGrp="1"/>
          </p:cNvSpPr>
          <p:nvPr>
            <p:ph type="ftr" idx="11"/>
          </p:nvPr>
        </p:nvSpPr>
        <p:spPr/>
        <p:txBody>
          <a:bodyPr/>
          <a:lstStyle/>
          <a:p>
            <a:endParaRPr/>
          </a:p>
        </p:txBody>
      </p:sp>
      <p:sp>
        <p:nvSpPr>
          <p:cNvPr id="6" name="슬라이드 번호 개체 틀 5">
            <a:extLst>
              <a:ext uri="{FF2B5EF4-FFF2-40B4-BE49-F238E27FC236}">
                <a16:creationId xmlns:a16="http://schemas.microsoft.com/office/drawing/2014/main" id="{5C1F63C0-BB3E-CE01-4ABF-A6EBD93A7538}"/>
              </a:ext>
            </a:extLst>
          </p:cNvPr>
          <p:cNvSpPr>
            <a:spLocks noGrp="1"/>
          </p:cNvSpPr>
          <p:nvPr>
            <p:ph type="sldNum" idx="12"/>
          </p:nvPr>
        </p:nvSpPr>
        <p:spPr/>
        <p:txBody>
          <a:bodyPr/>
          <a:lstStyle/>
          <a:p>
            <a:fld id="{A23BF2C9-224E-48F8-A424-3BB93A509EA6}"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5F78511-1B9D-66E4-1C8A-CDA2B0439797}"/>
              </a:ext>
            </a:extLst>
          </p:cNvPr>
          <p:cNvSpPr>
            <a:spLocks noGrp="1"/>
          </p:cNvSpPr>
          <p:nvPr>
            <p:ph type="title"/>
          </p:nvPr>
        </p:nvSpPr>
        <p:spPr/>
        <p:txBody>
          <a:bodyPr/>
          <a:lstStyle/>
          <a:p>
            <a:r>
              <a:t>마스터 제목 스타일 편집</a:t>
            </a:r>
          </a:p>
        </p:txBody>
      </p:sp>
      <p:sp>
        <p:nvSpPr>
          <p:cNvPr id="3" name="내용 개체 틀 2">
            <a:extLst>
              <a:ext uri="{FF2B5EF4-FFF2-40B4-BE49-F238E27FC236}">
                <a16:creationId xmlns:a16="http://schemas.microsoft.com/office/drawing/2014/main" id="{BB95A1B7-FE7C-5EC7-AA41-93999B8311F4}"/>
              </a:ext>
            </a:extLst>
          </p:cNvPr>
          <p:cNvSpPr>
            <a:spLocks noGrp="1"/>
          </p:cNvSpPr>
          <p:nvPr>
            <p:ph idx="1"/>
          </p:nvPr>
        </p:nvSpPr>
        <p:spPr/>
        <p:txBody>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날짜 개체 틀 3">
            <a:extLst>
              <a:ext uri="{FF2B5EF4-FFF2-40B4-BE49-F238E27FC236}">
                <a16:creationId xmlns:a16="http://schemas.microsoft.com/office/drawing/2014/main" id="{9A5CF383-2885-F5C7-8252-02E6C6BB6546}"/>
              </a:ext>
            </a:extLst>
          </p:cNvPr>
          <p:cNvSpPr>
            <a:spLocks noGrp="1"/>
          </p:cNvSpPr>
          <p:nvPr>
            <p:ph type="dt" idx="10"/>
          </p:nvPr>
        </p:nvSpPr>
        <p:spPr/>
        <p:txBody>
          <a:bodyPr/>
          <a:lstStyle/>
          <a:p>
            <a:fld id="{D6165519-2835-4128-BDBB-D8E6EE91CB5A}" type="datetimeFigureOut">
              <a:t>2026-10-06</a:t>
            </a:fld>
            <a:endParaRPr/>
          </a:p>
        </p:txBody>
      </p:sp>
      <p:sp>
        <p:nvSpPr>
          <p:cNvPr id="5" name="바닥글 개체 틀 4">
            <a:extLst>
              <a:ext uri="{FF2B5EF4-FFF2-40B4-BE49-F238E27FC236}">
                <a16:creationId xmlns:a16="http://schemas.microsoft.com/office/drawing/2014/main" id="{A2CAD521-43BD-3767-EEE3-C5AC7AC394A0}"/>
              </a:ext>
            </a:extLst>
          </p:cNvPr>
          <p:cNvSpPr>
            <a:spLocks noGrp="1"/>
          </p:cNvSpPr>
          <p:nvPr>
            <p:ph type="ftr" idx="11"/>
          </p:nvPr>
        </p:nvSpPr>
        <p:spPr/>
        <p:txBody>
          <a:bodyPr/>
          <a:lstStyle/>
          <a:p>
            <a:endParaRPr/>
          </a:p>
        </p:txBody>
      </p:sp>
      <p:sp>
        <p:nvSpPr>
          <p:cNvPr id="6" name="슬라이드 번호 개체 틀 5">
            <a:extLst>
              <a:ext uri="{FF2B5EF4-FFF2-40B4-BE49-F238E27FC236}">
                <a16:creationId xmlns:a16="http://schemas.microsoft.com/office/drawing/2014/main" id="{30D2E25A-51D8-A50B-9B59-C2815DD55208}"/>
              </a:ext>
            </a:extLst>
          </p:cNvPr>
          <p:cNvSpPr>
            <a:spLocks noGrp="1"/>
          </p:cNvSpPr>
          <p:nvPr>
            <p:ph type="sldNum" idx="12"/>
          </p:nvPr>
        </p:nvSpPr>
        <p:spPr/>
        <p:txBody>
          <a:bodyPr/>
          <a:lstStyle/>
          <a:p>
            <a:fld id="{A23BF2C9-224E-48F8-A424-3BB93A509EA6}"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0E441AD-A8BA-882B-A96D-8402CFB95284}"/>
              </a:ext>
            </a:extLst>
          </p:cNvPr>
          <p:cNvSpPr>
            <a:spLocks noGrp="1"/>
          </p:cNvSpPr>
          <p:nvPr>
            <p:ph type="title"/>
          </p:nvPr>
        </p:nvSpPr>
        <p:spPr>
          <a:xfrm>
            <a:off x="831850" y="1709738"/>
            <a:ext cx="10515600" cy="2852737"/>
          </a:xfrm>
        </p:spPr>
        <p:txBody>
          <a:bodyPr anchor="b"/>
          <a:lstStyle>
            <a:lvl1pPr>
              <a:buNone/>
              <a:defRPr sz="6000"/>
            </a:lvl1pPr>
          </a:lstStyle>
          <a:p>
            <a:r>
              <a:t>마스터 제목 스타일 편집</a:t>
            </a:r>
          </a:p>
        </p:txBody>
      </p:sp>
      <p:sp>
        <p:nvSpPr>
          <p:cNvPr id="3" name="텍스트 개체 틀 2">
            <a:extLst>
              <a:ext uri="{FF2B5EF4-FFF2-40B4-BE49-F238E27FC236}">
                <a16:creationId xmlns:a16="http://schemas.microsoft.com/office/drawing/2014/main" id="{5758E817-9792-1D85-D37E-5CD5FB7AC5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마스터 텍스트 스타일을 편집하려면 클릭</a:t>
            </a:r>
          </a:p>
        </p:txBody>
      </p:sp>
      <p:sp>
        <p:nvSpPr>
          <p:cNvPr id="4" name="날짜 개체 틀 3">
            <a:extLst>
              <a:ext uri="{FF2B5EF4-FFF2-40B4-BE49-F238E27FC236}">
                <a16:creationId xmlns:a16="http://schemas.microsoft.com/office/drawing/2014/main" id="{0A0AD17A-ABB4-5E71-5BEC-2DF91F6784CE}"/>
              </a:ext>
            </a:extLst>
          </p:cNvPr>
          <p:cNvSpPr>
            <a:spLocks noGrp="1"/>
          </p:cNvSpPr>
          <p:nvPr>
            <p:ph type="dt" idx="10"/>
          </p:nvPr>
        </p:nvSpPr>
        <p:spPr/>
        <p:txBody>
          <a:bodyPr/>
          <a:lstStyle/>
          <a:p>
            <a:fld id="{D6165519-2835-4128-BDBB-D8E6EE91CB5A}" type="datetimeFigureOut">
              <a:t>2026-10-06</a:t>
            </a:fld>
            <a:endParaRPr/>
          </a:p>
        </p:txBody>
      </p:sp>
      <p:sp>
        <p:nvSpPr>
          <p:cNvPr id="5" name="바닥글 개체 틀 4">
            <a:extLst>
              <a:ext uri="{FF2B5EF4-FFF2-40B4-BE49-F238E27FC236}">
                <a16:creationId xmlns:a16="http://schemas.microsoft.com/office/drawing/2014/main" id="{7B1DF4FB-E97E-A8A6-95FE-3522CEA486C5}"/>
              </a:ext>
            </a:extLst>
          </p:cNvPr>
          <p:cNvSpPr>
            <a:spLocks noGrp="1"/>
          </p:cNvSpPr>
          <p:nvPr>
            <p:ph type="ftr" idx="11"/>
          </p:nvPr>
        </p:nvSpPr>
        <p:spPr/>
        <p:txBody>
          <a:bodyPr/>
          <a:lstStyle/>
          <a:p>
            <a:endParaRPr/>
          </a:p>
        </p:txBody>
      </p:sp>
      <p:sp>
        <p:nvSpPr>
          <p:cNvPr id="6" name="슬라이드 번호 개체 틀 5">
            <a:extLst>
              <a:ext uri="{FF2B5EF4-FFF2-40B4-BE49-F238E27FC236}">
                <a16:creationId xmlns:a16="http://schemas.microsoft.com/office/drawing/2014/main" id="{7C6044A0-37BB-C1CD-E283-51B949C4811C}"/>
              </a:ext>
            </a:extLst>
          </p:cNvPr>
          <p:cNvSpPr>
            <a:spLocks noGrp="1"/>
          </p:cNvSpPr>
          <p:nvPr>
            <p:ph type="sldNum" idx="12"/>
          </p:nvPr>
        </p:nvSpPr>
        <p:spPr/>
        <p:txBody>
          <a:bodyPr/>
          <a:lstStyle/>
          <a:p>
            <a:fld id="{A23BF2C9-224E-48F8-A424-3BB93A509EA6}"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A9D5E4-D7F4-5DCB-5CC2-53853A4D83C8}"/>
              </a:ext>
            </a:extLst>
          </p:cNvPr>
          <p:cNvSpPr>
            <a:spLocks noGrp="1"/>
          </p:cNvSpPr>
          <p:nvPr>
            <p:ph type="title"/>
          </p:nvPr>
        </p:nvSpPr>
        <p:spPr/>
        <p:txBody>
          <a:bodyPr/>
          <a:lstStyle/>
          <a:p>
            <a:r>
              <a:t>마스터 제목 스타일 편집</a:t>
            </a:r>
          </a:p>
        </p:txBody>
      </p:sp>
      <p:sp>
        <p:nvSpPr>
          <p:cNvPr id="3" name="내용 개체 틀 2">
            <a:extLst>
              <a:ext uri="{FF2B5EF4-FFF2-40B4-BE49-F238E27FC236}">
                <a16:creationId xmlns:a16="http://schemas.microsoft.com/office/drawing/2014/main" id="{90A5A73D-94A8-0235-4C56-BC88A9CE24F0}"/>
              </a:ext>
            </a:extLst>
          </p:cNvPr>
          <p:cNvSpPr>
            <a:spLocks noGrp="1"/>
          </p:cNvSpPr>
          <p:nvPr>
            <p:ph idx="1"/>
          </p:nvPr>
        </p:nvSpPr>
        <p:spPr>
          <a:xfrm>
            <a:off x="838200" y="1825625"/>
            <a:ext cx="5181600" cy="4351338"/>
          </a:xfrm>
        </p:spPr>
        <p:txBody>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내용 개체 틀 3">
            <a:extLst>
              <a:ext uri="{FF2B5EF4-FFF2-40B4-BE49-F238E27FC236}">
                <a16:creationId xmlns:a16="http://schemas.microsoft.com/office/drawing/2014/main" id="{EEE47EFA-8C32-1D2D-917A-015AC856B7A6}"/>
              </a:ext>
            </a:extLst>
          </p:cNvPr>
          <p:cNvSpPr>
            <a:spLocks noGrp="1"/>
          </p:cNvSpPr>
          <p:nvPr>
            <p:ph idx="2"/>
          </p:nvPr>
        </p:nvSpPr>
        <p:spPr>
          <a:xfrm>
            <a:off x="6172200" y="1825625"/>
            <a:ext cx="5181600" cy="4351338"/>
          </a:xfrm>
        </p:spPr>
        <p:txBody>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5" name="날짜 개체 틀 4">
            <a:extLst>
              <a:ext uri="{FF2B5EF4-FFF2-40B4-BE49-F238E27FC236}">
                <a16:creationId xmlns:a16="http://schemas.microsoft.com/office/drawing/2014/main" id="{4D2F5289-B07C-F3D1-994F-12F59053C25B}"/>
              </a:ext>
            </a:extLst>
          </p:cNvPr>
          <p:cNvSpPr>
            <a:spLocks noGrp="1"/>
          </p:cNvSpPr>
          <p:nvPr>
            <p:ph type="dt" idx="10"/>
          </p:nvPr>
        </p:nvSpPr>
        <p:spPr/>
        <p:txBody>
          <a:bodyPr/>
          <a:lstStyle/>
          <a:p>
            <a:fld id="{D6165519-2835-4128-BDBB-D8E6EE91CB5A}" type="datetimeFigureOut">
              <a:t>2026-10-06</a:t>
            </a:fld>
            <a:endParaRPr/>
          </a:p>
        </p:txBody>
      </p:sp>
      <p:sp>
        <p:nvSpPr>
          <p:cNvPr id="6" name="바닥글 개체 틀 5">
            <a:extLst>
              <a:ext uri="{FF2B5EF4-FFF2-40B4-BE49-F238E27FC236}">
                <a16:creationId xmlns:a16="http://schemas.microsoft.com/office/drawing/2014/main" id="{E1200B1C-7166-F54E-4E27-D5191F0DBAE5}"/>
              </a:ext>
            </a:extLst>
          </p:cNvPr>
          <p:cNvSpPr>
            <a:spLocks noGrp="1"/>
          </p:cNvSpPr>
          <p:nvPr>
            <p:ph type="ftr" idx="11"/>
          </p:nvPr>
        </p:nvSpPr>
        <p:spPr/>
        <p:txBody>
          <a:bodyPr/>
          <a:lstStyle/>
          <a:p>
            <a:endParaRPr/>
          </a:p>
        </p:txBody>
      </p:sp>
      <p:sp>
        <p:nvSpPr>
          <p:cNvPr id="7" name="슬라이드 번호 개체 틀 6">
            <a:extLst>
              <a:ext uri="{FF2B5EF4-FFF2-40B4-BE49-F238E27FC236}">
                <a16:creationId xmlns:a16="http://schemas.microsoft.com/office/drawing/2014/main" id="{868B5912-89D2-FE18-5F80-3CA3B6AB34D8}"/>
              </a:ext>
            </a:extLst>
          </p:cNvPr>
          <p:cNvSpPr>
            <a:spLocks noGrp="1"/>
          </p:cNvSpPr>
          <p:nvPr>
            <p:ph type="sldNum" idx="12"/>
          </p:nvPr>
        </p:nvSpPr>
        <p:spPr/>
        <p:txBody>
          <a:bodyPr/>
          <a:lstStyle/>
          <a:p>
            <a:fld id="{A23BF2C9-224E-48F8-A424-3BB93A509EA6}"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1C9FD50-BB14-DB66-0727-5F68190209BA}"/>
              </a:ext>
            </a:extLst>
          </p:cNvPr>
          <p:cNvSpPr>
            <a:spLocks noGrp="1"/>
          </p:cNvSpPr>
          <p:nvPr>
            <p:ph type="title"/>
          </p:nvPr>
        </p:nvSpPr>
        <p:spPr>
          <a:xfrm>
            <a:off x="839788" y="365125"/>
            <a:ext cx="10515600" cy="1325563"/>
          </a:xfrm>
        </p:spPr>
        <p:txBody>
          <a:bodyPr/>
          <a:lstStyle/>
          <a:p>
            <a:r>
              <a:t>마스터 제목 스타일 편집</a:t>
            </a:r>
          </a:p>
        </p:txBody>
      </p:sp>
      <p:sp>
        <p:nvSpPr>
          <p:cNvPr id="3" name="텍스트 개체 틀 2">
            <a:extLst>
              <a:ext uri="{FF2B5EF4-FFF2-40B4-BE49-F238E27FC236}">
                <a16:creationId xmlns:a16="http://schemas.microsoft.com/office/drawing/2014/main" id="{3CA961CB-12DE-D9EB-6CD0-00A3C34A19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마스터 텍스트 스타일을 편집하려면 클릭</a:t>
            </a:r>
          </a:p>
        </p:txBody>
      </p:sp>
      <p:sp>
        <p:nvSpPr>
          <p:cNvPr id="4" name="내용 개체 틀 3">
            <a:extLst>
              <a:ext uri="{FF2B5EF4-FFF2-40B4-BE49-F238E27FC236}">
                <a16:creationId xmlns:a16="http://schemas.microsoft.com/office/drawing/2014/main" id="{E07ADC35-74DB-E714-0781-F6DCA6B3C0D7}"/>
              </a:ext>
            </a:extLst>
          </p:cNvPr>
          <p:cNvSpPr>
            <a:spLocks noGrp="1"/>
          </p:cNvSpPr>
          <p:nvPr>
            <p:ph idx="2"/>
          </p:nvPr>
        </p:nvSpPr>
        <p:spPr>
          <a:xfrm>
            <a:off x="839788" y="2505075"/>
            <a:ext cx="5157787" cy="3684588"/>
          </a:xfrm>
        </p:spPr>
        <p:txBody>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5" name="텍스트 개체 틀 4">
            <a:extLst>
              <a:ext uri="{FF2B5EF4-FFF2-40B4-BE49-F238E27FC236}">
                <a16:creationId xmlns:a16="http://schemas.microsoft.com/office/drawing/2014/main" id="{79C04B45-D8E7-7626-6F31-33B05FB0142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마스터 텍스트 스타일을 편집하려면 클릭</a:t>
            </a:r>
          </a:p>
        </p:txBody>
      </p:sp>
      <p:sp>
        <p:nvSpPr>
          <p:cNvPr id="6" name="내용 개체 틀 5">
            <a:extLst>
              <a:ext uri="{FF2B5EF4-FFF2-40B4-BE49-F238E27FC236}">
                <a16:creationId xmlns:a16="http://schemas.microsoft.com/office/drawing/2014/main" id="{B03830ED-D6FA-D763-645A-AE4F942A3C5F}"/>
              </a:ext>
            </a:extLst>
          </p:cNvPr>
          <p:cNvSpPr>
            <a:spLocks noGrp="1"/>
          </p:cNvSpPr>
          <p:nvPr>
            <p:ph idx="4"/>
          </p:nvPr>
        </p:nvSpPr>
        <p:spPr>
          <a:xfrm>
            <a:off x="6172200" y="2505075"/>
            <a:ext cx="5183188" cy="3684588"/>
          </a:xfrm>
        </p:spPr>
        <p:txBody>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7" name="날짜 개체 틀 6">
            <a:extLst>
              <a:ext uri="{FF2B5EF4-FFF2-40B4-BE49-F238E27FC236}">
                <a16:creationId xmlns:a16="http://schemas.microsoft.com/office/drawing/2014/main" id="{D28916FE-50AA-AD4F-C64E-87D91AF40CE9}"/>
              </a:ext>
            </a:extLst>
          </p:cNvPr>
          <p:cNvSpPr>
            <a:spLocks noGrp="1"/>
          </p:cNvSpPr>
          <p:nvPr>
            <p:ph type="dt" idx="10"/>
          </p:nvPr>
        </p:nvSpPr>
        <p:spPr/>
        <p:txBody>
          <a:bodyPr/>
          <a:lstStyle/>
          <a:p>
            <a:fld id="{D6165519-2835-4128-BDBB-D8E6EE91CB5A}" type="datetimeFigureOut">
              <a:t>2026-10-06</a:t>
            </a:fld>
            <a:endParaRPr/>
          </a:p>
        </p:txBody>
      </p:sp>
      <p:sp>
        <p:nvSpPr>
          <p:cNvPr id="8" name="바닥글 개체 틀 7">
            <a:extLst>
              <a:ext uri="{FF2B5EF4-FFF2-40B4-BE49-F238E27FC236}">
                <a16:creationId xmlns:a16="http://schemas.microsoft.com/office/drawing/2014/main" id="{6B57B2C1-C558-B97B-EBC7-12DF2D227604}"/>
              </a:ext>
            </a:extLst>
          </p:cNvPr>
          <p:cNvSpPr>
            <a:spLocks noGrp="1"/>
          </p:cNvSpPr>
          <p:nvPr>
            <p:ph type="ftr" idx="11"/>
          </p:nvPr>
        </p:nvSpPr>
        <p:spPr/>
        <p:txBody>
          <a:bodyPr/>
          <a:lstStyle/>
          <a:p>
            <a:endParaRPr/>
          </a:p>
        </p:txBody>
      </p:sp>
      <p:sp>
        <p:nvSpPr>
          <p:cNvPr id="9" name="슬라이드 번호 개체 틀 8">
            <a:extLst>
              <a:ext uri="{FF2B5EF4-FFF2-40B4-BE49-F238E27FC236}">
                <a16:creationId xmlns:a16="http://schemas.microsoft.com/office/drawing/2014/main" id="{11592F31-84D1-81D6-0716-0383BEEC2259}"/>
              </a:ext>
            </a:extLst>
          </p:cNvPr>
          <p:cNvSpPr>
            <a:spLocks noGrp="1"/>
          </p:cNvSpPr>
          <p:nvPr>
            <p:ph type="sldNum" idx="12"/>
          </p:nvPr>
        </p:nvSpPr>
        <p:spPr/>
        <p:txBody>
          <a:bodyPr/>
          <a:lstStyle/>
          <a:p>
            <a:fld id="{A23BF2C9-224E-48F8-A424-3BB93A509EA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1A573B-E675-5FEB-2DD0-712106578499}"/>
              </a:ext>
            </a:extLst>
          </p:cNvPr>
          <p:cNvSpPr>
            <a:spLocks noGrp="1"/>
          </p:cNvSpPr>
          <p:nvPr>
            <p:ph type="title"/>
          </p:nvPr>
        </p:nvSpPr>
        <p:spPr/>
        <p:txBody>
          <a:bodyPr/>
          <a:lstStyle/>
          <a:p>
            <a:r>
              <a:t>마스터 제목 스타일 편집</a:t>
            </a:r>
          </a:p>
        </p:txBody>
      </p:sp>
      <p:sp>
        <p:nvSpPr>
          <p:cNvPr id="3" name="날짜 개체 틀 2">
            <a:extLst>
              <a:ext uri="{FF2B5EF4-FFF2-40B4-BE49-F238E27FC236}">
                <a16:creationId xmlns:a16="http://schemas.microsoft.com/office/drawing/2014/main" id="{C78CBFD0-4270-B933-2645-30CAEB0CBA7E}"/>
              </a:ext>
            </a:extLst>
          </p:cNvPr>
          <p:cNvSpPr>
            <a:spLocks noGrp="1"/>
          </p:cNvSpPr>
          <p:nvPr>
            <p:ph type="dt" idx="10"/>
          </p:nvPr>
        </p:nvSpPr>
        <p:spPr/>
        <p:txBody>
          <a:bodyPr/>
          <a:lstStyle/>
          <a:p>
            <a:fld id="{D6165519-2835-4128-BDBB-D8E6EE91CB5A}" type="datetimeFigureOut">
              <a:t>2026-10-06</a:t>
            </a:fld>
            <a:endParaRPr/>
          </a:p>
        </p:txBody>
      </p:sp>
      <p:sp>
        <p:nvSpPr>
          <p:cNvPr id="4" name="바닥글 개체 틀 3">
            <a:extLst>
              <a:ext uri="{FF2B5EF4-FFF2-40B4-BE49-F238E27FC236}">
                <a16:creationId xmlns:a16="http://schemas.microsoft.com/office/drawing/2014/main" id="{E3545672-6532-D8DA-735A-7E7EED8F9CDD}"/>
              </a:ext>
            </a:extLst>
          </p:cNvPr>
          <p:cNvSpPr>
            <a:spLocks noGrp="1"/>
          </p:cNvSpPr>
          <p:nvPr>
            <p:ph type="ftr" idx="11"/>
          </p:nvPr>
        </p:nvSpPr>
        <p:spPr/>
        <p:txBody>
          <a:bodyPr/>
          <a:lstStyle/>
          <a:p>
            <a:endParaRPr/>
          </a:p>
        </p:txBody>
      </p:sp>
      <p:sp>
        <p:nvSpPr>
          <p:cNvPr id="5" name="슬라이드 번호 개체 틀 4">
            <a:extLst>
              <a:ext uri="{FF2B5EF4-FFF2-40B4-BE49-F238E27FC236}">
                <a16:creationId xmlns:a16="http://schemas.microsoft.com/office/drawing/2014/main" id="{043506E0-AC85-DEBC-FA0E-141588D1DB02}"/>
              </a:ext>
            </a:extLst>
          </p:cNvPr>
          <p:cNvSpPr>
            <a:spLocks noGrp="1"/>
          </p:cNvSpPr>
          <p:nvPr>
            <p:ph type="sldNum" idx="12"/>
          </p:nvPr>
        </p:nvSpPr>
        <p:spPr/>
        <p:txBody>
          <a:bodyPr/>
          <a:lstStyle/>
          <a:p>
            <a:fld id="{A23BF2C9-224E-48F8-A424-3BB93A509EA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C38D2ED-02A0-DD84-8F6F-C8EAB721DEEF}"/>
              </a:ext>
            </a:extLst>
          </p:cNvPr>
          <p:cNvSpPr>
            <a:spLocks noGrp="1"/>
          </p:cNvSpPr>
          <p:nvPr>
            <p:ph type="dt" idx="10"/>
          </p:nvPr>
        </p:nvSpPr>
        <p:spPr/>
        <p:txBody>
          <a:bodyPr/>
          <a:lstStyle/>
          <a:p>
            <a:fld id="{D6165519-2835-4128-BDBB-D8E6EE91CB5A}" type="datetimeFigureOut">
              <a:t>2026-10-06</a:t>
            </a:fld>
            <a:endParaRPr/>
          </a:p>
        </p:txBody>
      </p:sp>
      <p:sp>
        <p:nvSpPr>
          <p:cNvPr id="3" name="바닥글 개체 틀 2">
            <a:extLst>
              <a:ext uri="{FF2B5EF4-FFF2-40B4-BE49-F238E27FC236}">
                <a16:creationId xmlns:a16="http://schemas.microsoft.com/office/drawing/2014/main" id="{D55BD2F7-BADC-3A86-F31A-8F8595E3DEA5}"/>
              </a:ext>
            </a:extLst>
          </p:cNvPr>
          <p:cNvSpPr>
            <a:spLocks noGrp="1"/>
          </p:cNvSpPr>
          <p:nvPr>
            <p:ph type="ftr" idx="11"/>
          </p:nvPr>
        </p:nvSpPr>
        <p:spPr/>
        <p:txBody>
          <a:bodyPr/>
          <a:lstStyle/>
          <a:p>
            <a:endParaRPr/>
          </a:p>
        </p:txBody>
      </p:sp>
      <p:sp>
        <p:nvSpPr>
          <p:cNvPr id="4" name="슬라이드 번호 개체 틀 3">
            <a:extLst>
              <a:ext uri="{FF2B5EF4-FFF2-40B4-BE49-F238E27FC236}">
                <a16:creationId xmlns:a16="http://schemas.microsoft.com/office/drawing/2014/main" id="{3A69A7CC-9CEA-C1E1-5E96-2543AEE918B1}"/>
              </a:ext>
            </a:extLst>
          </p:cNvPr>
          <p:cNvSpPr>
            <a:spLocks noGrp="1"/>
          </p:cNvSpPr>
          <p:nvPr>
            <p:ph type="sldNum" idx="12"/>
          </p:nvPr>
        </p:nvSpPr>
        <p:spPr/>
        <p:txBody>
          <a:bodyPr/>
          <a:lstStyle/>
          <a:p>
            <a:fld id="{A23BF2C9-224E-48F8-A424-3BB93A509EA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5585E1-89FA-FF28-F0BA-AC8905647708}"/>
              </a:ext>
            </a:extLst>
          </p:cNvPr>
          <p:cNvSpPr>
            <a:spLocks noGrp="1"/>
          </p:cNvSpPr>
          <p:nvPr>
            <p:ph type="title"/>
          </p:nvPr>
        </p:nvSpPr>
        <p:spPr>
          <a:xfrm>
            <a:off x="839788" y="457200"/>
            <a:ext cx="3932237" cy="1600200"/>
          </a:xfrm>
        </p:spPr>
        <p:txBody>
          <a:bodyPr anchor="b"/>
          <a:lstStyle>
            <a:lvl1pPr>
              <a:buNone/>
              <a:defRPr sz="3200"/>
            </a:lvl1pPr>
          </a:lstStyle>
          <a:p>
            <a:r>
              <a:t>마스터 제목 스타일 편집</a:t>
            </a:r>
          </a:p>
        </p:txBody>
      </p:sp>
      <p:sp>
        <p:nvSpPr>
          <p:cNvPr id="3" name="내용 개체 틀 2">
            <a:extLst>
              <a:ext uri="{FF2B5EF4-FFF2-40B4-BE49-F238E27FC236}">
                <a16:creationId xmlns:a16="http://schemas.microsoft.com/office/drawing/2014/main" id="{C0E171DA-D7A0-EE07-205A-AA1BC58850BF}"/>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텍스트 개체 틀 3">
            <a:extLst>
              <a:ext uri="{FF2B5EF4-FFF2-40B4-BE49-F238E27FC236}">
                <a16:creationId xmlns:a16="http://schemas.microsoft.com/office/drawing/2014/main" id="{05CE52A2-4763-0399-5EC6-8D6D291CAFB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마스터 텍스트 스타일을 편집하려면 클릭</a:t>
            </a:r>
          </a:p>
        </p:txBody>
      </p:sp>
      <p:sp>
        <p:nvSpPr>
          <p:cNvPr id="5" name="날짜 개체 틀 4">
            <a:extLst>
              <a:ext uri="{FF2B5EF4-FFF2-40B4-BE49-F238E27FC236}">
                <a16:creationId xmlns:a16="http://schemas.microsoft.com/office/drawing/2014/main" id="{3D1C5B4E-B1D7-E81C-76CE-3C239F1A7137}"/>
              </a:ext>
            </a:extLst>
          </p:cNvPr>
          <p:cNvSpPr>
            <a:spLocks noGrp="1"/>
          </p:cNvSpPr>
          <p:nvPr>
            <p:ph type="dt" idx="10"/>
          </p:nvPr>
        </p:nvSpPr>
        <p:spPr/>
        <p:txBody>
          <a:bodyPr/>
          <a:lstStyle/>
          <a:p>
            <a:fld id="{D6165519-2835-4128-BDBB-D8E6EE91CB5A}" type="datetimeFigureOut">
              <a:t>2026-10-06</a:t>
            </a:fld>
            <a:endParaRPr/>
          </a:p>
        </p:txBody>
      </p:sp>
      <p:sp>
        <p:nvSpPr>
          <p:cNvPr id="6" name="바닥글 개체 틀 5">
            <a:extLst>
              <a:ext uri="{FF2B5EF4-FFF2-40B4-BE49-F238E27FC236}">
                <a16:creationId xmlns:a16="http://schemas.microsoft.com/office/drawing/2014/main" id="{D40608EC-8AF6-41BB-6B1C-315F73EDADE8}"/>
              </a:ext>
            </a:extLst>
          </p:cNvPr>
          <p:cNvSpPr>
            <a:spLocks noGrp="1"/>
          </p:cNvSpPr>
          <p:nvPr>
            <p:ph type="ftr" idx="11"/>
          </p:nvPr>
        </p:nvSpPr>
        <p:spPr/>
        <p:txBody>
          <a:bodyPr/>
          <a:lstStyle/>
          <a:p>
            <a:endParaRPr/>
          </a:p>
        </p:txBody>
      </p:sp>
      <p:sp>
        <p:nvSpPr>
          <p:cNvPr id="7" name="슬라이드 번호 개체 틀 6">
            <a:extLst>
              <a:ext uri="{FF2B5EF4-FFF2-40B4-BE49-F238E27FC236}">
                <a16:creationId xmlns:a16="http://schemas.microsoft.com/office/drawing/2014/main" id="{4B68246A-A4F2-7B1E-5E19-272DEF991B66}"/>
              </a:ext>
            </a:extLst>
          </p:cNvPr>
          <p:cNvSpPr>
            <a:spLocks noGrp="1"/>
          </p:cNvSpPr>
          <p:nvPr>
            <p:ph type="sldNum" idx="12"/>
          </p:nvPr>
        </p:nvSpPr>
        <p:spPr/>
        <p:txBody>
          <a:bodyPr/>
          <a:lstStyle/>
          <a:p>
            <a:fld id="{A23BF2C9-224E-48F8-A424-3BB93A509EA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2829CEB-3E23-419C-7DC9-662120641BC6}"/>
              </a:ext>
            </a:extLst>
          </p:cNvPr>
          <p:cNvSpPr>
            <a:spLocks noGrp="1"/>
          </p:cNvSpPr>
          <p:nvPr>
            <p:ph type="title"/>
          </p:nvPr>
        </p:nvSpPr>
        <p:spPr>
          <a:xfrm>
            <a:off x="839788" y="457200"/>
            <a:ext cx="3932237" cy="1600200"/>
          </a:xfrm>
        </p:spPr>
        <p:txBody>
          <a:bodyPr anchor="b"/>
          <a:lstStyle>
            <a:lvl1pPr>
              <a:buNone/>
              <a:defRPr sz="3200"/>
            </a:lvl1pPr>
          </a:lstStyle>
          <a:p>
            <a:r>
              <a:t>마스터 제목 스타일 편집</a:t>
            </a:r>
          </a:p>
        </p:txBody>
      </p:sp>
      <p:sp>
        <p:nvSpPr>
          <p:cNvPr id="3" name="그림 개체 틀 2">
            <a:extLst>
              <a:ext uri="{FF2B5EF4-FFF2-40B4-BE49-F238E27FC236}">
                <a16:creationId xmlns:a16="http://schemas.microsoft.com/office/drawing/2014/main" id="{6BB3B887-1ADB-DCFB-387B-E9598ACA77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텍스트 개체 틀 3">
            <a:extLst>
              <a:ext uri="{FF2B5EF4-FFF2-40B4-BE49-F238E27FC236}">
                <a16:creationId xmlns:a16="http://schemas.microsoft.com/office/drawing/2014/main" id="{988F98D9-333F-D1A4-5757-DEE315D3F7DC}"/>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마스터 텍스트 스타일을 편집하려면 클릭</a:t>
            </a:r>
          </a:p>
        </p:txBody>
      </p:sp>
      <p:sp>
        <p:nvSpPr>
          <p:cNvPr id="5" name="날짜 개체 틀 4">
            <a:extLst>
              <a:ext uri="{FF2B5EF4-FFF2-40B4-BE49-F238E27FC236}">
                <a16:creationId xmlns:a16="http://schemas.microsoft.com/office/drawing/2014/main" id="{4D954550-BE88-FAF3-7269-3F0D2AFDC704}"/>
              </a:ext>
            </a:extLst>
          </p:cNvPr>
          <p:cNvSpPr>
            <a:spLocks noGrp="1"/>
          </p:cNvSpPr>
          <p:nvPr>
            <p:ph type="dt" idx="10"/>
          </p:nvPr>
        </p:nvSpPr>
        <p:spPr/>
        <p:txBody>
          <a:bodyPr/>
          <a:lstStyle/>
          <a:p>
            <a:fld id="{D6165519-2835-4128-BDBB-D8E6EE91CB5A}" type="datetimeFigureOut">
              <a:t>2026-10-06</a:t>
            </a:fld>
            <a:endParaRPr/>
          </a:p>
        </p:txBody>
      </p:sp>
      <p:sp>
        <p:nvSpPr>
          <p:cNvPr id="6" name="바닥글 개체 틀 5">
            <a:extLst>
              <a:ext uri="{FF2B5EF4-FFF2-40B4-BE49-F238E27FC236}">
                <a16:creationId xmlns:a16="http://schemas.microsoft.com/office/drawing/2014/main" id="{D6583236-D21E-4080-57C5-8D50A1D9ACFA}"/>
              </a:ext>
            </a:extLst>
          </p:cNvPr>
          <p:cNvSpPr>
            <a:spLocks noGrp="1"/>
          </p:cNvSpPr>
          <p:nvPr>
            <p:ph type="ftr" idx="11"/>
          </p:nvPr>
        </p:nvSpPr>
        <p:spPr/>
        <p:txBody>
          <a:bodyPr/>
          <a:lstStyle/>
          <a:p>
            <a:endParaRPr/>
          </a:p>
        </p:txBody>
      </p:sp>
      <p:sp>
        <p:nvSpPr>
          <p:cNvPr id="7" name="슬라이드 번호 개체 틀 6">
            <a:extLst>
              <a:ext uri="{FF2B5EF4-FFF2-40B4-BE49-F238E27FC236}">
                <a16:creationId xmlns:a16="http://schemas.microsoft.com/office/drawing/2014/main" id="{70FFA939-3C70-95EA-657B-E85A0CD69FCB}"/>
              </a:ext>
            </a:extLst>
          </p:cNvPr>
          <p:cNvSpPr>
            <a:spLocks noGrp="1"/>
          </p:cNvSpPr>
          <p:nvPr>
            <p:ph type="sldNum" idx="12"/>
          </p:nvPr>
        </p:nvSpPr>
        <p:spPr/>
        <p:txBody>
          <a:bodyPr/>
          <a:lstStyle/>
          <a:p>
            <a:fld id="{A23BF2C9-224E-48F8-A424-3BB93A509EA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C45586-AEC5-D05C-677C-CA55582DBBAD}"/>
              </a:ext>
            </a:extLst>
          </p:cNvPr>
          <p:cNvSpPr>
            <a:spLocks noGrp="1"/>
          </p:cNvSpPr>
          <p:nvPr>
            <p:ph type="title"/>
          </p:nvPr>
        </p:nvSpPr>
        <p:spPr/>
        <p:txBody>
          <a:bodyPr/>
          <a:lstStyle/>
          <a:p>
            <a:r>
              <a:t>마스터 제목 스타일 편집</a:t>
            </a:r>
          </a:p>
        </p:txBody>
      </p:sp>
      <p:sp>
        <p:nvSpPr>
          <p:cNvPr id="3" name="세로 텍스트 개체 틀 2">
            <a:extLst>
              <a:ext uri="{FF2B5EF4-FFF2-40B4-BE49-F238E27FC236}">
                <a16:creationId xmlns:a16="http://schemas.microsoft.com/office/drawing/2014/main" id="{E0AD9041-E411-9449-B9EC-8F30C4EA7006}"/>
              </a:ext>
            </a:extLst>
          </p:cNvPr>
          <p:cNvSpPr>
            <a:spLocks noGrp="1"/>
          </p:cNvSpPr>
          <p:nvPr>
            <p:ph type="body" idx="1"/>
          </p:nvPr>
        </p:nvSpPr>
        <p:spPr/>
        <p:txBody>
          <a:bodyPr vert="eaVert"/>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날짜 개체 틀 3">
            <a:extLst>
              <a:ext uri="{FF2B5EF4-FFF2-40B4-BE49-F238E27FC236}">
                <a16:creationId xmlns:a16="http://schemas.microsoft.com/office/drawing/2014/main" id="{B46713A4-047C-ACB0-B718-676682B8A0B4}"/>
              </a:ext>
            </a:extLst>
          </p:cNvPr>
          <p:cNvSpPr>
            <a:spLocks noGrp="1"/>
          </p:cNvSpPr>
          <p:nvPr>
            <p:ph type="dt" idx="10"/>
          </p:nvPr>
        </p:nvSpPr>
        <p:spPr/>
        <p:txBody>
          <a:bodyPr/>
          <a:lstStyle/>
          <a:p>
            <a:fld id="{D6165519-2835-4128-BDBB-D8E6EE91CB5A}" type="datetimeFigureOut">
              <a:t>2026-10-06</a:t>
            </a:fld>
            <a:endParaRPr/>
          </a:p>
        </p:txBody>
      </p:sp>
      <p:sp>
        <p:nvSpPr>
          <p:cNvPr id="5" name="바닥글 개체 틀 4">
            <a:extLst>
              <a:ext uri="{FF2B5EF4-FFF2-40B4-BE49-F238E27FC236}">
                <a16:creationId xmlns:a16="http://schemas.microsoft.com/office/drawing/2014/main" id="{48FB61C7-0097-2A90-F528-62E4C28D2619}"/>
              </a:ext>
            </a:extLst>
          </p:cNvPr>
          <p:cNvSpPr>
            <a:spLocks noGrp="1"/>
          </p:cNvSpPr>
          <p:nvPr>
            <p:ph type="ftr" idx="11"/>
          </p:nvPr>
        </p:nvSpPr>
        <p:spPr/>
        <p:txBody>
          <a:bodyPr/>
          <a:lstStyle/>
          <a:p>
            <a:endParaRPr/>
          </a:p>
        </p:txBody>
      </p:sp>
      <p:sp>
        <p:nvSpPr>
          <p:cNvPr id="6" name="슬라이드 번호 개체 틀 5">
            <a:extLst>
              <a:ext uri="{FF2B5EF4-FFF2-40B4-BE49-F238E27FC236}">
                <a16:creationId xmlns:a16="http://schemas.microsoft.com/office/drawing/2014/main" id="{7E4FB3D8-83CA-1CFF-6161-8A6C63B12D73}"/>
              </a:ext>
            </a:extLst>
          </p:cNvPr>
          <p:cNvSpPr>
            <a:spLocks noGrp="1"/>
          </p:cNvSpPr>
          <p:nvPr>
            <p:ph type="sldNum" idx="12"/>
          </p:nvPr>
        </p:nvSpPr>
        <p:spPr/>
        <p:txBody>
          <a:bodyPr/>
          <a:lstStyle/>
          <a:p>
            <a:fld id="{A23BF2C9-224E-48F8-A424-3BB93A509EA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5139100-BB0D-B165-38F4-966E146E3FFC}"/>
              </a:ext>
            </a:extLst>
          </p:cNvPr>
          <p:cNvSpPr>
            <a:spLocks noGrp="1"/>
          </p:cNvSpPr>
          <p:nvPr>
            <p:ph type="title"/>
          </p:nvPr>
        </p:nvSpPr>
        <p:spPr>
          <a:xfrm>
            <a:off x="8724900" y="365125"/>
            <a:ext cx="2628900" cy="5811838"/>
          </a:xfrm>
        </p:spPr>
        <p:txBody>
          <a:bodyPr vert="eaVert"/>
          <a:lstStyle/>
          <a:p>
            <a:r>
              <a:t>마스터 제목 스타일 편집</a:t>
            </a:r>
          </a:p>
        </p:txBody>
      </p:sp>
      <p:sp>
        <p:nvSpPr>
          <p:cNvPr id="3" name="세로 텍스트 개체 틀 2">
            <a:extLst>
              <a:ext uri="{FF2B5EF4-FFF2-40B4-BE49-F238E27FC236}">
                <a16:creationId xmlns:a16="http://schemas.microsoft.com/office/drawing/2014/main" id="{975D6A0F-21FD-86EC-8826-6441FE78A651}"/>
              </a:ext>
            </a:extLst>
          </p:cNvPr>
          <p:cNvSpPr>
            <a:spLocks noGrp="1"/>
          </p:cNvSpPr>
          <p:nvPr>
            <p:ph type="body" idx="1"/>
          </p:nvPr>
        </p:nvSpPr>
        <p:spPr>
          <a:xfrm>
            <a:off x="838200" y="365125"/>
            <a:ext cx="7734300" cy="5811838"/>
          </a:xfrm>
        </p:spPr>
        <p:txBody>
          <a:bodyPr vert="eaVert"/>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날짜 개체 틀 3">
            <a:extLst>
              <a:ext uri="{FF2B5EF4-FFF2-40B4-BE49-F238E27FC236}">
                <a16:creationId xmlns:a16="http://schemas.microsoft.com/office/drawing/2014/main" id="{25ACC737-A911-9277-A91A-34C43C66E0D9}"/>
              </a:ext>
            </a:extLst>
          </p:cNvPr>
          <p:cNvSpPr>
            <a:spLocks noGrp="1"/>
          </p:cNvSpPr>
          <p:nvPr>
            <p:ph type="dt" idx="10"/>
          </p:nvPr>
        </p:nvSpPr>
        <p:spPr/>
        <p:txBody>
          <a:bodyPr/>
          <a:lstStyle/>
          <a:p>
            <a:fld id="{D6165519-2835-4128-BDBB-D8E6EE91CB5A}" type="datetimeFigureOut">
              <a:t>2026-10-06</a:t>
            </a:fld>
            <a:endParaRPr/>
          </a:p>
        </p:txBody>
      </p:sp>
      <p:sp>
        <p:nvSpPr>
          <p:cNvPr id="5" name="바닥글 개체 틀 4">
            <a:extLst>
              <a:ext uri="{FF2B5EF4-FFF2-40B4-BE49-F238E27FC236}">
                <a16:creationId xmlns:a16="http://schemas.microsoft.com/office/drawing/2014/main" id="{9B156AD6-3225-CC55-8254-96E94355DD19}"/>
              </a:ext>
            </a:extLst>
          </p:cNvPr>
          <p:cNvSpPr>
            <a:spLocks noGrp="1"/>
          </p:cNvSpPr>
          <p:nvPr>
            <p:ph type="ftr" idx="11"/>
          </p:nvPr>
        </p:nvSpPr>
        <p:spPr/>
        <p:txBody>
          <a:bodyPr/>
          <a:lstStyle/>
          <a:p>
            <a:endParaRPr/>
          </a:p>
        </p:txBody>
      </p:sp>
      <p:sp>
        <p:nvSpPr>
          <p:cNvPr id="6" name="슬라이드 번호 개체 틀 5">
            <a:extLst>
              <a:ext uri="{FF2B5EF4-FFF2-40B4-BE49-F238E27FC236}">
                <a16:creationId xmlns:a16="http://schemas.microsoft.com/office/drawing/2014/main" id="{87CAB67F-25FF-E89F-EA09-B337C6E761F4}"/>
              </a:ext>
            </a:extLst>
          </p:cNvPr>
          <p:cNvSpPr>
            <a:spLocks noGrp="1"/>
          </p:cNvSpPr>
          <p:nvPr>
            <p:ph type="sldNum" idx="12"/>
          </p:nvPr>
        </p:nvSpPr>
        <p:spPr/>
        <p:txBody>
          <a:bodyPr/>
          <a:lstStyle/>
          <a:p>
            <a:fld id="{A23BF2C9-224E-48F8-A424-3BB93A509EA6}"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0EE016C2-531C-F5C0-119E-806A648A4515}"/>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마스터 제목 스타일 편집</a:t>
            </a:r>
          </a:p>
        </p:txBody>
      </p:sp>
      <p:sp>
        <p:nvSpPr>
          <p:cNvPr id="3" name="텍스트 개체 틀 2">
            <a:extLst>
              <a:ext uri="{FF2B5EF4-FFF2-40B4-BE49-F238E27FC236}">
                <a16:creationId xmlns:a16="http://schemas.microsoft.com/office/drawing/2014/main" id="{8D1D0760-3A6B-507A-1C5F-BACC2497DB52}"/>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날짜 개체 틀 3">
            <a:extLst>
              <a:ext uri="{FF2B5EF4-FFF2-40B4-BE49-F238E27FC236}">
                <a16:creationId xmlns:a16="http://schemas.microsoft.com/office/drawing/2014/main" id="{ED41ADA0-4844-7DF2-3E32-DB1EF72C2B2B}"/>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D6165519-2835-4128-BDBB-D8E6EE91CB5A}" type="datetimeFigureOut">
              <a:t>2026-10-06</a:t>
            </a:fld>
            <a:endParaRPr/>
          </a:p>
        </p:txBody>
      </p:sp>
      <p:sp>
        <p:nvSpPr>
          <p:cNvPr id="5" name="바닥글 개체 틀 4">
            <a:extLst>
              <a:ext uri="{FF2B5EF4-FFF2-40B4-BE49-F238E27FC236}">
                <a16:creationId xmlns:a16="http://schemas.microsoft.com/office/drawing/2014/main" id="{7788EAFB-143B-8720-8036-1557F672DFE3}"/>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슬라이드 번호 개체 틀 5">
            <a:extLst>
              <a:ext uri="{FF2B5EF4-FFF2-40B4-BE49-F238E27FC236}">
                <a16:creationId xmlns:a16="http://schemas.microsoft.com/office/drawing/2014/main" id="{4D97B969-587B-7E1B-4955-DFC01FBCA2A7}"/>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A23BF2C9-224E-48F8-A424-3BB93A509EA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2.jpeg"/><Relationship Id="rId7" Type="http://schemas.openxmlformats.org/officeDocument/2006/relationships/image" Target="../media/image1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3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notesSlide" Target="../notesSlides/notesSlide17.xml"/><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jpeg"/><Relationship Id="rId6" Type="http://schemas.openxmlformats.org/officeDocument/2006/relationships/image" Target="../media/image20.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jpeg"/><Relationship Id="rId4" Type="http://schemas.openxmlformats.org/officeDocument/2006/relationships/image" Target="../media/image22.jpeg"/><Relationship Id="rId5"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49C75-693F-4C4A-8EE7-DB53421D9CB6}"/>
              </a:ext>
            </a:extLst>
          </p:cNvPr>
          <p:cNvSpPr>
            <a:spLocks noGrp="1"/>
          </p:cNvSpPr>
          <p:nvPr>
            <p:ph type="ctrTitle"/>
          </p:nvPr>
        </p:nvSpPr>
        <p:spPr>
          <a:xfrm>
            <a:off x="832104" y="1993392"/>
            <a:ext cx="10168128" cy="2386584"/>
          </a:xfrm>
        </p:spPr>
        <p:txBody>
          <a:bodyPr/>
          <a:lstStyle/>
          <a:p>
            <a:pPr algn="l" eaLnBrk="0" latinLnBrk="0">
              <a:lnSpc>
                <a:spcPct val="110000"/>
              </a:lnSpc>
              <a:buNone/>
            </a:pPr>
            <a:r>
              <a:rPr sz="2800" b="0" lang="ko-KR" altLang="en-US">
                <a:solidFill>
                  <a:srgbClr val="000000"/>
                </a:solidFill>
                <a:latin typeface="나눔스퀘어 ExtraBold"/>
                <a:ea typeface="나눔스퀘어 ExtraBold"/>
                <a:cs typeface="나눔스퀘어 ExtraBold"/>
              </a:rPr>
              <a:t>의미 있는 표면 영역 그래프와 연속 UV 상태를 이용한</a:t>
            </a:r>
          </a:p>
          <a:p>
            <a:pPr algn="l" eaLnBrk="0" latinLnBrk="0">
              <a:lnSpc>
                <a:spcPct val="110000"/>
              </a:lnSpc>
              <a:buNone/>
            </a:pPr>
            <a:r>
              <a:rPr sz="2800" b="0" lang="ko-KR" altLang="en-US">
                <a:solidFill>
                  <a:srgbClr val="000000"/>
                </a:solidFill>
                <a:latin typeface="나눔스퀘어 ExtraBold"/>
                <a:ea typeface="나눔스퀘어 ExtraBold"/>
                <a:cs typeface="나눔스퀘어 ExtraBold"/>
              </a:rPr>
              <a:t>오디오 반응형 프로젝션 매핑 콘텐츠 저작</a:t>
            </a:r>
          </a:p>
        </p:txBody>
      </p:sp>
      <p:sp>
        <p:nvSpPr>
          <p:cNvPr id="3" name="TextBox 2">
            <a:extLst>
              <a:ext uri="{FF2B5EF4-FFF2-40B4-BE49-F238E27FC236}">
                <a16:creationId xmlns:a16="http://schemas.microsoft.com/office/drawing/2014/main" id="{4CCBF0D3-F801-4DC9-9D8A-AF86B5B192F4}"/>
              </a:ext>
            </a:extLst>
          </p:cNvPr>
          <p:cNvSpPr>
            <a:spLocks noGrp="1"/>
          </p:cNvSpPr>
          <p:nvPr/>
        </p:nvSpPr>
        <p:spPr>
          <a:xfrm>
            <a:off x="832104" y="4443984"/>
            <a:ext cx="10515600" cy="1463040"/>
          </a:xfrm>
          <a:prstGeom prst="rect">
            <a:avLst/>
          </a:prstGeom>
          <a:noFill/>
        </p:spPr>
        <p:txBody>
          <a:bodyPr wrap="square" lIns="45720" rIns="45720" anchor="t">
            <a:noAutofit/>
          </a:bodyPr>
          <a:lstStyle/>
          <a:p>
            <a:pPr algn="l" eaLnBrk="0" latinLnBrk="0">
              <a:spcAft>
                <a:spcPts val="200"/>
              </a:spcAft>
              <a:buNone/>
            </a:pPr>
            <a:r>
              <a:rPr sz="1600" b="0" lang="ko-KR" altLang="en-US">
                <a:solidFill>
                  <a:srgbClr val="595959"/>
                </a:solidFill>
                <a:latin typeface="나눔스퀘어"/>
                <a:ea typeface="나눔스퀘어"/>
                <a:cs typeface="나눔스퀘어"/>
              </a:rPr>
              <a:t>Audio Reactive Projection Mapping Authoring with Meaningful Surface Region Graphs and Continuous UV States</a:t>
            </a:r>
          </a:p>
          <a:p>
            <a:pPr algn="l" eaLnBrk="0" latinLnBrk="0">
              <a:spcAft>
                <a:spcPts val="200"/>
              </a:spcAft>
              <a:buNone/>
            </a:pPr>
            <a:r>
              <a:rPr sz="1600" b="0" lang="ko-KR" altLang="en-US">
                <a:solidFill>
                  <a:srgbClr val="595959"/>
                </a:solidFill>
                <a:latin typeface="나눔스퀘어"/>
                <a:ea typeface="나눔스퀘어"/>
                <a:cs typeface="나눔스퀘어"/>
              </a:rPr>
              <a:t>석사학위논문 1차 발표  ·  숭실대학교 메타버스·문화콘텐츠학과  ·  지도교수 이정진  ·  2026. 10. 07.</a:t>
            </a:r>
          </a:p>
        </p:txBody>
      </p:sp>
      <p:sp>
        <p:nvSpPr>
          <p:cNvPr id="4" name="TextBox 3">
            <a:extLst>
              <a:ext uri="{FF2B5EF4-FFF2-40B4-BE49-F238E27FC236}">
                <a16:creationId xmlns:a16="http://schemas.microsoft.com/office/drawing/2014/main" id="{2B0D8460-3273-42CE-8DEE-1AE751253417}"/>
              </a:ext>
            </a:extLst>
          </p:cNvPr>
          <p:cNvSpPr>
            <a:spLocks noGrp="1"/>
          </p:cNvSpPr>
          <p:nvPr/>
        </p:nvSpPr>
        <p:spPr>
          <a:xfrm>
            <a:off x="9418320" y="6428232"/>
            <a:ext cx="2651760" cy="365760"/>
          </a:xfrm>
          <a:prstGeom prst="rect">
            <a:avLst/>
          </a:prstGeom>
          <a:noFill/>
        </p:spPr>
        <p:txBody>
          <a:bodyPr wrap="square" lIns="18288" tIns="18288" rIns="18288" bIns="18288" anchor="t">
            <a:noAutofit/>
          </a:bodyPr>
          <a:lstStyle/>
          <a:p>
            <a:pPr algn="r" eaLnBrk="0" latinLnBrk="0">
              <a:spcAft>
                <a:spcPts val="400"/>
              </a:spcAft>
              <a:buNone/>
            </a:pPr>
            <a:r>
              <a:rPr sz="1400" b="0" lang="ko-KR" altLang="en-US">
                <a:solidFill>
                  <a:srgbClr val="000000"/>
                </a:solidFill>
                <a:latin typeface="나눔스퀘어"/>
                <a:ea typeface="나눔스퀘어"/>
                <a:cs typeface="나눔스퀘어"/>
              </a:rPr>
              <a:t>발표자: 강민수</a:t>
            </a:r>
          </a:p>
        </p:txBody>
      </p:sp>
      <p:sp>
        <p:nvSpPr>
          <p:cNvPr id="6" name="직선 연결선 4">
            <a:extLst>
              <a:ext uri="{FF2B5EF4-FFF2-40B4-BE49-F238E27FC236}">
                <a16:creationId xmlns:a16="http://schemas.microsoft.com/office/drawing/2014/main" id="{8D6964DE-C85F-4722-8B05-69BA534123F8}"/>
              </a:ext>
            </a:extLst>
          </p:cNvPr>
          <p:cNvSpPr>
            <a:spLocks noGrp="1"/>
          </p:cNvSpPr>
          <p:nvPr/>
        </p:nvSpPr>
        <p:spPr>
          <a:xfrm>
            <a:off x="-38100" y="6278306"/>
            <a:ext cx="122586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1" name="타원 3">
            <a:extLst>
              <a:ext uri="{FF2B5EF4-FFF2-40B4-BE49-F238E27FC236}">
                <a16:creationId xmlns:a16="http://schemas.microsoft.com/office/drawing/2014/main" id="{1F1D3369-17EB-4480-A5C0-08A9B5D65E0E}"/>
              </a:ext>
            </a:extLst>
          </p:cNvPr>
          <p:cNvSpPr>
            <a:spLocks noGrp="1"/>
          </p:cNvSpPr>
          <p:nvPr/>
        </p:nvSpPr>
        <p:spPr>
          <a:xfrm>
            <a:off x="9079380" y="-1491154"/>
            <a:ext cx="4141694" cy="4141694"/>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0" latinLnBrk="0">
              <a:buNone/>
            </a:pPr>
            <a:endParaRPr lang="ko-KR" altLang="en-US"/>
          </a:p>
        </p:txBody>
      </p:sp>
      <p:sp>
        <p:nvSpPr>
          <p:cNvPr id="12" name="타원 6">
            <a:extLst>
              <a:ext uri="{FF2B5EF4-FFF2-40B4-BE49-F238E27FC236}">
                <a16:creationId xmlns:a16="http://schemas.microsoft.com/office/drawing/2014/main" id="{B88E3819-291E-4190-BED8-072FCFC53A55}"/>
              </a:ext>
            </a:extLst>
          </p:cNvPr>
          <p:cNvSpPr>
            <a:spLocks noGrp="1"/>
          </p:cNvSpPr>
          <p:nvPr/>
        </p:nvSpPr>
        <p:spPr>
          <a:xfrm>
            <a:off x="9403616" y="-1166918"/>
            <a:ext cx="3493221" cy="349322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0" latinLnBrk="0">
              <a:buNone/>
            </a:pPr>
            <a:endParaRPr lang="ko-KR" altLang="en-US"/>
          </a:p>
        </p:txBody>
      </p:sp>
    </p:spTree>
    <p:extLst>
      <p:ext uri="{BB962C8B-B14F-4D97-AF65-F5344CB8AC3E}">
        <p14:creationId xmlns:p14="http://schemas.microsoft.com/office/powerpoint/2010/main" val="1430013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295A2-44EA-4F99-B56B-7BB5B35FA270}"/>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발표자 소개</a:t>
            </a:r>
          </a:p>
        </p:txBody>
      </p:sp>
      <p:sp>
        <p:nvSpPr>
          <p:cNvPr id="16" name="직선 연결선 14">
            <a:extLst>
              <a:ext uri="{FF2B5EF4-FFF2-40B4-BE49-F238E27FC236}">
                <a16:creationId xmlns:a16="http://schemas.microsoft.com/office/drawing/2014/main" id="{C7C18CF6-F83F-4DC1-A4FF-9725F7A43546}"/>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17FE1FF6-545F-4328-99FE-9EB4C3C6EC46}"/>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그림 자리: 사진"/>
          <p:cNvSpPr/>
          <p:nvPr/>
        </p:nvSpPr>
        <p:spPr>
          <a:xfrm>
            <a:off x="1287475" y="1554480"/>
            <a:ext cx="2103120" cy="237744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사진</a:t>
            </a:r>
          </a:p>
        </p:txBody>
      </p:sp>
      <p:sp>
        <p:nvSpPr>
          <p:cNvPr id="19" name="TextBox 18"/>
          <p:cNvSpPr txBox="1"/>
          <p:nvPr/>
        </p:nvSpPr>
        <p:spPr>
          <a:xfrm>
            <a:off x="830275" y="4069080"/>
            <a:ext cx="3017520" cy="2103120"/>
          </a:xfrm>
          <a:prstGeom prst="rect">
            <a:avLst/>
          </a:prstGeom>
          <a:noFill/>
        </p:spPr>
        <p:txBody>
          <a:bodyPr wrap="square" anchor="t" lIns="45720" rIns="45720">
            <a:noAutofit/>
          </a:bodyPr>
          <a:lstStyle/>
          <a:p>
            <a:pPr eaLnBrk="0" latinLnBrk="0" algn="ctr">
              <a:spcAft>
                <a:spcPts val="0"/>
              </a:spcAft>
            </a:pPr>
            <a:r>
              <a:rPr sz="2200" b="0" lang="ko-KR" altLang="en-US">
                <a:solidFill>
                  <a:srgbClr val="000000"/>
                </a:solidFill>
                <a:latin typeface="나눔스퀘어 ExtraBold"/>
                <a:ea typeface="나눔스퀘어 ExtraBold"/>
              </a:rPr>
              <a:t>강민수</a:t>
            </a:r>
          </a:p>
          <a:p>
            <a:pPr eaLnBrk="0" latinLnBrk="0" algn="ctr">
              <a:spcAft>
                <a:spcPts val="800"/>
              </a:spcAft>
            </a:pPr>
            <a:r>
              <a:rPr sz="1200" b="0" lang="ko-KR" altLang="en-US">
                <a:solidFill>
                  <a:srgbClr val="595959"/>
                </a:solidFill>
                <a:latin typeface="나눔스퀘어"/>
                <a:ea typeface="나눔스퀘어"/>
              </a:rPr>
              <a:t>Minsu Kang</a:t>
            </a:r>
          </a:p>
          <a:p>
            <a:pPr eaLnBrk="0" latinLnBrk="0" algn="ctr">
              <a:spcAft>
                <a:spcPts val="200"/>
              </a:spcAft>
            </a:pPr>
            <a:r>
              <a:rPr sz="1200" b="0" lang="ko-KR" altLang="en-US">
                <a:solidFill>
                  <a:srgbClr val="000000"/>
                </a:solidFill>
                <a:latin typeface="나눔스퀘어"/>
                <a:ea typeface="나눔스퀘어"/>
              </a:rPr>
              <a:t>숭실대학교 메타버스·문화콘텐츠학과 석사과정</a:t>
            </a:r>
          </a:p>
          <a:p>
            <a:pPr eaLnBrk="0" latinLnBrk="0" algn="ctr">
              <a:spcAft>
                <a:spcPts val="200"/>
              </a:spcAft>
            </a:pPr>
            <a:r>
              <a:rPr sz="1200" b="0" lang="ko-KR" altLang="en-US">
                <a:solidFill>
                  <a:srgbClr val="000000"/>
                </a:solidFill>
                <a:latin typeface="나눔스퀘어"/>
                <a:ea typeface="나눔스퀘어"/>
              </a:rPr>
              <a:t>33Lab · 지도교수 이정진</a:t>
            </a:r>
          </a:p>
          <a:p>
            <a:pPr eaLnBrk="0" latinLnBrk="0" algn="ctr">
              <a:spcAft>
                <a:spcPts val="200"/>
              </a:spcAft>
            </a:pPr>
            <a:r>
              <a:rPr sz="1200" b="0" lang="ko-KR" altLang="en-US">
                <a:solidFill>
                  <a:srgbClr val="595959"/>
                </a:solidFill>
                <a:latin typeface="나눔스퀘어"/>
                <a:ea typeface="나눔스퀘어"/>
              </a:rPr>
              <a:t>[입학 연월] –</a:t>
            </a:r>
          </a:p>
        </p:txBody>
      </p:sp>
      <p:sp>
        <p:nvSpPr>
          <p:cNvPr id="20" name="TextBox 19"/>
          <p:cNvSpPr txBox="1"/>
          <p:nvPr/>
        </p:nvSpPr>
        <p:spPr>
          <a:xfrm>
            <a:off x="4206240" y="1481328"/>
            <a:ext cx="7132320" cy="457200"/>
          </a:xfrm>
          <a:prstGeom prst="rect">
            <a:avLst/>
          </a:prstGeom>
          <a:noFill/>
        </p:spPr>
        <p:txBody>
          <a:bodyPr wrap="square" anchor="t" lIns="45720" rIns="45720">
            <a:noAutofit/>
          </a:bodyPr>
          <a:lstStyle/>
          <a:p>
            <a:pPr eaLnBrk="0" latinLnBrk="0" algn="l">
              <a:spcAft>
                <a:spcPts val="400"/>
              </a:spcAft>
            </a:pPr>
            <a:r>
              <a:rPr sz="2100" b="0" lang="ko-KR" altLang="en-US">
                <a:solidFill>
                  <a:srgbClr val="000000"/>
                </a:solidFill>
                <a:latin typeface="나눔스퀘어 ExtraBold"/>
                <a:ea typeface="나눔스퀘어 ExtraBold"/>
              </a:rPr>
              <a:t>연구 질문: 물체 표면의 어디가 의미 있는가?</a:t>
            </a:r>
          </a:p>
        </p:txBody>
      </p:sp>
      <p:sp>
        <p:nvSpPr>
          <p:cNvPr id="21" name="TextBox 20"/>
          <p:cNvSpPr txBox="1"/>
          <p:nvPr/>
        </p:nvSpPr>
        <p:spPr>
          <a:xfrm>
            <a:off x="4206240" y="1984248"/>
            <a:ext cx="7132320" cy="548640"/>
          </a:xfrm>
          <a:prstGeom prst="rect">
            <a:avLst/>
          </a:prstGeom>
          <a:noFill/>
        </p:spPr>
        <p:txBody>
          <a:bodyPr wrap="square" anchor="t" lIns="45720" rIns="45720">
            <a:noAutofit/>
          </a:bodyPr>
          <a:lstStyle/>
          <a:p>
            <a:pPr eaLnBrk="0" latinLnBrk="0" algn="l">
              <a:spcAft>
                <a:spcPts val="400"/>
              </a:spcAft>
            </a:pPr>
            <a:r>
              <a:rPr sz="1300" b="0" lang="ko-KR" altLang="en-US">
                <a:solidFill>
                  <a:srgbClr val="000000"/>
                </a:solidFill>
                <a:latin typeface="나눔스퀘어"/>
                <a:ea typeface="나눔스퀘어"/>
              </a:rPr>
              <a:t>같은 물체라도 과업에 따라 의미 있는 표면이 다르다  </a:t>
            </a:r>
            <a:r>
              <a:rPr sz="1300" b="0" lang="ko-KR" altLang="en-US">
                <a:solidFill>
                  <a:srgbClr val="595959"/>
                </a:solidFill>
                <a:latin typeface="나눔스퀘어"/>
                <a:ea typeface="나눔스퀘어"/>
              </a:rPr>
              <a:t>(이전 연구: 감상 주목성 1위 ≠ 보정 추천도 1위)</a:t>
            </a:r>
          </a:p>
        </p:txBody>
      </p:sp>
      <p:sp>
        <p:nvSpPr>
          <p:cNvPr id="22" name="Rounded Rectangle 21"/>
          <p:cNvSpPr/>
          <p:nvPr/>
        </p:nvSpPr>
        <p:spPr>
          <a:xfrm>
            <a:off x="4206240" y="2743200"/>
            <a:ext cx="2194560" cy="233172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noAutofit/>
          </a:bodyPr>
          <a:lstStyle/>
          <a:p>
            <a:pPr algn="ctr" eaLnBrk="0" latinLnBrk="0">
              <a:spcAft>
                <a:spcPts val="400"/>
              </a:spcAft>
            </a:pPr>
            <a:r>
              <a:rPr sz="1100" b="0" lang="ko-KR" altLang="en-US">
                <a:solidFill>
                  <a:srgbClr val="595959"/>
                </a:solidFill>
                <a:latin typeface="나눔스퀘어"/>
                <a:ea typeface="나눔스퀘어"/>
              </a:rPr>
              <a:t>이전 연구</a:t>
            </a:r>
          </a:p>
          <a:p>
            <a:pPr eaLnBrk="0" latinLnBrk="0" algn="ctr">
              <a:spcAft>
                <a:spcPts val="800"/>
              </a:spcAft>
            </a:pPr>
            <a:r>
              <a:rPr sz="1500" b="0" lang="ko-KR" altLang="en-US">
                <a:solidFill>
                  <a:srgbClr val="000000"/>
                </a:solidFill>
                <a:latin typeface="나눔스퀘어 ExtraBold"/>
                <a:ea typeface="나눔스퀘어 ExtraBold"/>
              </a:rPr>
              <a:t>점: 보정 기준</a:t>
            </a:r>
          </a:p>
          <a:p>
            <a:pPr eaLnBrk="0" latinLnBrk="0" algn="ctr">
              <a:spcAft>
                <a:spcPts val="800"/>
              </a:spcAft>
            </a:pPr>
            <a:r>
              <a:rPr sz="1250" b="0" lang="ko-KR" altLang="en-US">
                <a:solidFill>
                  <a:srgbClr val="000000"/>
                </a:solidFill>
                <a:latin typeface="나눔스퀘어"/>
                <a:ea typeface="나눔스퀘어"/>
              </a:rPr>
              <a:t>Mesh Saliency 기반
정점 추천</a:t>
            </a:r>
          </a:p>
          <a:p>
            <a:pPr eaLnBrk="0" latinLnBrk="0" algn="ctr">
              <a:spcAft>
                <a:spcPts val="200"/>
              </a:spcAft>
            </a:pPr>
            <a:r>
              <a:rPr sz="1050" b="0" lang="ko-KR" altLang="en-US">
                <a:solidFill>
                  <a:srgbClr val="595959"/>
                </a:solidFill>
                <a:latin typeface="나눔스퀘어"/>
                <a:ea typeface="나눔스퀘어"/>
              </a:rPr>
              <a:t>[게재처, 연도]</a:t>
            </a:r>
          </a:p>
        </p:txBody>
      </p:sp>
      <p:cxnSp>
        <p:nvCxnSpPr>
          <p:cNvPr id="23" name="Connector 22"/>
          <p:cNvCxnSpPr/>
          <p:nvPr/>
        </p:nvCxnSpPr>
        <p:spPr>
          <a:xfrm>
            <a:off x="6419088" y="3909060"/>
            <a:ext cx="237744"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19" y="2743200"/>
            <a:ext cx="2194560" cy="233172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noAutofit/>
          </a:bodyPr>
          <a:lstStyle/>
          <a:p>
            <a:pPr algn="ctr" eaLnBrk="0" latinLnBrk="0">
              <a:spcAft>
                <a:spcPts val="400"/>
              </a:spcAft>
            </a:pPr>
            <a:r>
              <a:rPr sz="1100" b="0" lang="ko-KR" altLang="en-US">
                <a:solidFill>
                  <a:srgbClr val="595959"/>
                </a:solidFill>
                <a:latin typeface="나눔스퀘어"/>
                <a:ea typeface="나눔스퀘어"/>
              </a:rPr>
              <a:t>확장</a:t>
            </a:r>
          </a:p>
          <a:p>
            <a:pPr eaLnBrk="0" latinLnBrk="0" algn="ctr">
              <a:spcAft>
                <a:spcPts val="800"/>
              </a:spcAft>
            </a:pPr>
            <a:r>
              <a:rPr sz="1500" b="0" lang="ko-KR" altLang="en-US">
                <a:solidFill>
                  <a:srgbClr val="000000"/>
                </a:solidFill>
                <a:latin typeface="나눔스퀘어 ExtraBold"/>
                <a:ea typeface="나눔스퀘어 ExtraBold"/>
              </a:rPr>
              <a:t>점 → 보정</a:t>
            </a:r>
          </a:p>
          <a:p>
            <a:pPr eaLnBrk="0" latinLnBrk="0" algn="ctr">
              <a:spcAft>
                <a:spcPts val="800"/>
              </a:spcAft>
            </a:pPr>
            <a:r>
              <a:rPr sz="1250" b="0" lang="ko-KR" altLang="en-US">
                <a:solidFill>
                  <a:srgbClr val="000000"/>
                </a:solidFill>
                <a:latin typeface="나눔스퀘어"/>
                <a:ea typeface="나눔스퀘어"/>
              </a:rPr>
              <a:t>카메라 없는
DLT 보정 도구</a:t>
            </a:r>
          </a:p>
          <a:p>
            <a:pPr eaLnBrk="0" latinLnBrk="0" algn="ctr">
              <a:spcAft>
                <a:spcPts val="200"/>
              </a:spcAft>
            </a:pPr>
            <a:r>
              <a:rPr sz="1050" b="0" lang="ko-KR" altLang="en-US">
                <a:solidFill>
                  <a:srgbClr val="595959"/>
                </a:solidFill>
                <a:latin typeface="나눔스퀘어"/>
                <a:ea typeface="나눔스퀘어"/>
              </a:rPr>
              <a:t>Unity, 가상 검증</a:t>
            </a:r>
          </a:p>
        </p:txBody>
      </p:sp>
      <p:cxnSp>
        <p:nvCxnSpPr>
          <p:cNvPr id="25" name="Connector 24"/>
          <p:cNvCxnSpPr/>
          <p:nvPr/>
        </p:nvCxnSpPr>
        <p:spPr>
          <a:xfrm>
            <a:off x="8887967" y="3909060"/>
            <a:ext cx="237745"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144000" y="2743200"/>
            <a:ext cx="2194560" cy="2331720"/>
          </a:xfrm>
          <a:prstGeom prst="roundRect">
            <a:avLst>
              <a:gd name="adj" fmla="val 12000"/>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noAutofit/>
          </a:bodyPr>
          <a:lstStyle/>
          <a:p>
            <a:pPr algn="ctr" eaLnBrk="0" latinLnBrk="0">
              <a:spcAft>
                <a:spcPts val="400"/>
              </a:spcAft>
            </a:pPr>
            <a:r>
              <a:rPr sz="1100" b="0" lang="ko-KR" altLang="en-US">
                <a:solidFill>
                  <a:srgbClr val="A6A6A6"/>
                </a:solidFill>
                <a:latin typeface="나눔스퀘어"/>
                <a:ea typeface="나눔스퀘어"/>
              </a:rPr>
              <a:t>학위 논문</a:t>
            </a:r>
          </a:p>
          <a:p>
            <a:pPr eaLnBrk="0" latinLnBrk="0" algn="ctr">
              <a:spcAft>
                <a:spcPts val="800"/>
              </a:spcAft>
            </a:pPr>
            <a:r>
              <a:rPr sz="1500" b="0" lang="ko-KR" altLang="en-US">
                <a:solidFill>
                  <a:srgbClr val="FFFFFF"/>
                </a:solidFill>
                <a:latin typeface="나눔스퀘어 ExtraBold"/>
                <a:ea typeface="나눔스퀘어 ExtraBold"/>
              </a:rPr>
              <a:t>영역: 콘텐츠 단위</a:t>
            </a:r>
          </a:p>
          <a:p>
            <a:pPr eaLnBrk="0" latinLnBrk="0" algn="ctr">
              <a:spcAft>
                <a:spcPts val="800"/>
              </a:spcAft>
            </a:pPr>
            <a:r>
              <a:rPr sz="1250" b="0" lang="ko-KR" altLang="en-US">
                <a:solidFill>
                  <a:srgbClr val="FFFFFF"/>
                </a:solidFill>
                <a:latin typeface="나눔스퀘어"/>
                <a:ea typeface="나눔스퀘어"/>
              </a:rPr>
              <a:t>MSR 기반 오디오 반응형
프로젝션 매핑</a:t>
            </a:r>
          </a:p>
          <a:p>
            <a:pPr eaLnBrk="0" latinLnBrk="0" algn="ctr">
              <a:spcAft>
                <a:spcPts val="200"/>
              </a:spcAft>
            </a:pPr>
            <a:r>
              <a:rPr sz="1050" b="0" lang="ko-KR" altLang="en-US">
                <a:solidFill>
                  <a:srgbClr val="A6A6A6"/>
                </a:solidFill>
                <a:latin typeface="나눔스퀘어"/>
                <a:ea typeface="나눔스퀘어"/>
              </a:rPr>
              <a:t>1차 발표</a:t>
            </a:r>
          </a:p>
        </p:txBody>
      </p:sp>
      <p:sp>
        <p:nvSpPr>
          <p:cNvPr id="27" name="TextBox 26"/>
          <p:cNvSpPr txBox="1"/>
          <p:nvPr/>
        </p:nvSpPr>
        <p:spPr>
          <a:xfrm>
            <a:off x="4206240" y="5303520"/>
            <a:ext cx="7132320" cy="457200"/>
          </a:xfrm>
          <a:prstGeom prst="rect">
            <a:avLst/>
          </a:prstGeom>
          <a:noFill/>
        </p:spPr>
        <p:txBody>
          <a:bodyPr wrap="square" anchor="t" lIns="45720" rIns="45720">
            <a:noAutofit/>
          </a:bodyPr>
          <a:lstStyle/>
          <a:p>
            <a:pPr eaLnBrk="0" latinLnBrk="0" algn="ctr">
              <a:spcAft>
                <a:spcPts val="400"/>
              </a:spcAft>
            </a:pPr>
            <a:r>
              <a:rPr sz="1500" b="0" lang="ko-KR" altLang="en-US">
                <a:solidFill>
                  <a:srgbClr val="000000"/>
                </a:solidFill>
                <a:latin typeface="나눔스퀘어 Bold"/>
                <a:ea typeface="나눔스퀘어 Bold"/>
              </a:rPr>
              <a:t>어떻게 정확히 비출 것인가 (점)</a:t>
            </a:r>
            <a:r>
              <a:rPr sz="1500" b="0" lang="ko-KR" altLang="en-US">
                <a:solidFill>
                  <a:srgbClr val="595959"/>
                </a:solidFill>
                <a:latin typeface="나눔스퀘어"/>
                <a:ea typeface="나눔스퀘어"/>
              </a:rPr>
              <a:t>   →   </a:t>
            </a:r>
            <a:r>
              <a:rPr sz="1500" b="0" lang="ko-KR" altLang="en-US">
                <a:solidFill>
                  <a:srgbClr val="000000"/>
                </a:solidFill>
                <a:latin typeface="나눔스퀘어 Bold"/>
                <a:ea typeface="나눔스퀘어 Bold"/>
              </a:rPr>
              <a:t>무엇을 비출 것인가 (영역)</a:t>
            </a:r>
          </a:p>
        </p:txBody>
      </p:sp>
    </p:spTree>
    <p:extLst>
      <p:ext uri="{BB962C8B-B14F-4D97-AF65-F5344CB8AC3E}">
        <p14:creationId xmlns:p14="http://schemas.microsoft.com/office/powerpoint/2010/main" val="2055497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2">
            <a:extLst>
              <a:ext uri="{FF2B5EF4-FFF2-40B4-BE49-F238E27FC236}">
                <a16:creationId xmlns:a16="http://schemas.microsoft.com/office/drawing/2014/main" id="{3250BA1F-4CBF-443C-BCE9-E5590EB33179}"/>
              </a:ext>
            </a:extLst>
          </p:cNvPr>
          <p:cNvSpPr>
            <a:spLocks noGrp="1"/>
          </p:cNvSpPr>
          <p:nvPr/>
        </p:nvSpPr>
        <p:spPr>
          <a:xfrm>
            <a:off x="-8965" y="-8754"/>
            <a:ext cx="12299577" cy="6947436"/>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0" latinLnBrk="0">
              <a:buNone/>
            </a:pPr>
            <a:endParaRPr lang="ko-KR" altLang="en-US"/>
          </a:p>
        </p:txBody>
      </p:sp>
      <p:sp>
        <p:nvSpPr>
          <p:cNvPr id="2" name="Title 1">
            <a:extLst>
              <a:ext uri="{FF2B5EF4-FFF2-40B4-BE49-F238E27FC236}">
                <a16:creationId xmlns:a16="http://schemas.microsoft.com/office/drawing/2014/main" id="{44A29F02-1171-48D1-AAB8-7133DA82A0F3}"/>
              </a:ext>
            </a:extLst>
          </p:cNvPr>
          <p:cNvSpPr>
            <a:spLocks noGrp="1"/>
          </p:cNvSpPr>
          <p:nvPr>
            <p:ph type="title"/>
          </p:nvPr>
        </p:nvSpPr>
        <p:spPr>
          <a:xfrm>
            <a:off x="830424" y="2528211"/>
            <a:ext cx="10515600" cy="1325563"/>
          </a:xfrm>
        </p:spPr>
        <p:txBody>
          <a:bodyPr/>
          <a:lstStyle/>
          <a:p>
            <a:pPr algn="ctr" eaLnBrk="0" latinLnBrk="0">
              <a:buNone/>
            </a:pPr>
            <a:r>
              <a:rPr sz="6000" b="0" lang="ko-KR" altLang="en-US">
                <a:solidFill>
                  <a:srgbClr val="FFFFFF"/>
                </a:solidFill>
                <a:latin typeface="나눔스퀘어 ExtraBold"/>
                <a:ea typeface="나눔스퀘어 ExtraBold"/>
                <a:cs typeface="나눔스퀘어 ExtraBold"/>
              </a:rPr>
              <a:t>Introduction</a:t>
            </a:r>
          </a:p>
        </p:txBody>
      </p:sp>
      <p:sp>
        <p:nvSpPr>
          <p:cNvPr id="16" name="직선 연결선 14">
            <a:extLst>
              <a:ext uri="{FF2B5EF4-FFF2-40B4-BE49-F238E27FC236}">
                <a16:creationId xmlns:a16="http://schemas.microsoft.com/office/drawing/2014/main" id="{34AA5BF8-9C43-4335-91E3-4C272440CC40}"/>
              </a:ext>
            </a:extLst>
          </p:cNvPr>
          <p:cNvSpPr>
            <a:spLocks noGrp="1"/>
          </p:cNvSpPr>
          <p:nvPr/>
        </p:nvSpPr>
        <p:spPr>
          <a:xfrm>
            <a:off x="2201148" y="4108193"/>
            <a:ext cx="7789701"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sp>
      <p:pic>
        <p:nvPicPr>
          <p:cNvPr id="21" name="Picture 16"/>
          <p:cNvPicPr>
            <a:picLocks noChangeAspect="1"/>
          </p:cNvPicPr>
          <p:nvPr/>
        </p:nvPicPr>
        <p:blipFill>
          <a:blip r:embed="rId3"/>
          <a:stretch>
            <a:fillRect/>
          </a:stretch>
        </p:blipFill>
        <p:spPr>
          <a:xfrm>
            <a:off x="1" y="6372808"/>
            <a:ext cx="1122886" cy="485191"/>
          </a:xfrm>
          <a:prstGeom prst="rect">
            <a:avLst/>
          </a:prstGeom>
        </p:spPr>
      </p:pic>
    </p:spTree>
    <p:extLst>
      <p:ext uri="{BB962C8B-B14F-4D97-AF65-F5344CB8AC3E}">
        <p14:creationId xmlns:p14="http://schemas.microsoft.com/office/powerpoint/2010/main" val="1899620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A75C-9DB2-486F-9362-311B2F0B236C}"/>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물체의 형태에 맞춘 프로젝션 매핑</a:t>
            </a:r>
          </a:p>
        </p:txBody>
      </p:sp>
      <p:sp>
        <p:nvSpPr>
          <p:cNvPr id="16" name="직선 연결선 14">
            <a:extLst>
              <a:ext uri="{FF2B5EF4-FFF2-40B4-BE49-F238E27FC236}">
                <a16:creationId xmlns:a16="http://schemas.microsoft.com/office/drawing/2014/main" id="{737EB8EE-6109-471B-91DE-654416DA11D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8B4CB6B4-2CC7-4FB5-8056-AF536A697584}"/>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a:extLst>
              <a:ext uri="{FF2B5EF4-FFF2-40B4-BE49-F238E27FC236}">
                <a16:creationId xmlns:a16="http://schemas.microsoft.com/office/drawing/2014/main" id="{578BA21F-6681-4904-AD74-03BE52DEE885}"/>
              </a:ext>
            </a:extLst>
          </p:cNvPr>
          <p:cNvSpPr>
            <a:spLocks noGrp="1"/>
          </p:cNvSpPr>
          <p:nvPr/>
        </p:nvSpPr>
        <p:spPr>
          <a:xfrm>
            <a:off x="830275" y="1481328"/>
            <a:ext cx="10522915" cy="914400"/>
          </a:xfrm>
          <a:prstGeom prst="rect">
            <a:avLst/>
          </a:prstGeom>
          <a:noFill/>
        </p:spPr>
        <p:txBody>
          <a:bodyPr wrap="square" lIns="45720" rIns="45720" anchor="t">
            <a:noAutofit/>
          </a:bodyPr>
          <a:lstStyle/>
          <a:p>
            <a:pPr marL="283464" indent="-283464" algn="l" eaLnBrk="0" latinLnBrk="0">
              <a:lnSpc>
                <a:spcPct val="150000"/>
              </a:lnSpc>
              <a:spcAft>
                <a:spcPts val="0"/>
              </a:spcAft>
              <a:buFont typeface="Arial"/>
              <a:buChar char="•"/>
            </a:pPr>
            <a:r>
              <a:rPr sz="1600" b="0" lang="ko-KR" altLang="en-US">
                <a:solidFill>
                  <a:srgbClr val="000000"/>
                </a:solidFill>
                <a:latin typeface="나눔스퀘어"/>
                <a:ea typeface="나눔스퀘어"/>
                <a:cs typeface="나눔스퀘어"/>
              </a:rPr>
              <a:t>프로젝션 매핑: 실제 물체의 표면을 화면으로 쓰는 기술</a:t>
            </a:r>
          </a:p>
          <a:p>
            <a:pPr marL="283464" indent="-283464" algn="l" eaLnBrk="0" latinLnBrk="0">
              <a:lnSpc>
                <a:spcPct val="150000"/>
              </a:lnSpc>
              <a:spcAft>
                <a:spcPts val="0"/>
              </a:spcAft>
              <a:buFont typeface="Arial"/>
              <a:buChar char="•"/>
            </a:pPr>
            <a:r>
              <a:rPr sz="1600" b="0" lang="ko-KR" altLang="en-US">
                <a:solidFill>
                  <a:srgbClr val="000000"/>
                </a:solidFill>
                <a:latin typeface="나눔스퀘어"/>
                <a:ea typeface="나눔스퀘어"/>
                <a:cs typeface="나눔스퀘어"/>
              </a:rPr>
              <a:t>물체의 특징(눈, 창문, 모서리)에 맞춰 사건이 일어날 때 </a:t>
            </a:r>
            <a:r>
              <a:rPr sz="1600" b="0" lang="ko-KR" altLang="en-US">
                <a:solidFill>
                  <a:srgbClr val="000000"/>
                </a:solidFill>
                <a:latin typeface="나눔스퀘어 Bold"/>
                <a:ea typeface="나눔스퀘어 Bold"/>
                <a:cs typeface="나눔스퀘어 Bold"/>
              </a:rPr>
              <a:t>평면 영상과 다른 경험</a:t>
            </a:r>
          </a:p>
        </p:txBody>
      </p:sp>
      <p:sp>
        <p:nvSpPr>
          <p:cNvPr id="19" name="그림 자리: 프로젝션 매핑 사례 영상 1 (건물 파사드 등)">
            <a:extLst>
              <a:ext uri="{FF2B5EF4-FFF2-40B4-BE49-F238E27FC236}">
                <a16:creationId xmlns:a16="http://schemas.microsoft.com/office/drawing/2014/main" id="{7F3904EC-68AF-4C4E-9FE3-00F7390FAD92}"/>
              </a:ext>
            </a:extLst>
          </p:cNvPr>
          <p:cNvSpPr>
            <a:spLocks noGrp="1"/>
          </p:cNvSpPr>
          <p:nvPr/>
        </p:nvSpPr>
        <p:spPr>
          <a:xfrm>
            <a:off x="830275" y="2514600"/>
            <a:ext cx="5120640" cy="3520440"/>
          </a:xfrm>
          <a:prstGeom prst="roundRect">
            <a:avLst>
              <a:gd name="adj" fmla="val 2000"/>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100" b="0" lang="ko-KR" altLang="en-US">
                <a:solidFill>
                  <a:srgbClr val="595959"/>
                </a:solidFill>
                <a:latin typeface="나눔스퀘어 Bold"/>
                <a:ea typeface="나눔스퀘어 Bold"/>
                <a:cs typeface="나눔스퀘어 Bold"/>
              </a:rPr>
              <a:t>[그림]</a:t>
            </a:r>
          </a:p>
          <a:p>
            <a:pPr algn="ctr" eaLnBrk="0" latinLnBrk="0">
              <a:spcAft>
                <a:spcPts val="200"/>
              </a:spcAft>
              <a:buNone/>
            </a:pPr>
            <a:r>
              <a:rPr sz="1100" b="0" lang="ko-KR" altLang="en-US">
                <a:solidFill>
                  <a:srgbClr val="595959"/>
                </a:solidFill>
                <a:latin typeface="나눔스퀘어"/>
                <a:ea typeface="나눔스퀘어"/>
                <a:cs typeface="나눔스퀘어"/>
              </a:rPr>
              <a:t>프로젝션 매핑 사례 영상 1 (건물 파사드 등)</a:t>
            </a:r>
          </a:p>
        </p:txBody>
      </p:sp>
      <p:sp>
        <p:nvSpPr>
          <p:cNvPr id="20" name="그림 자리: 프로젝션 매핑 사례 영상 2 (오브젝트 매핑 등)">
            <a:extLst>
              <a:ext uri="{FF2B5EF4-FFF2-40B4-BE49-F238E27FC236}">
                <a16:creationId xmlns:a16="http://schemas.microsoft.com/office/drawing/2014/main" id="{DEC61E41-6712-4DE4-A859-F6462E66D353}"/>
              </a:ext>
            </a:extLst>
          </p:cNvPr>
          <p:cNvSpPr>
            <a:spLocks noGrp="1"/>
          </p:cNvSpPr>
          <p:nvPr/>
        </p:nvSpPr>
        <p:spPr>
          <a:xfrm>
            <a:off x="6225235" y="2514600"/>
            <a:ext cx="5120640" cy="3520440"/>
          </a:xfrm>
          <a:prstGeom prst="roundRect">
            <a:avLst>
              <a:gd name="adj" fmla="val 2000"/>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100" b="0" lang="ko-KR" altLang="en-US">
                <a:solidFill>
                  <a:srgbClr val="595959"/>
                </a:solidFill>
                <a:latin typeface="나눔스퀘어 Bold"/>
                <a:ea typeface="나눔스퀘어 Bold"/>
                <a:cs typeface="나눔스퀘어 Bold"/>
              </a:rPr>
              <a:t>[그림]</a:t>
            </a:r>
          </a:p>
          <a:p>
            <a:pPr algn="ctr" eaLnBrk="0" latinLnBrk="0">
              <a:spcAft>
                <a:spcPts val="200"/>
              </a:spcAft>
              <a:buNone/>
            </a:pPr>
            <a:r>
              <a:rPr sz="1100" b="0" lang="ko-KR" altLang="en-US">
                <a:solidFill>
                  <a:srgbClr val="595959"/>
                </a:solidFill>
                <a:latin typeface="나눔스퀘어"/>
                <a:ea typeface="나눔스퀘어"/>
                <a:cs typeface="나눔스퀘어"/>
              </a:rPr>
              <a:t>프로젝션 매핑 사례 영상 2 (오브젝트 매핑 등)</a:t>
            </a:r>
          </a:p>
        </p:txBody>
      </p:sp>
    </p:spTree>
    <p:extLst>
      <p:ext uri="{BB962C8B-B14F-4D97-AF65-F5344CB8AC3E}">
        <p14:creationId xmlns:p14="http://schemas.microsoft.com/office/powerpoint/2010/main" val="1397677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050B8-9BD9-4BB2-B86C-25743C26DEE3}"/>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콘텐츠 제작의 어려움</a:t>
            </a:r>
          </a:p>
        </p:txBody>
      </p:sp>
      <p:sp>
        <p:nvSpPr>
          <p:cNvPr id="16" name="직선 연결선 14">
            <a:extLst>
              <a:ext uri="{FF2B5EF4-FFF2-40B4-BE49-F238E27FC236}">
                <a16:creationId xmlns:a16="http://schemas.microsoft.com/office/drawing/2014/main" id="{FA32EECC-CC2E-4B1B-907B-C3A02D694A7C}"/>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FF900656-6C0C-4D65-B95B-A15FA65789A7}"/>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Rounded Rectangle 17">
            <a:extLst>
              <a:ext uri="{FF2B5EF4-FFF2-40B4-BE49-F238E27FC236}">
                <a16:creationId xmlns:a16="http://schemas.microsoft.com/office/drawing/2014/main" id="{94762363-67AA-4325-987E-C1F3F11EE8BE}"/>
              </a:ext>
            </a:extLst>
          </p:cNvPr>
          <p:cNvSpPr>
            <a:spLocks noGrp="1"/>
          </p:cNvSpPr>
          <p:nvPr/>
        </p:nvSpPr>
        <p:spPr>
          <a:xfrm>
            <a:off x="830275" y="1600200"/>
            <a:ext cx="2240280" cy="731520"/>
          </a:xfrm>
          <a:prstGeom prst="roundRect">
            <a:avLst>
              <a:gd name="adj" fmla="val 12000"/>
            </a:avLst>
          </a:prstGeom>
          <a:solidFill>
            <a:srgbClr val="FFFFFF"/>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600" b="0" lang="ko-KR" altLang="en-US">
                <a:solidFill>
                  <a:srgbClr val="000000"/>
                </a:solidFill>
                <a:latin typeface="나눔스퀘어 Bold"/>
                <a:ea typeface="나눔스퀘어 Bold"/>
                <a:cs typeface="나눔스퀘어 Bold"/>
              </a:rPr>
              <a:t>영역 선택</a:t>
            </a:r>
          </a:p>
        </p:txBody>
      </p:sp>
      <p:sp>
        <p:nvSpPr>
          <p:cNvPr id="19" name="Connector 18">
            <a:extLst>
              <a:ext uri="{FF2B5EF4-FFF2-40B4-BE49-F238E27FC236}">
                <a16:creationId xmlns:a16="http://schemas.microsoft.com/office/drawing/2014/main" id="{188E5677-48D2-4341-A6CE-5F5C6F8F44A1}"/>
              </a:ext>
            </a:extLst>
          </p:cNvPr>
          <p:cNvSpPr>
            <a:spLocks noGrp="1"/>
          </p:cNvSpPr>
          <p:nvPr/>
        </p:nvSpPr>
        <p:spPr>
          <a:xfrm>
            <a:off x="3116275" y="1965960"/>
            <a:ext cx="36576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sp>
      <p:sp>
        <p:nvSpPr>
          <p:cNvPr id="20" name="Rounded Rectangle 19">
            <a:extLst>
              <a:ext uri="{FF2B5EF4-FFF2-40B4-BE49-F238E27FC236}">
                <a16:creationId xmlns:a16="http://schemas.microsoft.com/office/drawing/2014/main" id="{D22B8998-0DF5-46EB-9DE8-A153D546E72E}"/>
              </a:ext>
            </a:extLst>
          </p:cNvPr>
          <p:cNvSpPr>
            <a:spLocks noGrp="1"/>
          </p:cNvSpPr>
          <p:nvPr/>
        </p:nvSpPr>
        <p:spPr>
          <a:xfrm>
            <a:off x="3527755" y="1600200"/>
            <a:ext cx="2240280" cy="731520"/>
          </a:xfrm>
          <a:prstGeom prst="roundRect">
            <a:avLst>
              <a:gd name="adj" fmla="val 12000"/>
            </a:avLst>
          </a:prstGeom>
          <a:solidFill>
            <a:srgbClr val="FFFFFF"/>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600" b="0" lang="ko-KR" altLang="en-US">
                <a:solidFill>
                  <a:srgbClr val="000000"/>
                </a:solidFill>
                <a:latin typeface="나눔스퀘어 Bold"/>
                <a:ea typeface="나눔스퀘어 Bold"/>
                <a:cs typeface="나눔스퀘어 Bold"/>
              </a:rPr>
              <a:t>효과 배치</a:t>
            </a:r>
          </a:p>
        </p:txBody>
      </p:sp>
      <p:sp>
        <p:nvSpPr>
          <p:cNvPr id="21" name="Connector 20">
            <a:extLst>
              <a:ext uri="{FF2B5EF4-FFF2-40B4-BE49-F238E27FC236}">
                <a16:creationId xmlns:a16="http://schemas.microsoft.com/office/drawing/2014/main" id="{0571C6EB-4A9C-4C5A-8969-EC604104E1BF}"/>
              </a:ext>
            </a:extLst>
          </p:cNvPr>
          <p:cNvSpPr>
            <a:spLocks noGrp="1"/>
          </p:cNvSpPr>
          <p:nvPr/>
        </p:nvSpPr>
        <p:spPr>
          <a:xfrm>
            <a:off x="5813755" y="1965960"/>
            <a:ext cx="36576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sp>
      <p:sp>
        <p:nvSpPr>
          <p:cNvPr id="22" name="Rounded Rectangle 21">
            <a:extLst>
              <a:ext uri="{FF2B5EF4-FFF2-40B4-BE49-F238E27FC236}">
                <a16:creationId xmlns:a16="http://schemas.microsoft.com/office/drawing/2014/main" id="{5D436070-041D-49C9-9C8B-3684B85E0475}"/>
              </a:ext>
            </a:extLst>
          </p:cNvPr>
          <p:cNvSpPr>
            <a:spLocks noGrp="1"/>
          </p:cNvSpPr>
          <p:nvPr/>
        </p:nvSpPr>
        <p:spPr>
          <a:xfrm>
            <a:off x="6225235" y="1600200"/>
            <a:ext cx="2240280" cy="731520"/>
          </a:xfrm>
          <a:prstGeom prst="roundRect">
            <a:avLst>
              <a:gd name="adj" fmla="val 12000"/>
            </a:avLst>
          </a:prstGeom>
          <a:solidFill>
            <a:srgbClr val="FFFFFF"/>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600" b="0" lang="ko-KR" altLang="en-US">
                <a:solidFill>
                  <a:srgbClr val="000000"/>
                </a:solidFill>
                <a:latin typeface="나눔스퀘어 Bold"/>
                <a:ea typeface="나눔스퀘어 Bold"/>
                <a:cs typeface="나눔스퀘어 Bold"/>
              </a:rPr>
              <a:t>다면 정합</a:t>
            </a:r>
          </a:p>
        </p:txBody>
      </p:sp>
      <p:sp>
        <p:nvSpPr>
          <p:cNvPr id="23" name="Connector 22">
            <a:extLst>
              <a:ext uri="{FF2B5EF4-FFF2-40B4-BE49-F238E27FC236}">
                <a16:creationId xmlns:a16="http://schemas.microsoft.com/office/drawing/2014/main" id="{3E0E6878-BF6B-446C-852B-F80C6F3411EB}"/>
              </a:ext>
            </a:extLst>
          </p:cNvPr>
          <p:cNvSpPr>
            <a:spLocks noGrp="1"/>
          </p:cNvSpPr>
          <p:nvPr/>
        </p:nvSpPr>
        <p:spPr>
          <a:xfrm>
            <a:off x="8511235" y="1965960"/>
            <a:ext cx="36576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sp>
      <p:sp>
        <p:nvSpPr>
          <p:cNvPr id="24" name="Rounded Rectangle 23">
            <a:extLst>
              <a:ext uri="{FF2B5EF4-FFF2-40B4-BE49-F238E27FC236}">
                <a16:creationId xmlns:a16="http://schemas.microsoft.com/office/drawing/2014/main" id="{DE78EF99-F0B7-44BA-AE44-97D82CF01593}"/>
              </a:ext>
            </a:extLst>
          </p:cNvPr>
          <p:cNvSpPr>
            <a:spLocks noGrp="1"/>
          </p:cNvSpPr>
          <p:nvPr/>
        </p:nvSpPr>
        <p:spPr>
          <a:xfrm>
            <a:off x="8922715" y="1600200"/>
            <a:ext cx="2240280" cy="731520"/>
          </a:xfrm>
          <a:prstGeom prst="roundRect">
            <a:avLst>
              <a:gd name="adj" fmla="val 12000"/>
            </a:avLst>
          </a:prstGeom>
          <a:solidFill>
            <a:srgbClr val="FFFFFF"/>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600" b="0" lang="ko-KR" altLang="en-US">
                <a:solidFill>
                  <a:srgbClr val="000000"/>
                </a:solidFill>
                <a:latin typeface="나눔스퀘어 Bold"/>
                <a:ea typeface="나눔스퀘어 Bold"/>
                <a:cs typeface="나눔스퀘어 Bold"/>
              </a:rPr>
              <a:t>음악 타이밍</a:t>
            </a:r>
          </a:p>
        </p:txBody>
      </p:sp>
      <p:sp>
        <p:nvSpPr>
          <p:cNvPr id="25" name="TextBox 24">
            <a:extLst>
              <a:ext uri="{FF2B5EF4-FFF2-40B4-BE49-F238E27FC236}">
                <a16:creationId xmlns:a16="http://schemas.microsoft.com/office/drawing/2014/main" id="{9376712B-9BA0-40C6-9186-8AB624E42C8C}"/>
              </a:ext>
            </a:extLst>
          </p:cNvPr>
          <p:cNvSpPr>
            <a:spLocks noGrp="1"/>
          </p:cNvSpPr>
          <p:nvPr/>
        </p:nvSpPr>
        <p:spPr>
          <a:xfrm>
            <a:off x="8922715" y="2395728"/>
            <a:ext cx="2240280" cy="365760"/>
          </a:xfrm>
          <a:prstGeom prst="rect">
            <a:avLst/>
          </a:prstGeom>
          <a:noFill/>
        </p:spPr>
        <p:txBody>
          <a:bodyPr wrap="square" lIns="45720" rIns="45720" anchor="t">
            <a:noAutofit/>
          </a:bodyPr>
          <a:lstStyle/>
          <a:p>
            <a:pPr algn="ctr" eaLnBrk="0" latinLnBrk="0">
              <a:spcAft>
                <a:spcPts val="400"/>
              </a:spcAft>
              <a:buNone/>
            </a:pPr>
            <a:r>
              <a:rPr sz="1300" b="0" lang="ko-KR" altLang="en-US">
                <a:solidFill>
                  <a:srgbClr val="595959"/>
                </a:solidFill>
                <a:latin typeface="나눔스퀘어"/>
                <a:ea typeface="나눔스퀘어"/>
                <a:cs typeface="나눔스퀘어"/>
              </a:rPr>
              <a:t>→ 처음부터 다시 반복</a:t>
            </a:r>
          </a:p>
        </p:txBody>
      </p:sp>
      <p:sp>
        <p:nvSpPr>
          <p:cNvPr id="26" name="TextBox 25">
            <a:extLst>
              <a:ext uri="{FF2B5EF4-FFF2-40B4-BE49-F238E27FC236}">
                <a16:creationId xmlns:a16="http://schemas.microsoft.com/office/drawing/2014/main" id="{EBC6233C-B0A2-47F8-BD0D-FAB45D66A972}"/>
              </a:ext>
            </a:extLst>
          </p:cNvPr>
          <p:cNvSpPr>
            <a:spLocks noGrp="1"/>
          </p:cNvSpPr>
          <p:nvPr/>
        </p:nvSpPr>
        <p:spPr>
          <a:xfrm>
            <a:off x="830275" y="3017520"/>
            <a:ext cx="10522915" cy="2743200"/>
          </a:xfrm>
          <a:prstGeom prst="rect">
            <a:avLst/>
          </a:prstGeom>
          <a:noFill/>
        </p:spPr>
        <p:txBody>
          <a:bodyPr wrap="square" lIns="45720" rIns="45720" anchor="t">
            <a:noAutofit/>
          </a:bodyPr>
          <a:lstStyle/>
          <a:p>
            <a:pPr marL="283464" indent="-283464" algn="l" eaLnBrk="0" latinLnBrk="0">
              <a:lnSpc>
                <a:spcPct val="150000"/>
              </a:lnSpc>
              <a:spcAft>
                <a:spcPts val="0"/>
              </a:spcAft>
              <a:buFont typeface="Arial"/>
              <a:buChar char="•"/>
            </a:pPr>
            <a:r>
              <a:rPr sz="1600" b="0" lang="ko-KR" altLang="en-US">
                <a:solidFill>
                  <a:srgbClr val="000000"/>
                </a:solidFill>
                <a:latin typeface="나눔스퀘어 Bold"/>
                <a:ea typeface="나눔스퀘어 Bold"/>
                <a:cs typeface="나눔스퀘어 Bold"/>
              </a:rPr>
              <a:t>제작자가 직접 해야 하는 일 [1]</a:t>
            </a:r>
          </a:p>
          <a:p>
            <a:pPr marL="566928" indent="-228600" algn="l" eaLnBrk="0" latinLnBrk="0">
              <a:lnSpc>
                <a:spcPct val="150000"/>
              </a:lnSpc>
              <a:spcAft>
                <a:spcPts val="0"/>
              </a:spcAft>
              <a:buFont typeface="Arial"/>
              <a:buChar char="–"/>
            </a:pPr>
            <a:r>
              <a:rPr sz="1600" b="0" lang="ko-KR" altLang="en-US">
                <a:solidFill>
                  <a:srgbClr val="000000"/>
                </a:solidFill>
                <a:latin typeface="나눔스퀘어"/>
                <a:ea typeface="나눔스퀘어"/>
                <a:cs typeface="나눔스퀘어"/>
              </a:rPr>
              <a:t>물체의 중요한 영역(눈, 귀, 창문, 연결부)을 고르고, 각 영역에서 사건의 시작·이동·잔존을 설계</a:t>
            </a:r>
          </a:p>
          <a:p>
            <a:pPr marL="566928" indent="-228600" algn="l" eaLnBrk="0" latinLnBrk="0">
              <a:lnSpc>
                <a:spcPct val="150000"/>
              </a:lnSpc>
              <a:spcAft>
                <a:spcPts val="0"/>
              </a:spcAft>
              <a:buFont typeface="Arial"/>
              <a:buChar char="–"/>
            </a:pPr>
            <a:r>
              <a:rPr sz="1600" b="0" lang="ko-KR" altLang="en-US">
                <a:solidFill>
                  <a:srgbClr val="000000"/>
                </a:solidFill>
                <a:latin typeface="나눔스퀘어"/>
                <a:ea typeface="나눔스퀘어"/>
                <a:cs typeface="나눔스퀘어"/>
              </a:rPr>
              <a:t>여러 시점에서 mask가 어긋나지 않게 수정하고 UV seam과 가려진 영역까지 처리</a:t>
            </a:r>
          </a:p>
          <a:p>
            <a:pPr marL="566928" indent="-228600" algn="l" eaLnBrk="0" latinLnBrk="0">
              <a:lnSpc>
                <a:spcPct val="150000"/>
              </a:lnSpc>
              <a:spcAft>
                <a:spcPts val="0"/>
              </a:spcAft>
              <a:buFont typeface="Arial"/>
              <a:buChar char="–"/>
            </a:pPr>
            <a:r>
              <a:rPr sz="1600" b="0" lang="ko-KR" altLang="en-US">
                <a:solidFill>
                  <a:srgbClr val="000000"/>
                </a:solidFill>
                <a:latin typeface="나눔스퀘어"/>
                <a:ea typeface="나눔스퀘어"/>
                <a:cs typeface="나눔스퀘어"/>
              </a:rPr>
              <a:t>음악과 사건의 시간 관계를 반복 조정</a:t>
            </a:r>
          </a:p>
        </p:txBody>
      </p:sp>
      <p:sp>
        <p:nvSpPr>
          <p:cNvPr id="27" name="TextBox 26">
            <a:extLst>
              <a:ext uri="{FF2B5EF4-FFF2-40B4-BE49-F238E27FC236}">
                <a16:creationId xmlns:a16="http://schemas.microsoft.com/office/drawing/2014/main" id="{D6F9F3F9-71E9-4D39-B730-2FBC26271109}"/>
              </a:ext>
            </a:extLst>
          </p:cNvPr>
          <p:cNvSpPr>
            <a:spLocks noGrp="1"/>
          </p:cNvSpPr>
          <p:nvPr/>
        </p:nvSpPr>
        <p:spPr>
          <a:xfrm>
            <a:off x="830275" y="5806440"/>
            <a:ext cx="10522915" cy="320040"/>
          </a:xfrm>
          <a:prstGeom prst="rect">
            <a:avLst/>
          </a:prstGeom>
          <a:noFill/>
        </p:spPr>
        <p:txBody>
          <a:bodyPr wrap="square" lIns="45720" rIns="45720" anchor="t">
            <a:noAutofit/>
          </a:bodyPr>
          <a:lstStyle/>
          <a:p>
            <a:pPr algn="l" eaLnBrk="0" latinLnBrk="0">
              <a:spcAft>
                <a:spcPts val="400"/>
              </a:spcAft>
              <a:buNone/>
            </a:pPr>
            <a:r>
              <a:rPr sz="1000" b="0" lang="ko-KR" altLang="en-US">
                <a:solidFill>
                  <a:srgbClr val="595959"/>
                </a:solidFill>
                <a:latin typeface="나눔스퀘어"/>
                <a:ea typeface="나눔스퀘어"/>
                <a:cs typeface="나눔스퀘어"/>
              </a:rPr>
              <a:t>[1] 김민아, 이정진. (2023). 3D 메쉬 모델을 이용한 수동 3D 프로젝션 맵핑 과정 분석. 한국컴퓨터그래픽스학회논문지, 29(3), 1–12.</a:t>
            </a:r>
          </a:p>
        </p:txBody>
      </p:sp>
    </p:spTree>
    <p:extLst>
      <p:ext uri="{BB962C8B-B14F-4D97-AF65-F5344CB8AC3E}">
        <p14:creationId xmlns:p14="http://schemas.microsoft.com/office/powerpoint/2010/main" val="2139198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3AAD8-4502-4032-9569-A3477E336896}"/>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생성형 모델을 그대로 쓸 때의 문제</a:t>
            </a:r>
          </a:p>
        </p:txBody>
      </p:sp>
      <p:sp>
        <p:nvSpPr>
          <p:cNvPr id="16" name="직선 연결선 14">
            <a:extLst>
              <a:ext uri="{FF2B5EF4-FFF2-40B4-BE49-F238E27FC236}">
                <a16:creationId xmlns:a16="http://schemas.microsoft.com/office/drawing/2014/main" id="{E9DA258A-101F-43D2-8194-4C976167AFAE}"/>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8346EE22-4CC9-43C2-98F5-F804C9400499}"/>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a:extLst>
              <a:ext uri="{FF2B5EF4-FFF2-40B4-BE49-F238E27FC236}">
                <a16:creationId xmlns:a16="http://schemas.microsoft.com/office/drawing/2014/main" id="{514D136F-823F-4D6E-8E37-F2F805D0BE79}"/>
              </a:ext>
            </a:extLst>
          </p:cNvPr>
          <p:cNvSpPr>
            <a:spLocks noGrp="1"/>
          </p:cNvSpPr>
          <p:nvPr/>
        </p:nvSpPr>
        <p:spPr>
          <a:xfrm>
            <a:off x="830275" y="1481328"/>
            <a:ext cx="10522915" cy="411480"/>
          </a:xfrm>
          <a:prstGeom prst="rect">
            <a:avLst/>
          </a:prstGeom>
          <a:noFill/>
        </p:spPr>
        <p:txBody>
          <a:bodyPr wrap="square" lIns="45720" rIns="45720" anchor="t">
            <a:noAutofit/>
          </a:bodyPr>
          <a:lstStyle/>
          <a:p>
            <a:pPr algn="l" eaLnBrk="0" latinLnBrk="0">
              <a:spcAft>
                <a:spcPts val="400"/>
              </a:spcAft>
              <a:buNone/>
            </a:pPr>
            <a:r>
              <a:rPr sz="1600" b="0" lang="ko-KR" altLang="en-US">
                <a:solidFill>
                  <a:srgbClr val="000000"/>
                </a:solidFill>
                <a:latin typeface="나눔스퀘어"/>
                <a:ea typeface="나눔스퀘어"/>
                <a:cs typeface="나눔스퀘어"/>
              </a:rPr>
              <a:t>이미지·영상 생성 모델은 텍스처와 시간 변화를 잘 만들지만, 고정된 물체에 그대로 쓰면</a:t>
            </a:r>
          </a:p>
        </p:txBody>
      </p:sp>
      <p:sp>
        <p:nvSpPr>
          <p:cNvPr id="19" name="그림 자리: 실패 예시">
            <a:extLst>
              <a:ext uri="{FF2B5EF4-FFF2-40B4-BE49-F238E27FC236}">
                <a16:creationId xmlns:a16="http://schemas.microsoft.com/office/drawing/2014/main" id="{01F6A4FC-8900-4D70-9F65-EC28C2EC834F}"/>
              </a:ext>
            </a:extLst>
          </p:cNvPr>
          <p:cNvSpPr>
            <a:spLocks noGrp="1"/>
          </p:cNvSpPr>
          <p:nvPr/>
        </p:nvSpPr>
        <p:spPr>
          <a:xfrm>
            <a:off x="830275" y="2057400"/>
            <a:ext cx="2103120" cy="1783080"/>
          </a:xfrm>
          <a:prstGeom prst="roundRect">
            <a:avLst>
              <a:gd name="adj" fmla="val 2000"/>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100" b="0" lang="ko-KR" altLang="en-US">
                <a:solidFill>
                  <a:srgbClr val="595959"/>
                </a:solidFill>
                <a:latin typeface="나눔스퀘어 Bold"/>
                <a:ea typeface="나눔스퀘어 Bold"/>
                <a:cs typeface="나눔스퀘어 Bold"/>
              </a:rPr>
              <a:t>[그림]</a:t>
            </a:r>
          </a:p>
          <a:p>
            <a:pPr algn="ctr" eaLnBrk="0" latinLnBrk="0">
              <a:spcAft>
                <a:spcPts val="200"/>
              </a:spcAft>
              <a:buNone/>
            </a:pPr>
            <a:r>
              <a:rPr sz="1100" b="0" lang="ko-KR" altLang="en-US">
                <a:solidFill>
                  <a:srgbClr val="595959"/>
                </a:solidFill>
                <a:latin typeface="나눔스퀘어"/>
                <a:ea typeface="나눔스퀘어"/>
                <a:cs typeface="나눔스퀘어"/>
              </a:rPr>
              <a:t>실패 예시</a:t>
            </a:r>
          </a:p>
        </p:txBody>
      </p:sp>
      <p:sp>
        <p:nvSpPr>
          <p:cNvPr id="20" name="TextBox 19">
            <a:extLst>
              <a:ext uri="{FF2B5EF4-FFF2-40B4-BE49-F238E27FC236}">
                <a16:creationId xmlns:a16="http://schemas.microsoft.com/office/drawing/2014/main" id="{2FE540B5-7F21-47C2-9DFE-7BF6B72B097B}"/>
              </a:ext>
            </a:extLst>
          </p:cNvPr>
          <p:cNvSpPr>
            <a:spLocks noGrp="1"/>
          </p:cNvSpPr>
          <p:nvPr/>
        </p:nvSpPr>
        <p:spPr>
          <a:xfrm>
            <a:off x="3116275" y="2194560"/>
            <a:ext cx="2880360" cy="1645920"/>
          </a:xfrm>
          <a:prstGeom prst="rect">
            <a:avLst/>
          </a:prstGeom>
          <a:noFill/>
        </p:spPr>
        <p:txBody>
          <a:bodyPr wrap="square" lIns="0" tIns="0" rIns="0" bIns="0" anchor="t">
            <a:noAutofit/>
          </a:bodyPr>
          <a:lstStyle/>
          <a:p>
            <a:pPr algn="l" eaLnBrk="0" latinLnBrk="0">
              <a:spcAft>
                <a:spcPts val="600"/>
              </a:spcAft>
              <a:buNone/>
            </a:pPr>
            <a:r>
              <a:rPr sz="1600" b="0" lang="ko-KR" altLang="en-US">
                <a:solidFill>
                  <a:srgbClr val="000000"/>
                </a:solidFill>
                <a:latin typeface="나눔스퀘어 Bold"/>
                <a:ea typeface="나눔스퀘어 Bold"/>
                <a:cs typeface="나눔스퀘어 Bold"/>
              </a:rPr>
              <a:t>1. 시점별 독립 생성</a:t>
            </a:r>
          </a:p>
          <a:p>
            <a:pPr algn="l" eaLnBrk="0" latinLnBrk="0">
              <a:spcAft>
                <a:spcPts val="400"/>
              </a:spcAft>
              <a:buNone/>
            </a:pPr>
            <a:r>
              <a:rPr sz="1500" b="0" lang="ko-KR" altLang="en-US">
                <a:solidFill>
                  <a:srgbClr val="595959"/>
                </a:solidFill>
                <a:latin typeface="나눔스퀘어"/>
                <a:ea typeface="나눔스퀘어"/>
                <a:cs typeface="나눔스퀘어"/>
              </a:rPr>
              <a:t>같은 표면 위치에 시점마다 다른 무늬</a:t>
            </a:r>
          </a:p>
        </p:txBody>
      </p:sp>
      <p:sp>
        <p:nvSpPr>
          <p:cNvPr id="21" name="그림 자리: 실패 예시">
            <a:extLst>
              <a:ext uri="{FF2B5EF4-FFF2-40B4-BE49-F238E27FC236}">
                <a16:creationId xmlns:a16="http://schemas.microsoft.com/office/drawing/2014/main" id="{CBBC8BDA-FBEE-4E80-98DA-FF41B0BFE2F4}"/>
              </a:ext>
            </a:extLst>
          </p:cNvPr>
          <p:cNvSpPr>
            <a:spLocks noGrp="1"/>
          </p:cNvSpPr>
          <p:nvPr/>
        </p:nvSpPr>
        <p:spPr>
          <a:xfrm>
            <a:off x="6179515" y="2057400"/>
            <a:ext cx="2103120" cy="1783080"/>
          </a:xfrm>
          <a:prstGeom prst="roundRect">
            <a:avLst>
              <a:gd name="adj" fmla="val 2000"/>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100" b="0" lang="ko-KR" altLang="en-US">
                <a:solidFill>
                  <a:srgbClr val="595959"/>
                </a:solidFill>
                <a:latin typeface="나눔스퀘어 Bold"/>
                <a:ea typeface="나눔스퀘어 Bold"/>
                <a:cs typeface="나눔스퀘어 Bold"/>
              </a:rPr>
              <a:t>[그림]</a:t>
            </a:r>
          </a:p>
          <a:p>
            <a:pPr algn="ctr" eaLnBrk="0" latinLnBrk="0">
              <a:spcAft>
                <a:spcPts val="200"/>
              </a:spcAft>
              <a:buNone/>
            </a:pPr>
            <a:r>
              <a:rPr sz="1100" b="0" lang="ko-KR" altLang="en-US">
                <a:solidFill>
                  <a:srgbClr val="595959"/>
                </a:solidFill>
                <a:latin typeface="나눔스퀘어"/>
                <a:ea typeface="나눔스퀘어"/>
                <a:cs typeface="나눔스퀘어"/>
              </a:rPr>
              <a:t>실패 예시</a:t>
            </a:r>
          </a:p>
        </p:txBody>
      </p:sp>
      <p:sp>
        <p:nvSpPr>
          <p:cNvPr id="22" name="TextBox 21">
            <a:extLst>
              <a:ext uri="{FF2B5EF4-FFF2-40B4-BE49-F238E27FC236}">
                <a16:creationId xmlns:a16="http://schemas.microsoft.com/office/drawing/2014/main" id="{7A205E03-A182-4C99-A65F-4C2867C7003D}"/>
              </a:ext>
            </a:extLst>
          </p:cNvPr>
          <p:cNvSpPr>
            <a:spLocks noGrp="1"/>
          </p:cNvSpPr>
          <p:nvPr/>
        </p:nvSpPr>
        <p:spPr>
          <a:xfrm>
            <a:off x="8465515" y="2194560"/>
            <a:ext cx="2880360" cy="1645920"/>
          </a:xfrm>
          <a:prstGeom prst="rect">
            <a:avLst/>
          </a:prstGeom>
          <a:noFill/>
        </p:spPr>
        <p:txBody>
          <a:bodyPr wrap="square" lIns="0" tIns="0" rIns="0" bIns="0" anchor="t">
            <a:noAutofit/>
          </a:bodyPr>
          <a:lstStyle/>
          <a:p>
            <a:pPr algn="l" eaLnBrk="0" latinLnBrk="0">
              <a:spcAft>
                <a:spcPts val="600"/>
              </a:spcAft>
              <a:buNone/>
            </a:pPr>
            <a:r>
              <a:rPr sz="1600" b="0" lang="ko-KR" altLang="en-US">
                <a:solidFill>
                  <a:srgbClr val="000000"/>
                </a:solidFill>
                <a:latin typeface="나눔스퀘어 Bold"/>
                <a:ea typeface="나눔스퀘어 Bold"/>
                <a:cs typeface="나눔스퀘어 Bold"/>
              </a:rPr>
              <a:t>2. 한 시점 2D mask, hard label</a:t>
            </a:r>
          </a:p>
          <a:p>
            <a:pPr algn="l" eaLnBrk="0" latinLnBrk="0">
              <a:spcAft>
                <a:spcPts val="400"/>
              </a:spcAft>
              <a:buNone/>
            </a:pPr>
            <a:r>
              <a:rPr sz="1500" b="0" lang="ko-KR" altLang="en-US">
                <a:solidFill>
                  <a:srgbClr val="595959"/>
                </a:solidFill>
                <a:latin typeface="나눔스퀘어"/>
                <a:ea typeface="나눔스퀘어"/>
                <a:cs typeface="나눔스퀘어"/>
              </a:rPr>
              <a:t>경계에서 물체가 조각난 것처럼 보임</a:t>
            </a:r>
          </a:p>
        </p:txBody>
      </p:sp>
      <p:sp>
        <p:nvSpPr>
          <p:cNvPr id="23" name="그림 자리: 실패 예시">
            <a:extLst>
              <a:ext uri="{FF2B5EF4-FFF2-40B4-BE49-F238E27FC236}">
                <a16:creationId xmlns:a16="http://schemas.microsoft.com/office/drawing/2014/main" id="{12CD9F44-947E-4793-A001-88659D5D4E14}"/>
              </a:ext>
            </a:extLst>
          </p:cNvPr>
          <p:cNvSpPr>
            <a:spLocks noGrp="1"/>
          </p:cNvSpPr>
          <p:nvPr/>
        </p:nvSpPr>
        <p:spPr>
          <a:xfrm>
            <a:off x="830275" y="4069080"/>
            <a:ext cx="2103120" cy="1783080"/>
          </a:xfrm>
          <a:prstGeom prst="roundRect">
            <a:avLst>
              <a:gd name="adj" fmla="val 2000"/>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100" b="0" lang="ko-KR" altLang="en-US">
                <a:solidFill>
                  <a:srgbClr val="595959"/>
                </a:solidFill>
                <a:latin typeface="나눔스퀘어 Bold"/>
                <a:ea typeface="나눔스퀘어 Bold"/>
                <a:cs typeface="나눔스퀘어 Bold"/>
              </a:rPr>
              <a:t>[그림]</a:t>
            </a:r>
          </a:p>
          <a:p>
            <a:pPr algn="ctr" eaLnBrk="0" latinLnBrk="0">
              <a:spcAft>
                <a:spcPts val="200"/>
              </a:spcAft>
              <a:buNone/>
            </a:pPr>
            <a:r>
              <a:rPr sz="1100" b="0" lang="ko-KR" altLang="en-US">
                <a:solidFill>
                  <a:srgbClr val="595959"/>
                </a:solidFill>
                <a:latin typeface="나눔스퀘어"/>
                <a:ea typeface="나눔스퀘어"/>
                <a:cs typeface="나눔스퀘어"/>
              </a:rPr>
              <a:t>실패 예시</a:t>
            </a:r>
          </a:p>
        </p:txBody>
      </p:sp>
      <p:sp>
        <p:nvSpPr>
          <p:cNvPr id="24" name="TextBox 23">
            <a:extLst>
              <a:ext uri="{FF2B5EF4-FFF2-40B4-BE49-F238E27FC236}">
                <a16:creationId xmlns:a16="http://schemas.microsoft.com/office/drawing/2014/main" id="{5758D3AF-5BC7-49EC-8030-04D73E83050C}"/>
              </a:ext>
            </a:extLst>
          </p:cNvPr>
          <p:cNvSpPr>
            <a:spLocks noGrp="1"/>
          </p:cNvSpPr>
          <p:nvPr/>
        </p:nvSpPr>
        <p:spPr>
          <a:xfrm>
            <a:off x="3116275" y="4206240"/>
            <a:ext cx="2880360" cy="1645920"/>
          </a:xfrm>
          <a:prstGeom prst="rect">
            <a:avLst/>
          </a:prstGeom>
          <a:noFill/>
        </p:spPr>
        <p:txBody>
          <a:bodyPr wrap="square" lIns="0" tIns="0" rIns="0" bIns="0" anchor="t">
            <a:noAutofit/>
          </a:bodyPr>
          <a:lstStyle/>
          <a:p>
            <a:pPr algn="l" eaLnBrk="0" latinLnBrk="0">
              <a:spcAft>
                <a:spcPts val="600"/>
              </a:spcAft>
              <a:buNone/>
            </a:pPr>
            <a:r>
              <a:rPr sz="1600" b="0" lang="ko-KR" altLang="en-US">
                <a:solidFill>
                  <a:srgbClr val="000000"/>
                </a:solidFill>
                <a:latin typeface="나눔스퀘어 Bold"/>
                <a:ea typeface="나눔스퀘어 Bold"/>
                <a:cs typeface="나눔스퀘어 Bold"/>
              </a:rPr>
              <a:t>3. 물체 전체에 단일 오디오 envelope</a:t>
            </a:r>
          </a:p>
          <a:p>
            <a:pPr algn="l" eaLnBrk="0" latinLnBrk="0">
              <a:spcAft>
                <a:spcPts val="400"/>
              </a:spcAft>
              <a:buNone/>
            </a:pPr>
            <a:r>
              <a:rPr sz="1500" b="0" lang="ko-KR" altLang="en-US">
                <a:solidFill>
                  <a:srgbClr val="595959"/>
                </a:solidFill>
                <a:latin typeface="나눔스퀘어"/>
                <a:ea typeface="나눔스퀘어"/>
                <a:cs typeface="나눔스퀘어"/>
              </a:rPr>
              <a:t>모든 부분이 같이 변해 물체의 특징을 쓰지 못함</a:t>
            </a:r>
          </a:p>
        </p:txBody>
      </p:sp>
      <p:sp>
        <p:nvSpPr>
          <p:cNvPr id="25" name="그림 자리: 실패 예시">
            <a:extLst>
              <a:ext uri="{FF2B5EF4-FFF2-40B4-BE49-F238E27FC236}">
                <a16:creationId xmlns:a16="http://schemas.microsoft.com/office/drawing/2014/main" id="{7FCBC82A-E2F0-4D9B-B7E5-0358F7119435}"/>
              </a:ext>
            </a:extLst>
          </p:cNvPr>
          <p:cNvSpPr>
            <a:spLocks noGrp="1"/>
          </p:cNvSpPr>
          <p:nvPr/>
        </p:nvSpPr>
        <p:spPr>
          <a:xfrm>
            <a:off x="6179515" y="4069080"/>
            <a:ext cx="2103120" cy="1783080"/>
          </a:xfrm>
          <a:prstGeom prst="roundRect">
            <a:avLst>
              <a:gd name="adj" fmla="val 2000"/>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100" b="0" lang="ko-KR" altLang="en-US">
                <a:solidFill>
                  <a:srgbClr val="595959"/>
                </a:solidFill>
                <a:latin typeface="나눔스퀘어 Bold"/>
                <a:ea typeface="나눔스퀘어 Bold"/>
                <a:cs typeface="나눔스퀘어 Bold"/>
              </a:rPr>
              <a:t>[그림]</a:t>
            </a:r>
          </a:p>
          <a:p>
            <a:pPr algn="ctr" eaLnBrk="0" latinLnBrk="0">
              <a:spcAft>
                <a:spcPts val="200"/>
              </a:spcAft>
              <a:buNone/>
            </a:pPr>
            <a:r>
              <a:rPr sz="1100" b="0" lang="ko-KR" altLang="en-US">
                <a:solidFill>
                  <a:srgbClr val="595959"/>
                </a:solidFill>
                <a:latin typeface="나눔스퀘어"/>
                <a:ea typeface="나눔스퀘어"/>
                <a:cs typeface="나눔스퀘어"/>
              </a:rPr>
              <a:t>실패 예시</a:t>
            </a:r>
          </a:p>
        </p:txBody>
      </p:sp>
      <p:sp>
        <p:nvSpPr>
          <p:cNvPr id="26" name="TextBox 25">
            <a:extLst>
              <a:ext uri="{FF2B5EF4-FFF2-40B4-BE49-F238E27FC236}">
                <a16:creationId xmlns:a16="http://schemas.microsoft.com/office/drawing/2014/main" id="{BBC62736-900A-4314-9216-623457B0441A}"/>
              </a:ext>
            </a:extLst>
          </p:cNvPr>
          <p:cNvSpPr>
            <a:spLocks noGrp="1"/>
          </p:cNvSpPr>
          <p:nvPr/>
        </p:nvSpPr>
        <p:spPr>
          <a:xfrm>
            <a:off x="8465515" y="4206240"/>
            <a:ext cx="2880360" cy="1645920"/>
          </a:xfrm>
          <a:prstGeom prst="rect">
            <a:avLst/>
          </a:prstGeom>
          <a:noFill/>
        </p:spPr>
        <p:txBody>
          <a:bodyPr wrap="square" lIns="0" tIns="0" rIns="0" bIns="0" anchor="t">
            <a:noAutofit/>
          </a:bodyPr>
          <a:lstStyle/>
          <a:p>
            <a:pPr algn="l" eaLnBrk="0" latinLnBrk="0">
              <a:spcAft>
                <a:spcPts val="600"/>
              </a:spcAft>
              <a:buNone/>
            </a:pPr>
            <a:r>
              <a:rPr sz="1600" b="0" lang="ko-KR" altLang="en-US">
                <a:solidFill>
                  <a:srgbClr val="000000"/>
                </a:solidFill>
                <a:latin typeface="나눔스퀘어 Bold"/>
                <a:ea typeface="나눔스퀘어 Bold"/>
                <a:cs typeface="나눔스퀘어 Bold"/>
              </a:rPr>
              <a:t>4. 정지 이미지 교체, 데칼</a:t>
            </a:r>
          </a:p>
          <a:p>
            <a:pPr algn="l" eaLnBrk="0" latinLnBrk="0">
              <a:spcAft>
                <a:spcPts val="400"/>
              </a:spcAft>
              <a:buNone/>
            </a:pPr>
            <a:r>
              <a:rPr sz="1500" b="0" lang="ko-KR" altLang="en-US">
                <a:solidFill>
                  <a:srgbClr val="595959"/>
                </a:solidFill>
                <a:latin typeface="나눔스퀘어"/>
                <a:ea typeface="나눔스퀘어"/>
                <a:cs typeface="나눔스퀘어"/>
              </a:rPr>
              <a:t>기술적으로 안정적이어도 사건으로 읽히지 않음</a:t>
            </a:r>
          </a:p>
        </p:txBody>
      </p:sp>
      <p:sp>
        <p:nvSpPr>
          <p:cNvPr id="27" name="직사각형 26">
            <a:extLst>
              <a:ext uri="{FF2B5EF4-FFF2-40B4-BE49-F238E27FC236}">
                <a16:creationId xmlns:a16="http://schemas.microsoft.com/office/drawing/2014/main" id="{8AB3C744-7100-4ADB-9F23-8CB85993AF25}"/>
              </a:ext>
            </a:extLst>
          </p:cNvPr>
          <p:cNvSpPr>
            <a:spLocks noGrp="1"/>
          </p:cNvSpPr>
          <p:nvPr/>
        </p:nvSpPr>
        <p:spPr>
          <a:xfrm>
            <a:off x="830294" y="2057400"/>
            <a:ext cx="1032510" cy="1783080"/>
          </a:xfrm>
          <a:prstGeom prst="rect">
            <a:avLst/>
          </a:prstGeom>
          <a:solidFill>
            <a:srgbClr val="111820"/>
          </a:solidFill>
          <a:ln w="9525">
            <a:solidFill>
              <a:srgbClr val="D0D0D0"/>
            </a:solidFill>
          </a:ln>
        </p:spPr>
      </p:sp>
      <p:pic>
        <p:nvPicPr>
          <p:cNvPr id="52" name="그림 51"/>
          <p:cNvPicPr>
            <a:picLocks noChangeAspect="1"/>
          </p:cNvPicPr>
          <p:nvPr/>
        </p:nvPicPr>
        <p:blipFill>
          <a:blip r:embed="rId3"/>
          <a:srcRect l="21047" r="21047"/>
          <a:stretch>
            <a:fillRect/>
          </a:stretch>
        </p:blipFill>
        <p:spPr>
          <a:xfrm>
            <a:off x="830294" y="2057400"/>
            <a:ext cx="1032510" cy="1783080"/>
          </a:xfrm>
          <a:prstGeom prst="rect">
            <a:avLst/>
          </a:prstGeom>
        </p:spPr>
      </p:pic>
      <p:sp>
        <p:nvSpPr>
          <p:cNvPr id="29" name="직사각형 28">
            <a:extLst>
              <a:ext uri="{FF2B5EF4-FFF2-40B4-BE49-F238E27FC236}">
                <a16:creationId xmlns:a16="http://schemas.microsoft.com/office/drawing/2014/main" id="{EBE44E4D-FC3D-4768-927D-B681F85CAB99}"/>
              </a:ext>
            </a:extLst>
          </p:cNvPr>
          <p:cNvSpPr>
            <a:spLocks noGrp="1"/>
          </p:cNvSpPr>
          <p:nvPr/>
        </p:nvSpPr>
        <p:spPr>
          <a:xfrm>
            <a:off x="1900904" y="2057400"/>
            <a:ext cx="1032510" cy="1783080"/>
          </a:xfrm>
          <a:prstGeom prst="rect">
            <a:avLst/>
          </a:prstGeom>
          <a:solidFill>
            <a:srgbClr val="111820"/>
          </a:solidFill>
          <a:ln w="9525">
            <a:solidFill>
              <a:srgbClr val="D0D0D0"/>
            </a:solidFill>
          </a:ln>
        </p:spPr>
      </p:sp>
      <p:pic>
        <p:nvPicPr>
          <p:cNvPr id="54" name="그림 53"/>
          <p:cNvPicPr>
            <a:picLocks noChangeAspect="1"/>
          </p:cNvPicPr>
          <p:nvPr/>
        </p:nvPicPr>
        <p:blipFill>
          <a:blip r:embed="rId4"/>
          <a:srcRect l="21047" r="21047"/>
          <a:stretch>
            <a:fillRect/>
          </a:stretch>
        </p:blipFill>
        <p:spPr>
          <a:xfrm>
            <a:off x="1900904" y="2057400"/>
            <a:ext cx="1032510" cy="1783080"/>
          </a:xfrm>
          <a:prstGeom prst="rect">
            <a:avLst/>
          </a:prstGeom>
        </p:spPr>
      </p:pic>
      <p:sp>
        <p:nvSpPr>
          <p:cNvPr id="31" name="직사각형 30">
            <a:extLst>
              <a:ext uri="{FF2B5EF4-FFF2-40B4-BE49-F238E27FC236}">
                <a16:creationId xmlns:a16="http://schemas.microsoft.com/office/drawing/2014/main" id="{F05FBFED-05A3-4105-AD7B-26757228716E}"/>
              </a:ext>
            </a:extLst>
          </p:cNvPr>
          <p:cNvSpPr>
            <a:spLocks noGrp="1"/>
          </p:cNvSpPr>
          <p:nvPr/>
        </p:nvSpPr>
        <p:spPr>
          <a:xfrm>
            <a:off x="6179534" y="2057400"/>
            <a:ext cx="2103120" cy="1783080"/>
          </a:xfrm>
          <a:prstGeom prst="rect">
            <a:avLst/>
          </a:prstGeom>
          <a:solidFill>
            <a:srgbClr val="111820"/>
          </a:solidFill>
          <a:ln w="9525">
            <a:solidFill>
              <a:srgbClr val="D0D0D0"/>
            </a:solidFill>
          </a:ln>
        </p:spPr>
      </p:sp>
      <p:pic>
        <p:nvPicPr>
          <p:cNvPr id="56" name="그림 55"/>
          <p:cNvPicPr>
            <a:picLocks noChangeAspect="1"/>
          </p:cNvPicPr>
          <p:nvPr/>
        </p:nvPicPr>
        <p:blipFill>
          <a:blip r:embed="rId5"/>
          <a:srcRect t="11934" b="11934"/>
          <a:stretch>
            <a:fillRect/>
          </a:stretch>
        </p:blipFill>
        <p:spPr>
          <a:xfrm>
            <a:off x="6179534" y="2057400"/>
            <a:ext cx="2103120" cy="1783080"/>
          </a:xfrm>
          <a:prstGeom prst="rect">
            <a:avLst/>
          </a:prstGeom>
        </p:spPr>
      </p:pic>
      <p:sp>
        <p:nvSpPr>
          <p:cNvPr id="33" name="직사각형 32">
            <a:extLst>
              <a:ext uri="{FF2B5EF4-FFF2-40B4-BE49-F238E27FC236}">
                <a16:creationId xmlns:a16="http://schemas.microsoft.com/office/drawing/2014/main" id="{A8EF847A-1842-4BC1-BC95-4A9030F2DDC1}"/>
              </a:ext>
            </a:extLst>
          </p:cNvPr>
          <p:cNvSpPr>
            <a:spLocks noGrp="1"/>
          </p:cNvSpPr>
          <p:nvPr/>
        </p:nvSpPr>
        <p:spPr>
          <a:xfrm>
            <a:off x="830294" y="4069080"/>
            <a:ext cx="1032510" cy="1783080"/>
          </a:xfrm>
          <a:prstGeom prst="rect">
            <a:avLst/>
          </a:prstGeom>
          <a:solidFill>
            <a:srgbClr val="111820"/>
          </a:solidFill>
          <a:ln w="9525">
            <a:solidFill>
              <a:srgbClr val="D0D0D0"/>
            </a:solidFill>
          </a:ln>
        </p:spPr>
      </p:sp>
      <p:pic>
        <p:nvPicPr>
          <p:cNvPr id="58" name="그림 57"/>
          <p:cNvPicPr>
            <a:picLocks noChangeAspect="1"/>
          </p:cNvPicPr>
          <p:nvPr/>
        </p:nvPicPr>
        <p:blipFill>
          <a:blip r:embed="rId6"/>
          <a:stretch/>
        </p:blipFill>
        <p:spPr>
          <a:xfrm>
            <a:off x="830294" y="4468192"/>
            <a:ext cx="1032510" cy="984856"/>
          </a:xfrm>
          <a:prstGeom prst="rect">
            <a:avLst/>
          </a:prstGeom>
        </p:spPr>
      </p:pic>
      <p:sp>
        <p:nvSpPr>
          <p:cNvPr id="35" name="직사각형 34">
            <a:extLst>
              <a:ext uri="{FF2B5EF4-FFF2-40B4-BE49-F238E27FC236}">
                <a16:creationId xmlns:a16="http://schemas.microsoft.com/office/drawing/2014/main" id="{1C3BE16E-5575-4943-9B0C-3DEC18DCDF24}"/>
              </a:ext>
            </a:extLst>
          </p:cNvPr>
          <p:cNvSpPr>
            <a:spLocks noGrp="1"/>
          </p:cNvSpPr>
          <p:nvPr/>
        </p:nvSpPr>
        <p:spPr>
          <a:xfrm>
            <a:off x="1900904" y="4069080"/>
            <a:ext cx="1032510" cy="1783080"/>
          </a:xfrm>
          <a:prstGeom prst="rect">
            <a:avLst/>
          </a:prstGeom>
          <a:solidFill>
            <a:srgbClr val="111820"/>
          </a:solidFill>
          <a:ln w="9525">
            <a:solidFill>
              <a:srgbClr val="D0D0D0"/>
            </a:solidFill>
          </a:ln>
        </p:spPr>
      </p:sp>
      <p:pic>
        <p:nvPicPr>
          <p:cNvPr id="60" name="그림 59"/>
          <p:cNvPicPr>
            <a:picLocks noChangeAspect="1"/>
          </p:cNvPicPr>
          <p:nvPr/>
        </p:nvPicPr>
        <p:blipFill>
          <a:blip r:embed="rId7"/>
          <a:stretch/>
        </p:blipFill>
        <p:spPr>
          <a:xfrm>
            <a:off x="1900904" y="4468192"/>
            <a:ext cx="1032510" cy="984856"/>
          </a:xfrm>
          <a:prstGeom prst="rect">
            <a:avLst/>
          </a:prstGeom>
        </p:spPr>
      </p:pic>
      <p:sp>
        <p:nvSpPr>
          <p:cNvPr id="37" name="직사각형 36">
            <a:extLst>
              <a:ext uri="{FF2B5EF4-FFF2-40B4-BE49-F238E27FC236}">
                <a16:creationId xmlns:a16="http://schemas.microsoft.com/office/drawing/2014/main" id="{6B1ACD75-0C3A-44DB-8D1A-E48AAC7057F2}"/>
              </a:ext>
            </a:extLst>
          </p:cNvPr>
          <p:cNvSpPr>
            <a:spLocks noGrp="1"/>
          </p:cNvSpPr>
          <p:nvPr/>
        </p:nvSpPr>
        <p:spPr>
          <a:xfrm>
            <a:off x="6179534" y="4069080"/>
            <a:ext cx="2103120" cy="1783080"/>
          </a:xfrm>
          <a:prstGeom prst="rect">
            <a:avLst/>
          </a:prstGeom>
          <a:solidFill>
            <a:srgbClr val="111820"/>
          </a:solidFill>
          <a:ln w="9525">
            <a:solidFill>
              <a:srgbClr val="D0D0D0"/>
            </a:solidFill>
          </a:ln>
        </p:spPr>
      </p:sp>
      <p:pic>
        <p:nvPicPr>
          <p:cNvPr id="62" name="그림 61"/>
          <p:cNvPicPr>
            <a:picLocks noChangeAspect="1"/>
          </p:cNvPicPr>
          <p:nvPr/>
        </p:nvPicPr>
        <p:blipFill>
          <a:blip r:embed="rId8"/>
          <a:srcRect t="7609" b="7609"/>
          <a:stretch>
            <a:fillRect/>
          </a:stretch>
        </p:blipFill>
        <p:spPr>
          <a:xfrm>
            <a:off x="6179534" y="4069080"/>
            <a:ext cx="2103120" cy="1783080"/>
          </a:xfrm>
          <a:prstGeom prst="rect">
            <a:avLst/>
          </a:prstGeom>
        </p:spPr>
      </p:pic>
    </p:spTree>
    <p:extLst>
      <p:ext uri="{BB962C8B-B14F-4D97-AF65-F5344CB8AC3E}">
        <p14:creationId xmlns:p14="http://schemas.microsoft.com/office/powerpoint/2010/main" val="952948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D7D76-7C9A-4E9C-BF8B-161217A66988}"/>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관련 연구</a:t>
            </a:r>
          </a:p>
        </p:txBody>
      </p:sp>
      <p:sp>
        <p:nvSpPr>
          <p:cNvPr id="16" name="직선 연결선 14">
            <a:extLst>
              <a:ext uri="{FF2B5EF4-FFF2-40B4-BE49-F238E27FC236}">
                <a16:creationId xmlns:a16="http://schemas.microsoft.com/office/drawing/2014/main" id="{D7559851-762A-4EA5-8EE8-215F4EB31B9F}"/>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16198D5C-2820-4F91-9E5A-823C81CF02FA}"/>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graphicFrame>
        <p:nvGraphicFramePr>
          <p:cNvPr id="24" name="Table 17"/>
          <p:cNvGraphicFramePr/>
          <p:nvPr/>
        </p:nvGraphicFramePr>
        <p:xfrm>
          <a:off x="830275" y="1600200"/>
          <a:ext cx="10515600" cy="3657600"/>
        </p:xfrm>
        <a:graphic>
          <a:graphicData uri="http://schemas.openxmlformats.org/drawingml/2006/table">
            <a:tbl>
              <a:tblPr firstRow="1">
                <a:tableStyleId>{2D5ABB26-0587-4C30-8999-92F81FD0307C}</a:tableStyleId>
              </a:tblPr>
              <a:tblGrid>
                <a:gridCol w="2286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731520">
                <a:tc>
                  <a:txBody>
                    <a:bodyPr/>
                    <a:lstStyle/>
                    <a:p>
                      <a:pPr algn="l" eaLnBrk="0" latinLnBrk="0">
                        <a:buNone/>
                      </a:pPr>
                      <a:r>
                        <a:rPr sz="1500" b="0" lang="ko-KR" altLang="en-US">
                          <a:solidFill>
                            <a:srgbClr val="000000"/>
                          </a:solidFill>
                          <a:latin typeface="나눔스퀘어 Bold"/>
                          <a:ea typeface="나눔스퀘어 Bold"/>
                          <a:cs typeface="나눔스퀘어 Bold"/>
                        </a:rPr>
                        <a:t>구분</a:t>
                      </a:r>
                    </a:p>
                  </a:txBody>
                  <a:tcPr marL="73152" marR="73152" marT="27432" marB="27432" anchor="ctr">
                    <a:lnL w="0">
                      <a:noFill/>
                    </a:lnL>
                    <a:lnR w="0">
                      <a:noFill/>
                    </a:lnR>
                    <a:lnT w="19050">
                      <a:solidFill>
                        <a:srgbClr val="000000"/>
                      </a:solidFill>
                    </a:lnT>
                    <a:lnB w="12700">
                      <a:solidFill>
                        <a:srgbClr val="000000"/>
                      </a:solidFill>
                    </a:lnB>
                    <a:noFill/>
                  </a:tcPr>
                </a:tc>
                <a:tc>
                  <a:txBody>
                    <a:bodyPr/>
                    <a:lstStyle/>
                    <a:p>
                      <a:pPr algn="l" eaLnBrk="0" latinLnBrk="0">
                        <a:buNone/>
                      </a:pPr>
                      <a:r>
                        <a:rPr sz="1500" b="0" lang="ko-KR" altLang="en-US">
                          <a:solidFill>
                            <a:srgbClr val="000000"/>
                          </a:solidFill>
                          <a:latin typeface="나눔스퀘어 Bold"/>
                          <a:ea typeface="나눔스퀘어 Bold"/>
                          <a:cs typeface="나눔스퀘어 Bold"/>
                        </a:rPr>
                        <a:t>선행연구의 중심</a:t>
                      </a:r>
                    </a:p>
                  </a:txBody>
                  <a:tcPr marL="73152" marR="73152" marT="27432" marB="27432" anchor="ctr">
                    <a:lnL w="0">
                      <a:noFill/>
                    </a:lnL>
                    <a:lnR w="0">
                      <a:noFill/>
                    </a:lnR>
                    <a:lnT w="19050">
                      <a:solidFill>
                        <a:srgbClr val="000000"/>
                      </a:solidFill>
                    </a:lnT>
                    <a:lnB w="12700">
                      <a:solidFill>
                        <a:srgbClr val="000000"/>
                      </a:solidFill>
                    </a:lnB>
                    <a:noFill/>
                  </a:tcPr>
                </a:tc>
                <a:tc>
                  <a:txBody>
                    <a:bodyPr/>
                    <a:lstStyle/>
                    <a:p>
                      <a:pPr algn="l" eaLnBrk="0" latinLnBrk="0">
                        <a:buNone/>
                      </a:pPr>
                      <a:r>
                        <a:rPr sz="1500" b="0" lang="ko-KR" altLang="en-US">
                          <a:solidFill>
                            <a:srgbClr val="000000"/>
                          </a:solidFill>
                          <a:latin typeface="나눔스퀘어 Bold"/>
                          <a:ea typeface="나눔스퀘어 Bold"/>
                          <a:cs typeface="나눔스퀘어 Bold"/>
                        </a:rPr>
                        <a:t>본 연구의 중심</a:t>
                      </a:r>
                    </a:p>
                  </a:txBody>
                  <a:tcPr marL="73152" marR="73152" marT="27432" marB="27432" anchor="ctr">
                    <a:lnL w="0">
                      <a:noFill/>
                    </a:lnL>
                    <a:lnR w="0">
                      <a:noFill/>
                    </a:lnR>
                    <a:lnT w="19050">
                      <a:solidFill>
                        <a:srgbClr val="000000"/>
                      </a:solidFill>
                    </a:lnT>
                    <a:lnB w="12700">
                      <a:solidFill>
                        <a:srgbClr val="000000"/>
                      </a:solidFill>
                    </a:lnB>
                    <a:noFill/>
                  </a:tcPr>
                </a:tc>
                <a:extLst>
                  <a:ext uri="{0D108BD9-81ED-4DB2-BD59-A6C34878D82A}">
                    <a16:rowId xmlns:a16="http://schemas.microsoft.com/office/drawing/2014/main" val="10000"/>
                  </a:ext>
                </a:extLst>
              </a:tr>
              <a:tr h="731520">
                <a:tc>
                  <a:txBody>
                    <a:bodyPr/>
                    <a:lstStyle/>
                    <a:p>
                      <a:pPr algn="l" eaLnBrk="0" latinLnBrk="0">
                        <a:buNone/>
                      </a:pPr>
                      <a:r>
                        <a:rPr sz="1500" b="0" lang="ko-KR" altLang="en-US">
                          <a:solidFill>
                            <a:srgbClr val="000000"/>
                          </a:solidFill>
                          <a:latin typeface="나눔스퀘어 Bold"/>
                          <a:ea typeface="나눔스퀘어 Bold"/>
                          <a:cs typeface="나눔스퀘어 Bold"/>
                        </a:rPr>
                        <a:t>PartField, PartSLIP</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tc>
                  <a:txBody>
                    <a:bodyPr/>
                    <a:lstStyle/>
                    <a:p>
                      <a:pPr algn="l" eaLnBrk="0" latinLnBrk="0">
                        <a:buNone/>
                      </a:pPr>
                      <a:r>
                        <a:rPr sz="1500" b="0" lang="ko-KR" altLang="en-US">
                          <a:solidFill>
                            <a:srgbClr val="000000"/>
                          </a:solidFill>
                          <a:latin typeface="나눔스퀘어"/>
                          <a:ea typeface="나눔스퀘어"/>
                          <a:cs typeface="나눔스퀘어"/>
                        </a:rPr>
                        <a:t>3D part 표현, 다중 시점 2D 근거의 3D lifting</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tc>
                  <a:txBody>
                    <a:bodyPr/>
                    <a:lstStyle/>
                    <a:p>
                      <a:pPr algn="l" eaLnBrk="0" latinLnBrk="0">
                        <a:buNone/>
                      </a:pPr>
                      <a:r>
                        <a:rPr sz="1500" b="0" lang="ko-KR" altLang="en-US">
                          <a:solidFill>
                            <a:srgbClr val="000000"/>
                          </a:solidFill>
                          <a:latin typeface="나눔스퀘어"/>
                          <a:ea typeface="나눔스퀘어"/>
                          <a:cs typeface="나눔스퀘어"/>
                        </a:rPr>
                        <a:t>프로젝션 저작용 편집 가능한 MSR과 역할 그래프</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1"/>
                  </a:ext>
                </a:extLst>
              </a:tr>
              <a:tr h="731520">
                <a:tc>
                  <a:txBody>
                    <a:bodyPr/>
                    <a:lstStyle/>
                    <a:p>
                      <a:pPr algn="l" eaLnBrk="0" latinLnBrk="0">
                        <a:buNone/>
                      </a:pPr>
                      <a:r>
                        <a:rPr sz="1500" b="0" lang="ko-KR" altLang="en-US">
                          <a:solidFill>
                            <a:srgbClr val="000000"/>
                          </a:solidFill>
                          <a:latin typeface="나눔스퀘어 Bold"/>
                          <a:ea typeface="나눔스퀘어 Bold"/>
                          <a:cs typeface="나눔스퀘어 Bold"/>
                        </a:rPr>
                        <a:t>Tex4D</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500" b="0" lang="ko-KR" altLang="en-US">
                          <a:solidFill>
                            <a:srgbClr val="000000"/>
                          </a:solidFill>
                          <a:latin typeface="나눔스퀘어"/>
                          <a:ea typeface="나눔스퀘어"/>
                          <a:cs typeface="나눔스퀘어"/>
                        </a:rPr>
                        <a:t>video prior와 UV latent 동기화 (animated mesh, text)</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500" b="0" lang="ko-KR" altLang="en-US">
                          <a:solidFill>
                            <a:srgbClr val="000000"/>
                          </a:solidFill>
                          <a:latin typeface="나눔스퀘어"/>
                          <a:ea typeface="나눔스퀘어"/>
                          <a:cs typeface="나눔스퀘어"/>
                        </a:rPr>
                        <a:t>고정 메시에서 MSR이 정하는 인과적 표면 사건과 오디오 타이밍</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2"/>
                  </a:ext>
                </a:extLst>
              </a:tr>
              <a:tr h="731520">
                <a:tc>
                  <a:txBody>
                    <a:bodyPr/>
                    <a:lstStyle/>
                    <a:p>
                      <a:pPr algn="l" eaLnBrk="0" latinLnBrk="0">
                        <a:buNone/>
                      </a:pPr>
                      <a:r>
                        <a:rPr sz="1500" b="0" lang="ko-KR" altLang="en-US">
                          <a:solidFill>
                            <a:srgbClr val="000000"/>
                          </a:solidFill>
                          <a:latin typeface="나눔스퀘어 Bold"/>
                          <a:ea typeface="나눔스퀘어 Bold"/>
                          <a:cs typeface="나눔스퀘어 Bold"/>
                        </a:rPr>
                        <a:t>PixTex</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500" b="0" lang="ko-KR" altLang="en-US">
                          <a:solidFill>
                            <a:srgbClr val="000000"/>
                          </a:solidFill>
                          <a:latin typeface="나눔스퀘어"/>
                          <a:ea typeface="나눔스퀘어"/>
                          <a:cs typeface="나눔스퀘어"/>
                        </a:rPr>
                        <a:t>학습 기반 pixel space 다중 시점 텍스처 생성</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500" b="0" lang="ko-KR" altLang="en-US">
                          <a:solidFill>
                            <a:srgbClr val="000000"/>
                          </a:solidFill>
                          <a:latin typeface="나눔스퀘어"/>
                          <a:ea typeface="나눔스퀘어"/>
                          <a:cs typeface="나눔스퀘어"/>
                        </a:rPr>
                        <a:t>training-free 추론과 결정론적 canonical UV 통합</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3"/>
                  </a:ext>
                </a:extLst>
              </a:tr>
              <a:tr h="731520">
                <a:tc>
                  <a:txBody>
                    <a:bodyPr/>
                    <a:lstStyle/>
                    <a:p>
                      <a:pPr algn="l" eaLnBrk="0" latinLnBrk="0">
                        <a:buNone/>
                      </a:pPr>
                      <a:r>
                        <a:rPr sz="1500" b="0" lang="ko-KR" altLang="en-US">
                          <a:solidFill>
                            <a:srgbClr val="000000"/>
                          </a:solidFill>
                          <a:latin typeface="나눔스퀘어 Bold"/>
                          <a:ea typeface="나눔스퀘어 Bold"/>
                          <a:cs typeface="나눔스퀘어 Bold"/>
                        </a:rPr>
                        <a:t>오디오 비주얼라이저</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tc>
                  <a:txBody>
                    <a:bodyPr/>
                    <a:lstStyle/>
                    <a:p>
                      <a:pPr algn="l" eaLnBrk="0" latinLnBrk="0">
                        <a:buNone/>
                      </a:pPr>
                      <a:r>
                        <a:rPr sz="1500" b="0" lang="ko-KR" altLang="en-US">
                          <a:solidFill>
                            <a:srgbClr val="000000"/>
                          </a:solidFill>
                          <a:latin typeface="나눔스퀘어"/>
                          <a:ea typeface="나눔스퀘어"/>
                          <a:cs typeface="나눔스퀘어"/>
                        </a:rPr>
                        <a:t>전역 오디오 특징 → 시각 파라미터</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tc>
                  <a:txBody>
                    <a:bodyPr/>
                    <a:lstStyle/>
                    <a:p>
                      <a:pPr algn="l" eaLnBrk="0" latinLnBrk="0">
                        <a:buNone/>
                      </a:pPr>
                      <a:r>
                        <a:rPr sz="1500" b="0" lang="ko-KR" altLang="en-US">
                          <a:solidFill>
                            <a:srgbClr val="000000"/>
                          </a:solidFill>
                          <a:latin typeface="나눔스퀘어"/>
                          <a:ea typeface="나눔스퀘어"/>
                          <a:cs typeface="나눔스퀘어"/>
                        </a:rPr>
                        <a:t>표면 역할과 사건 그래프로의 다중 lane routing</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4"/>
                  </a:ext>
                </a:extLst>
              </a:tr>
            </a:tbl>
          </a:graphicData>
        </a:graphic>
      </p:graphicFrame>
      <p:sp>
        <p:nvSpPr>
          <p:cNvPr id="19" name="TextBox 18">
            <a:extLst>
              <a:ext uri="{FF2B5EF4-FFF2-40B4-BE49-F238E27FC236}">
                <a16:creationId xmlns:a16="http://schemas.microsoft.com/office/drawing/2014/main" id="{9500B40B-7800-46E5-A523-574AE6E2A778}"/>
              </a:ext>
            </a:extLst>
          </p:cNvPr>
          <p:cNvSpPr>
            <a:spLocks noGrp="1"/>
          </p:cNvSpPr>
          <p:nvPr/>
        </p:nvSpPr>
        <p:spPr>
          <a:xfrm>
            <a:off x="830275" y="5760720"/>
            <a:ext cx="10522915" cy="320040"/>
          </a:xfrm>
          <a:prstGeom prst="rect">
            <a:avLst/>
          </a:prstGeom>
          <a:noFill/>
        </p:spPr>
        <p:txBody>
          <a:bodyPr wrap="square" lIns="45720" rIns="45720" anchor="t">
            <a:noAutofit/>
          </a:bodyPr>
          <a:lstStyle/>
          <a:p>
            <a:pPr algn="l" eaLnBrk="0" latinLnBrk="0">
              <a:spcAft>
                <a:spcPts val="400"/>
              </a:spcAft>
              <a:buNone/>
            </a:pPr>
            <a:r>
              <a:rPr sz="1000" b="0" lang="ko-KR" altLang="en-US">
                <a:solidFill>
                  <a:srgbClr val="595959"/>
                </a:solidFill>
                <a:latin typeface="나눔스퀘어"/>
                <a:ea typeface="나눔스퀘어"/>
                <a:cs typeface="나눔스퀘어"/>
              </a:rPr>
              <a:t>PartField (Liu et al., 2025)  ·  PartSLIP (Liu et al., CVPR 2023)  ·  Tex4D (Bao et al., 2024)  ·  PixTex (2025)</a:t>
            </a:r>
          </a:p>
        </p:txBody>
      </p:sp>
    </p:spTree>
    <p:extLst>
      <p:ext uri="{BB962C8B-B14F-4D97-AF65-F5344CB8AC3E}">
        <p14:creationId xmlns:p14="http://schemas.microsoft.com/office/powerpoint/2010/main" val="1423410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3A561-73FC-46D9-9C9E-A24A4707EEE1}"/>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연구 목표와 기여점</a:t>
            </a:r>
          </a:p>
        </p:txBody>
      </p:sp>
      <p:sp>
        <p:nvSpPr>
          <p:cNvPr id="16" name="직선 연결선 14">
            <a:extLst>
              <a:ext uri="{FF2B5EF4-FFF2-40B4-BE49-F238E27FC236}">
                <a16:creationId xmlns:a16="http://schemas.microsoft.com/office/drawing/2014/main" id="{BA59F2ED-78FE-4840-ACC5-F09261EC4553}"/>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p>
            <a:pPr eaLnBrk="0" latinLnBrk="0"/>
          </a:p>
        </p:txBody>
      </p:sp>
      <p:sp>
        <p:nvSpPr>
          <p:cNvPr id="17" name="직선 연결선 7">
            <a:extLst>
              <a:ext uri="{FF2B5EF4-FFF2-40B4-BE49-F238E27FC236}">
                <a16:creationId xmlns:a16="http://schemas.microsoft.com/office/drawing/2014/main" id="{E871C302-BD5F-42B4-86C3-45CBD4A7E3CA}"/>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p>
            <a:pPr eaLnBrk="0" latinLnBrk="0"/>
          </a:p>
        </p:txBody>
      </p:sp>
      <p:sp>
        <p:nvSpPr>
          <p:cNvPr id="18" name="Rounded Rectangle 17">
            <a:extLst>
              <a:ext uri="{FF2B5EF4-FFF2-40B4-BE49-F238E27FC236}">
                <a16:creationId xmlns:a16="http://schemas.microsoft.com/office/drawing/2014/main" id="{ECB5AFC7-3242-4778-A2BD-829C54843509}"/>
              </a:ext>
            </a:extLst>
          </p:cNvPr>
          <p:cNvSpPr>
            <a:spLocks noGrp="1"/>
          </p:cNvSpPr>
          <p:nvPr/>
        </p:nvSpPr>
        <p:spPr>
          <a:xfrm>
            <a:off x="830275" y="1554480"/>
            <a:ext cx="10522915" cy="1051560"/>
          </a:xfrm>
          <a:prstGeom prst="roundRect">
            <a:avLst>
              <a:gd name="adj" fmla="val 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anchor="ctr">
            <a:noAutofit/>
          </a:bodyPr>
          <a:lstStyle/>
          <a:p>
            <a:pPr algn="l" eaLnBrk="0" latinLnBrk="0">
              <a:spcAft>
                <a:spcPts val="200"/>
              </a:spcAft>
              <a:buNone/>
            </a:pPr>
            <a:r>
              <a:rPr sz="1700" b="0" lang="ko-KR" altLang="en-US">
                <a:solidFill>
                  <a:srgbClr val="000000"/>
                </a:solidFill>
                <a:latin typeface="나눔스퀘어"/>
                <a:ea typeface="나눔스퀘어"/>
                <a:cs typeface="나눔스퀘어"/>
              </a:rPr>
              <a:t>물체의 의미 있는 표면 영역을 수정 가능한 저작 단위로 만들고, 오디오에 따라 영역마다 다른 표면 사건을 생성해, </a:t>
            </a:r>
            <a:r>
              <a:rPr sz="1700" b="0" lang="ko-KR" altLang="en-US">
                <a:solidFill>
                  <a:srgbClr val="000000"/>
                </a:solidFill>
                <a:latin typeface="나눔스퀘어 Bold"/>
                <a:ea typeface="나눔스퀘어 Bold"/>
                <a:cs typeface="나눔스퀘어 Bold"/>
              </a:rPr>
              <a:t>모든 시점이 공유하는 UV 영상</a:t>
            </a:r>
            <a:r>
              <a:rPr sz="1700" b="0" lang="ko-KR" altLang="en-US">
                <a:solidFill>
                  <a:srgbClr val="000000"/>
                </a:solidFill>
                <a:latin typeface="나눔스퀘어"/>
                <a:ea typeface="나눔스퀘어"/>
                <a:cs typeface="나눔스퀘어"/>
              </a:rPr>
              <a:t>으로 출력하는 training-free 저작 방법</a:t>
            </a:r>
          </a:p>
        </p:txBody>
      </p:sp>
      <p:sp>
        <p:nvSpPr>
          <p:cNvPr id="19" name="TextBox 18">
            <a:extLst>
              <a:ext uri="{FF2B5EF4-FFF2-40B4-BE49-F238E27FC236}">
                <a16:creationId xmlns:a16="http://schemas.microsoft.com/office/drawing/2014/main" id="{8067838A-F915-4D13-A132-0E7507FB0B4B}"/>
              </a:ext>
            </a:extLst>
          </p:cNvPr>
          <p:cNvSpPr>
            <a:spLocks noGrp="1"/>
          </p:cNvSpPr>
          <p:nvPr/>
        </p:nvSpPr>
        <p:spPr>
          <a:xfrm>
            <a:off x="830275" y="2834640"/>
            <a:ext cx="10522915" cy="3017520"/>
          </a:xfrm>
          <a:prstGeom prst="rect">
            <a:avLst/>
          </a:prstGeom>
          <a:noFill/>
        </p:spPr>
        <p:txBody>
          <a:bodyPr wrap="square" lIns="45720" rIns="45720" anchor="t">
            <a:noAutofit/>
          </a:bodyPr>
          <a:lstStyle/>
          <a:p>
            <a:pPr marL="329184" indent="-329184" algn="l" eaLnBrk="0" latinLnBrk="0">
              <a:spcAft>
                <a:spcPts val="200"/>
              </a:spcAft>
              <a:buAutoNum type="arabicPeriod"/>
            </a:pPr>
            <a:r>
              <a:rPr sz="1700" b="0" lang="ko-KR" altLang="en-US">
                <a:solidFill>
                  <a:srgbClr val="000000"/>
                </a:solidFill>
                <a:latin typeface="나눔스퀘어 Bold"/>
                <a:ea typeface="나눔스퀘어 Bold"/>
                <a:cs typeface="나눔스퀘어 Bold"/>
              </a:rPr>
              <a:t>Editable MSR Graph</a:t>
            </a:r>
          </a:p>
          <a:p>
            <a:pPr marL="283464" indent="-283464" algn="l" eaLnBrk="0" latinLnBrk="0">
              <a:spcAft>
                <a:spcPts val="1200"/>
              </a:spcAft>
              <a:buFont typeface="Arial"/>
              <a:buChar char=" "/>
            </a:pPr>
            <a:r>
              <a:rPr sz="1500" b="0" lang="ko-KR" altLang="en-US">
                <a:solidFill>
                  <a:srgbClr val="595959"/>
                </a:solidFill>
                <a:latin typeface="나눔스퀘어"/>
                <a:ea typeface="나눔스퀘어"/>
                <a:cs typeface="나눔스퀘어"/>
              </a:rPr>
              <a:t>PartField, 기하, 다중 시점 의미 근거를 soft membership, 계층, 인접, 역할을 가진 편집 가능한 표면 표현으로 변환. 편집기에서 수락·병합·계층 분할·역할 수정</a:t>
            </a:r>
          </a:p>
          <a:p>
            <a:pPr marL="329184" indent="-329184" algn="l" eaLnBrk="0" latinLnBrk="0">
              <a:spcAft>
                <a:spcPts val="200"/>
              </a:spcAft>
              <a:buAutoNum type="arabicPeriod" startAt="2"/>
            </a:pPr>
            <a:r>
              <a:rPr sz="1700" b="0" lang="ko-KR" altLang="en-US">
                <a:solidFill>
                  <a:srgbClr val="000000"/>
                </a:solidFill>
                <a:latin typeface="나눔스퀘어 Bold"/>
                <a:ea typeface="나눔스퀘어 Bold"/>
                <a:cs typeface="나눔스퀘어 Bold"/>
              </a:rPr>
              <a:t>역할 기반 오디오 사건 편성  (E237)</a:t>
            </a:r>
          </a:p>
          <a:p>
            <a:pPr marL="283464" indent="-283464" algn="l" eaLnBrk="0" latinLnBrk="0">
              <a:spcAft>
                <a:spcPts val="1200"/>
              </a:spcAft>
              <a:buFont typeface="Arial"/>
              <a:buChar char=" "/>
            </a:pPr>
            <a:r>
              <a:rPr sz="1500" b="0" lang="ko-KR" altLang="en-US">
                <a:solidFill>
                  <a:srgbClr val="595959"/>
                </a:solidFill>
                <a:latin typeface="나눔스퀘어"/>
                <a:ea typeface="나눔스퀘어"/>
                <a:cs typeface="나눔스퀘어"/>
              </a:rPr>
              <a:t>사건마다 다른 오디오 특징 조합을 사건별 percentile로 정규화해 사건 종류·시작·빈 구간·동시 시작을 결정. 사건 내부 움직임 제어와 지각 평가는 다음 단계</a:t>
            </a:r>
          </a:p>
          <a:p>
            <a:pPr marL="329184" indent="-329184" algn="l" eaLnBrk="0" latinLnBrk="0">
              <a:spcAft>
                <a:spcPts val="200"/>
              </a:spcAft>
              <a:buAutoNum type="arabicPeriod" startAt="3"/>
            </a:pPr>
            <a:r>
              <a:rPr sz="1700" b="0" lang="ko-KR" altLang="en-US">
                <a:solidFill>
                  <a:srgbClr val="000000"/>
                </a:solidFill>
                <a:latin typeface="나눔스퀘어 Bold"/>
                <a:ea typeface="나눔스퀘어 Bold"/>
                <a:cs typeface="나눔스퀘어 Bold"/>
              </a:rPr>
              <a:t>연속 UV 사건 합성과 저작 흐름</a:t>
            </a:r>
          </a:p>
          <a:p>
            <a:pPr marL="283464" indent="-283464" algn="l" eaLnBrk="0" latinLnBrk="0">
              <a:spcAft>
                <a:spcPts val="1200"/>
              </a:spcAft>
              <a:buFont typeface="Arial"/>
              <a:buChar char=" "/>
            </a:pPr>
            <a:r>
              <a:rPr sz="1500" b="0" lang="ko-KR" altLang="en-US">
                <a:solidFill>
                  <a:srgbClr val="595959"/>
                </a:solidFill>
                <a:latin typeface="나눔스퀘어"/>
                <a:ea typeface="나눔스퀘어"/>
                <a:cs typeface="나눔스퀘어"/>
              </a:rPr>
              <a:t>MSR이 생성 영역, 부착점, 보호 범위, 경계 전이를 정하고 결과를 canonical UV에 보존</a:t>
            </a:r>
          </a:p>
        </p:txBody>
      </p:sp>
      <p:sp>
        <p:nvSpPr>
          <p:cNvPr id="20" name="TextBox 19">
            <a:extLst>
              <a:ext uri="{FF2B5EF4-FFF2-40B4-BE49-F238E27FC236}">
                <a16:creationId xmlns:a16="http://schemas.microsoft.com/office/drawing/2014/main" id="{F7B13418-5809-4DC7-87DA-0AC9F64D1119}"/>
              </a:ext>
            </a:extLst>
          </p:cNvPr>
          <p:cNvSpPr>
            <a:spLocks noGrp="1"/>
          </p:cNvSpPr>
          <p:nvPr/>
        </p:nvSpPr>
        <p:spPr>
          <a:xfrm>
            <a:off x="830275" y="5760720"/>
            <a:ext cx="10522915" cy="320040"/>
          </a:xfrm>
          <a:prstGeom prst="rect">
            <a:avLst/>
          </a:prstGeom>
          <a:noFill/>
        </p:spPr>
        <p:txBody>
          <a:bodyPr wrap="square" lIns="45720" rIns="45720" anchor="t">
            <a:noAutofit/>
          </a:bodyPr>
          <a:lstStyle/>
          <a:p>
            <a:pPr algn="l" eaLnBrk="0" latinLnBrk="0">
              <a:spcAft>
                <a:spcPts val="400"/>
              </a:spcAft>
              <a:buNone/>
            </a:pPr>
            <a:r>
              <a:rPr sz="1300" b="0" lang="ko-KR" altLang="en-US">
                <a:solidFill>
                  <a:srgbClr val="595959"/>
                </a:solidFill>
                <a:latin typeface="나눔스퀘어"/>
                <a:ea typeface="나눔스퀘어"/>
                <a:cs typeface="나눔스퀘어"/>
              </a:rPr>
              <a:t>모델 학습·fine-tuning 없음  ·  원본 메시의 vertex, topology, 실루엣 불변</a:t>
            </a:r>
          </a:p>
        </p:txBody>
      </p:sp>
    </p:spTree>
    <p:extLst>
      <p:ext uri="{BB962C8B-B14F-4D97-AF65-F5344CB8AC3E}">
        <p14:creationId xmlns:p14="http://schemas.microsoft.com/office/powerpoint/2010/main" val="1895526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2">
            <a:extLst>
              <a:ext uri="{FF2B5EF4-FFF2-40B4-BE49-F238E27FC236}">
                <a16:creationId xmlns:a16="http://schemas.microsoft.com/office/drawing/2014/main" id="{1D457850-DC46-4282-8ED6-D02CFFE0C86B}"/>
              </a:ext>
            </a:extLst>
          </p:cNvPr>
          <p:cNvSpPr>
            <a:spLocks noGrp="1"/>
          </p:cNvSpPr>
          <p:nvPr/>
        </p:nvSpPr>
        <p:spPr>
          <a:xfrm>
            <a:off x="-8965" y="-8754"/>
            <a:ext cx="12299577" cy="6947436"/>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0" latinLnBrk="0">
              <a:buNone/>
            </a:pPr>
            <a:endParaRPr lang="ko-KR" altLang="en-US"/>
          </a:p>
        </p:txBody>
      </p:sp>
      <p:sp>
        <p:nvSpPr>
          <p:cNvPr id="2" name="Title 1">
            <a:extLst>
              <a:ext uri="{FF2B5EF4-FFF2-40B4-BE49-F238E27FC236}">
                <a16:creationId xmlns:a16="http://schemas.microsoft.com/office/drawing/2014/main" id="{88891E87-C225-4EA4-A5D7-1D3AF4579EE2}"/>
              </a:ext>
            </a:extLst>
          </p:cNvPr>
          <p:cNvSpPr>
            <a:spLocks noGrp="1"/>
          </p:cNvSpPr>
          <p:nvPr>
            <p:ph type="title"/>
          </p:nvPr>
        </p:nvSpPr>
        <p:spPr>
          <a:xfrm>
            <a:off x="830424" y="2528211"/>
            <a:ext cx="10515600" cy="1325563"/>
          </a:xfrm>
        </p:spPr>
        <p:txBody>
          <a:bodyPr/>
          <a:lstStyle/>
          <a:p>
            <a:pPr algn="ctr" eaLnBrk="0" latinLnBrk="0">
              <a:buNone/>
            </a:pPr>
            <a:r>
              <a:rPr sz="6000" b="0" lang="ko-KR" altLang="en-US">
                <a:solidFill>
                  <a:srgbClr val="FFFFFF"/>
                </a:solidFill>
                <a:latin typeface="나눔스퀘어 ExtraBold"/>
                <a:ea typeface="나눔스퀘어 ExtraBold"/>
                <a:cs typeface="나눔스퀘어 ExtraBold"/>
              </a:rPr>
              <a:t>Method</a:t>
            </a:r>
          </a:p>
        </p:txBody>
      </p:sp>
      <p:sp>
        <p:nvSpPr>
          <p:cNvPr id="16" name="직선 연결선 14">
            <a:extLst>
              <a:ext uri="{FF2B5EF4-FFF2-40B4-BE49-F238E27FC236}">
                <a16:creationId xmlns:a16="http://schemas.microsoft.com/office/drawing/2014/main" id="{6A213551-D780-4DE8-BFDA-A4D8951CB67F}"/>
              </a:ext>
            </a:extLst>
          </p:cNvPr>
          <p:cNvSpPr>
            <a:spLocks noGrp="1"/>
          </p:cNvSpPr>
          <p:nvPr/>
        </p:nvSpPr>
        <p:spPr>
          <a:xfrm>
            <a:off x="2201148" y="4108193"/>
            <a:ext cx="7789701"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sp>
      <p:pic>
        <p:nvPicPr>
          <p:cNvPr id="21" name="Picture 16"/>
          <p:cNvPicPr>
            <a:picLocks noChangeAspect="1"/>
          </p:cNvPicPr>
          <p:nvPr/>
        </p:nvPicPr>
        <p:blipFill>
          <a:blip r:embed="rId3"/>
          <a:stretch>
            <a:fillRect/>
          </a:stretch>
        </p:blipFill>
        <p:spPr>
          <a:xfrm>
            <a:off x="1" y="6372808"/>
            <a:ext cx="1122886" cy="485191"/>
          </a:xfrm>
          <a:prstGeom prst="rect">
            <a:avLst/>
          </a:prstGeom>
        </p:spPr>
      </p:pic>
    </p:spTree>
    <p:extLst>
      <p:ext uri="{BB962C8B-B14F-4D97-AF65-F5344CB8AC3E}">
        <p14:creationId xmlns:p14="http://schemas.microsoft.com/office/powerpoint/2010/main" val="64944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AEE82-12F7-42AF-BEA4-232877068AE0}"/>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파이프라인 상세</a:t>
            </a:r>
          </a:p>
        </p:txBody>
      </p:sp>
      <p:sp>
        <p:nvSpPr>
          <p:cNvPr id="16" name="직선 연결선 14">
            <a:extLst>
              <a:ext uri="{FF2B5EF4-FFF2-40B4-BE49-F238E27FC236}">
                <a16:creationId xmlns:a16="http://schemas.microsoft.com/office/drawing/2014/main" id="{D7D30313-622E-4289-8892-427A2EB29335}"/>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D0374E62-3570-4AD5-8168-5C64ADC058E0}"/>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Rounded Rectangle 17"/>
          <p:cNvSpPr/>
          <p:nvPr/>
        </p:nvSpPr>
        <p:spPr>
          <a:xfrm>
            <a:off x="830275" y="1508760"/>
            <a:ext cx="2359152" cy="137160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600"/>
              </a:spcAft>
            </a:pPr>
            <a:r>
              <a:rPr sz="1500" b="0" lang="ko-KR" altLang="en-US">
                <a:solidFill>
                  <a:srgbClr val="000000"/>
                </a:solidFill>
                <a:latin typeface="나눔스퀘어 Bold"/>
                <a:ea typeface="나눔스퀘어 Bold"/>
              </a:rPr>
              <a:t>입력</a:t>
            </a:r>
          </a:p>
          <a:p>
            <a:pPr eaLnBrk="0" latinLnBrk="0" algn="ctr">
              <a:spcAft>
                <a:spcPts val="100"/>
              </a:spcAft>
            </a:pPr>
            <a:r>
              <a:rPr sz="1200" b="0" lang="ko-KR" altLang="en-US">
                <a:solidFill>
                  <a:srgbClr val="595959"/>
                </a:solidFill>
                <a:latin typeface="나눔스퀘어"/>
                <a:ea typeface="나눔스퀘어"/>
              </a:rPr>
              <a:t>메시 · UV · 기본 텍스처</a:t>
            </a:r>
          </a:p>
          <a:p>
            <a:pPr eaLnBrk="0" latinLnBrk="0" algn="ctr">
              <a:spcAft>
                <a:spcPts val="100"/>
              </a:spcAft>
            </a:pPr>
            <a:r>
              <a:rPr sz="1200" b="0" lang="ko-KR" altLang="en-US">
                <a:solidFill>
                  <a:srgbClr val="595959"/>
                </a:solidFill>
                <a:latin typeface="나눔스퀘어"/>
                <a:ea typeface="나눔스퀘어"/>
              </a:rPr>
              <a:t>30초 오디오</a:t>
            </a:r>
          </a:p>
          <a:p>
            <a:pPr eaLnBrk="0" latinLnBrk="0" algn="ctr">
              <a:spcAft>
                <a:spcPts val="100"/>
              </a:spcAft>
            </a:pPr>
            <a:r>
              <a:rPr sz="1200" b="0" lang="ko-KR" altLang="en-US">
                <a:solidFill>
                  <a:srgbClr val="595959"/>
                </a:solidFill>
                <a:latin typeface="나눔스퀘어"/>
                <a:ea typeface="나눔스퀘어"/>
              </a:rPr>
              <a:t>스타일 프롬프트</a:t>
            </a:r>
          </a:p>
        </p:txBody>
      </p:sp>
      <p:cxnSp>
        <p:nvCxnSpPr>
          <p:cNvPr id="19" name="Connector 18"/>
          <p:cNvCxnSpPr/>
          <p:nvPr/>
        </p:nvCxnSpPr>
        <p:spPr>
          <a:xfrm>
            <a:off x="3207715" y="2194560"/>
            <a:ext cx="32004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546043" y="1508760"/>
            <a:ext cx="2359152" cy="137160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600"/>
              </a:spcAft>
            </a:pPr>
            <a:r>
              <a:rPr sz="1500" b="0" lang="ko-KR" altLang="en-US">
                <a:solidFill>
                  <a:srgbClr val="000000"/>
                </a:solidFill>
                <a:latin typeface="나눔스퀘어 Bold"/>
                <a:ea typeface="나눔스퀘어 Bold"/>
              </a:rPr>
              <a:t>표면 관찰</a:t>
            </a:r>
          </a:p>
          <a:p>
            <a:pPr eaLnBrk="0" latinLnBrk="0" algn="ctr">
              <a:spcAft>
                <a:spcPts val="100"/>
              </a:spcAft>
            </a:pPr>
            <a:r>
              <a:rPr sz="1200" b="0" lang="ko-KR" altLang="en-US">
                <a:solidFill>
                  <a:srgbClr val="595959"/>
                </a:solidFill>
                <a:latin typeface="나눔스퀘어"/>
                <a:ea typeface="나눔스퀘어"/>
              </a:rPr>
              <a:t>24시점 1024² 렌더</a:t>
            </a:r>
          </a:p>
          <a:p>
            <a:pPr eaLnBrk="0" latinLnBrk="0" algn="ctr">
              <a:spcAft>
                <a:spcPts val="100"/>
              </a:spcAft>
            </a:pPr>
            <a:r>
              <a:rPr sz="1200" b="0" lang="ko-KR" altLang="en-US">
                <a:solidFill>
                  <a:srgbClr val="595959"/>
                </a:solidFill>
                <a:latin typeface="나눔스퀘어"/>
                <a:ea typeface="나눔스퀘어"/>
              </a:rPr>
              <a:t>PartField 448-D 특징</a:t>
            </a:r>
          </a:p>
          <a:p>
            <a:pPr eaLnBrk="0" latinLnBrk="0" algn="ctr">
              <a:spcAft>
                <a:spcPts val="100"/>
              </a:spcAft>
            </a:pPr>
            <a:r>
              <a:rPr sz="1200" b="0" lang="ko-KR" altLang="en-US">
                <a:solidFill>
                  <a:srgbClr val="595959"/>
                </a:solidFill>
                <a:latin typeface="나눔스퀘어"/>
                <a:ea typeface="나눔스퀘어"/>
              </a:rPr>
              <a:t>DINO + SAM2 관측</a:t>
            </a:r>
          </a:p>
        </p:txBody>
      </p:sp>
      <p:cxnSp>
        <p:nvCxnSpPr>
          <p:cNvPr id="21" name="Connector 20"/>
          <p:cNvCxnSpPr/>
          <p:nvPr/>
        </p:nvCxnSpPr>
        <p:spPr>
          <a:xfrm>
            <a:off x="5923483" y="2194560"/>
            <a:ext cx="32004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61811" y="1508760"/>
            <a:ext cx="2359152" cy="137160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600"/>
              </a:spcAft>
            </a:pPr>
            <a:r>
              <a:rPr sz="1500" b="0" lang="ko-KR" altLang="en-US">
                <a:solidFill>
                  <a:srgbClr val="000000"/>
                </a:solidFill>
                <a:latin typeface="나눔스퀘어 Bold"/>
                <a:ea typeface="나눔스퀘어 Bold"/>
              </a:rPr>
              <a:t>Editable MSRG</a:t>
            </a:r>
          </a:p>
          <a:p>
            <a:pPr eaLnBrk="0" latinLnBrk="0" algn="ctr">
              <a:spcAft>
                <a:spcPts val="100"/>
              </a:spcAft>
            </a:pPr>
            <a:r>
              <a:rPr sz="1200" b="0" lang="ko-KR" altLang="en-US">
                <a:solidFill>
                  <a:srgbClr val="595959"/>
                </a:solidFill>
                <a:latin typeface="나눔스퀘어"/>
                <a:ea typeface="나눔스퀘어"/>
              </a:rPr>
              <a:t>core · band · halo</a:t>
            </a:r>
          </a:p>
          <a:p>
            <a:pPr eaLnBrk="0" latinLnBrk="0" algn="ctr">
              <a:spcAft>
                <a:spcPts val="100"/>
              </a:spcAft>
            </a:pPr>
            <a:r>
              <a:rPr sz="1200" b="0" lang="ko-KR" altLang="en-US">
                <a:solidFill>
                  <a:srgbClr val="595959"/>
                </a:solidFill>
                <a:latin typeface="나눔스퀘어"/>
                <a:ea typeface="나눔스퀘어"/>
              </a:rPr>
              <a:t>역할 6종 · 그래프 · owner</a:t>
            </a:r>
          </a:p>
          <a:p>
            <a:pPr eaLnBrk="0" latinLnBrk="0" algn="ctr">
              <a:spcAft>
                <a:spcPts val="100"/>
              </a:spcAft>
            </a:pPr>
            <a:r>
              <a:rPr sz="1200" b="0" lang="ko-KR" altLang="en-US">
                <a:solidFill>
                  <a:srgbClr val="595959"/>
                </a:solidFill>
                <a:latin typeface="나눔스퀘어"/>
                <a:ea typeface="나눔스퀘어"/>
              </a:rPr>
              <a:t>편집기 승인</a:t>
            </a:r>
          </a:p>
        </p:txBody>
      </p:sp>
      <p:cxnSp>
        <p:nvCxnSpPr>
          <p:cNvPr id="23" name="Connector 22"/>
          <p:cNvCxnSpPr/>
          <p:nvPr/>
        </p:nvCxnSpPr>
        <p:spPr>
          <a:xfrm>
            <a:off x="8639251" y="2194560"/>
            <a:ext cx="32004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977579" y="1508760"/>
            <a:ext cx="2359152" cy="137160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600"/>
              </a:spcAft>
            </a:pPr>
            <a:r>
              <a:rPr sz="1500" b="0" lang="ko-KR" altLang="en-US">
                <a:solidFill>
                  <a:srgbClr val="000000"/>
                </a:solidFill>
                <a:latin typeface="나눔스퀘어 Bold"/>
                <a:ea typeface="나눔스퀘어 Bold"/>
              </a:rPr>
              <a:t>오디오 계획</a:t>
            </a:r>
          </a:p>
          <a:p>
            <a:pPr eaLnBrk="0" latinLnBrk="0" algn="ctr">
              <a:spcAft>
                <a:spcPts val="100"/>
              </a:spcAft>
            </a:pPr>
            <a:r>
              <a:rPr sz="1200" b="0" lang="ko-KR" altLang="en-US">
                <a:solidFill>
                  <a:srgbClr val="595959"/>
                </a:solidFill>
                <a:latin typeface="나눔스퀘어"/>
                <a:ea typeface="나눔스퀘어"/>
              </a:rPr>
              <a:t>STFT · HPSS · onset</a:t>
            </a:r>
          </a:p>
          <a:p>
            <a:pPr eaLnBrk="0" latinLnBrk="0" algn="ctr">
              <a:spcAft>
                <a:spcPts val="100"/>
              </a:spcAft>
            </a:pPr>
            <a:r>
              <a:rPr sz="1200" b="0" lang="ko-KR" altLang="en-US">
                <a:solidFill>
                  <a:srgbClr val="595959"/>
                </a:solidFill>
                <a:latin typeface="나눔스퀘어"/>
                <a:ea typeface="나눔스퀘어"/>
              </a:rPr>
              <a:t>5 control lane</a:t>
            </a:r>
          </a:p>
          <a:p>
            <a:pPr eaLnBrk="0" latinLnBrk="0" algn="ctr">
              <a:spcAft>
                <a:spcPts val="100"/>
              </a:spcAft>
            </a:pPr>
            <a:r>
              <a:rPr sz="1200" b="0" lang="ko-KR" altLang="en-US">
                <a:solidFill>
                  <a:srgbClr val="595959"/>
                </a:solidFill>
                <a:latin typeface="나눔스퀘어"/>
                <a:ea typeface="나눔스퀘어"/>
              </a:rPr>
              <a:t>사건 종류·시작·중첩</a:t>
            </a:r>
          </a:p>
        </p:txBody>
      </p:sp>
      <p:sp>
        <p:nvSpPr>
          <p:cNvPr id="25" name="Rounded Rectangle 24"/>
          <p:cNvSpPr/>
          <p:nvPr/>
        </p:nvSpPr>
        <p:spPr>
          <a:xfrm>
            <a:off x="830275" y="3429000"/>
            <a:ext cx="2359152" cy="1371600"/>
          </a:xfrm>
          <a:prstGeom prst="roundRect">
            <a:avLst>
              <a:gd name="adj" fmla="val 12000"/>
            </a:avLst>
          </a:prstGeom>
          <a:solidFill>
            <a:srgbClr val="F2F2F2"/>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600"/>
              </a:spcAft>
            </a:pPr>
            <a:r>
              <a:rPr sz="1500" b="0" lang="ko-KR" altLang="en-US">
                <a:solidFill>
                  <a:srgbClr val="000000"/>
                </a:solidFill>
                <a:latin typeface="나눔스퀘어 Bold"/>
                <a:ea typeface="나눔스퀘어 Bold"/>
              </a:rPr>
              <a:t>생성: FLUX</a:t>
            </a:r>
          </a:p>
          <a:p>
            <a:pPr eaLnBrk="0" latinLnBrk="0" algn="ctr">
              <a:spcAft>
                <a:spcPts val="100"/>
              </a:spcAft>
            </a:pPr>
            <a:r>
              <a:rPr sz="1200" b="0" lang="ko-KR" altLang="en-US">
                <a:solidFill>
                  <a:srgbClr val="595959"/>
                </a:solidFill>
                <a:latin typeface="나눔스퀘어"/>
                <a:ea typeface="나눔스퀘어"/>
              </a:rPr>
              <a:t>고정 렌더 + owner mask</a:t>
            </a:r>
          </a:p>
          <a:p>
            <a:pPr eaLnBrk="0" latinLnBrk="0" algn="ctr">
              <a:spcAft>
                <a:spcPts val="100"/>
              </a:spcAft>
            </a:pPr>
            <a:r>
              <a:rPr sz="1200" b="0" lang="ko-KR" altLang="en-US">
                <a:solidFill>
                  <a:srgbClr val="595959"/>
                </a:solidFill>
                <a:latin typeface="나눔스퀘어"/>
                <a:ea typeface="나눔스퀘어"/>
              </a:rPr>
              <a:t>사건 peak 상태 1024²</a:t>
            </a:r>
          </a:p>
        </p:txBody>
      </p:sp>
      <p:cxnSp>
        <p:nvCxnSpPr>
          <p:cNvPr id="26" name="Connector 25"/>
          <p:cNvCxnSpPr/>
          <p:nvPr/>
        </p:nvCxnSpPr>
        <p:spPr>
          <a:xfrm>
            <a:off x="3207715" y="4114800"/>
            <a:ext cx="32004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546043" y="3429000"/>
            <a:ext cx="2359152" cy="1371600"/>
          </a:xfrm>
          <a:prstGeom prst="roundRect">
            <a:avLst>
              <a:gd name="adj" fmla="val 12000"/>
            </a:avLst>
          </a:prstGeom>
          <a:solidFill>
            <a:srgbClr val="F2F2F2"/>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600"/>
              </a:spcAft>
            </a:pPr>
            <a:r>
              <a:rPr sz="1500" b="0" lang="ko-KR" altLang="en-US">
                <a:solidFill>
                  <a:srgbClr val="000000"/>
                </a:solidFill>
                <a:latin typeface="나눔스퀘어 Bold"/>
                <a:ea typeface="나눔스퀘어 Bold"/>
              </a:rPr>
              <a:t>생성: LTX</a:t>
            </a:r>
          </a:p>
          <a:p>
            <a:pPr eaLnBrk="0" latinLnBrk="0" algn="ctr">
              <a:spcAft>
                <a:spcPts val="100"/>
              </a:spcAft>
            </a:pPr>
            <a:r>
              <a:rPr sz="1200" b="0" lang="ko-KR" altLang="en-US">
                <a:solidFill>
                  <a:srgbClr val="595959"/>
                </a:solidFill>
                <a:latin typeface="나눔스퀘어"/>
                <a:ea typeface="나눔스퀘어"/>
              </a:rPr>
              <a:t>6 keyframe → 145 frame</a:t>
            </a:r>
          </a:p>
          <a:p>
            <a:pPr eaLnBrk="0" latinLnBrk="0" algn="ctr">
              <a:spcAft>
                <a:spcPts val="100"/>
              </a:spcAft>
            </a:pPr>
            <a:r>
              <a:rPr sz="1200" b="0" lang="ko-KR" altLang="en-US">
                <a:solidFill>
                  <a:srgbClr val="595959"/>
                </a:solidFill>
                <a:latin typeface="나눔스퀘어"/>
                <a:ea typeface="나눔스퀘어"/>
              </a:rPr>
              <a:t>24 fps, latent ×2 업스케일</a:t>
            </a:r>
          </a:p>
        </p:txBody>
      </p:sp>
      <p:cxnSp>
        <p:nvCxnSpPr>
          <p:cNvPr id="28" name="Connector 27"/>
          <p:cNvCxnSpPr/>
          <p:nvPr/>
        </p:nvCxnSpPr>
        <p:spPr>
          <a:xfrm>
            <a:off x="5923483" y="4114800"/>
            <a:ext cx="32004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261811" y="3429000"/>
            <a:ext cx="2359152" cy="137160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600"/>
              </a:spcAft>
            </a:pPr>
            <a:r>
              <a:rPr sz="1500" b="0" lang="ko-KR" altLang="en-US">
                <a:solidFill>
                  <a:srgbClr val="000000"/>
                </a:solidFill>
                <a:latin typeface="나눔스퀘어 Bold"/>
                <a:ea typeface="나눔스퀘어 Bold"/>
              </a:rPr>
              <a:t>UV 통합</a:t>
            </a:r>
          </a:p>
          <a:p>
            <a:pPr eaLnBrk="0" latinLnBrk="0" algn="ctr">
              <a:spcAft>
                <a:spcPts val="100"/>
              </a:spcAft>
            </a:pPr>
            <a:r>
              <a:rPr sz="1200" b="0" lang="ko-KR" altLang="en-US">
                <a:solidFill>
                  <a:srgbClr val="595959"/>
                </a:solidFill>
                <a:latin typeface="나눔스퀘어"/>
                <a:ea typeface="나눔스퀘어"/>
              </a:rPr>
              <a:t>face ID + barycentric</a:t>
            </a:r>
          </a:p>
          <a:p>
            <a:pPr eaLnBrk="0" latinLnBrk="0" algn="ctr">
              <a:spcAft>
                <a:spcPts val="100"/>
              </a:spcAft>
            </a:pPr>
            <a:r>
              <a:rPr sz="1200" b="0" lang="ko-KR" altLang="en-US">
                <a:solidFill>
                  <a:srgbClr val="595959"/>
                </a:solidFill>
                <a:latin typeface="나눔스퀘어"/>
                <a:ea typeface="나눔스퀘어"/>
              </a:rPr>
              <a:t>residual 다중 시점 융합</a:t>
            </a:r>
          </a:p>
          <a:p>
            <a:pPr eaLnBrk="0" latinLnBrk="0" algn="ctr">
              <a:spcAft>
                <a:spcPts val="100"/>
              </a:spcAft>
            </a:pPr>
            <a:r>
              <a:rPr sz="1200" b="0" lang="ko-KR" altLang="en-US">
                <a:solidFill>
                  <a:srgbClr val="595959"/>
                </a:solidFill>
                <a:latin typeface="나눔스퀘어"/>
                <a:ea typeface="나눔스퀘어"/>
              </a:rPr>
              <a:t>배타 owner + 이어 붙이기</a:t>
            </a:r>
          </a:p>
        </p:txBody>
      </p:sp>
      <p:cxnSp>
        <p:nvCxnSpPr>
          <p:cNvPr id="30" name="Connector 29"/>
          <p:cNvCxnSpPr/>
          <p:nvPr/>
        </p:nvCxnSpPr>
        <p:spPr>
          <a:xfrm>
            <a:off x="8639251" y="4114800"/>
            <a:ext cx="32004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977579" y="3429000"/>
            <a:ext cx="2359152" cy="1371600"/>
          </a:xfrm>
          <a:prstGeom prst="roundRect">
            <a:avLst>
              <a:gd name="adj" fmla="val 12000"/>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600"/>
              </a:spcAft>
            </a:pPr>
            <a:r>
              <a:rPr sz="1500" b="0" lang="ko-KR" altLang="en-US">
                <a:solidFill>
                  <a:srgbClr val="FFFFFF"/>
                </a:solidFill>
                <a:latin typeface="나눔스퀘어 Bold"/>
                <a:ea typeface="나눔스퀘어 Bold"/>
              </a:rPr>
              <a:t>출력</a:t>
            </a:r>
          </a:p>
          <a:p>
            <a:pPr eaLnBrk="0" latinLnBrk="0" algn="ctr">
              <a:spcAft>
                <a:spcPts val="100"/>
              </a:spcAft>
            </a:pPr>
            <a:r>
              <a:rPr sz="1200" b="0" lang="ko-KR" altLang="en-US">
                <a:solidFill>
                  <a:srgbClr val="A6A6A6"/>
                </a:solidFill>
                <a:latin typeface="나눔스퀘어"/>
                <a:ea typeface="나눔스퀘어"/>
              </a:rPr>
              <a:t>30초 UV 영상 720 frame</a:t>
            </a:r>
          </a:p>
          <a:p>
            <a:pPr eaLnBrk="0" latinLnBrk="0" algn="ctr">
              <a:spcAft>
                <a:spcPts val="100"/>
              </a:spcAft>
            </a:pPr>
            <a:r>
              <a:rPr sz="1200" b="0" lang="ko-KR" altLang="en-US">
                <a:solidFill>
                  <a:srgbClr val="A6A6A6"/>
                </a:solidFill>
                <a:latin typeface="나눔스퀘어"/>
                <a:ea typeface="나눔스퀘어"/>
              </a:rPr>
              <a:t>+ 오디오</a:t>
            </a:r>
          </a:p>
          <a:p>
            <a:pPr eaLnBrk="0" latinLnBrk="0" algn="ctr">
              <a:spcAft>
                <a:spcPts val="100"/>
              </a:spcAft>
            </a:pPr>
            <a:r>
              <a:rPr sz="1200" b="0" lang="ko-KR" altLang="en-US">
                <a:solidFill>
                  <a:srgbClr val="A6A6A6"/>
                </a:solidFill>
                <a:latin typeface="나눔스퀘어"/>
                <a:ea typeface="나눔스퀘어"/>
              </a:rPr>
              <a:t>WebGL · Unity</a:t>
            </a:r>
          </a:p>
        </p:txBody>
      </p:sp>
      <p:cxnSp>
        <p:nvCxnSpPr>
          <p:cNvPr id="32" name="Connector 31"/>
          <p:cNvCxnSpPr/>
          <p:nvPr/>
        </p:nvCxnSpPr>
        <p:spPr>
          <a:xfrm>
            <a:off x="10157155" y="2880360"/>
            <a:ext cx="0" cy="27432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2009851" y="3154680"/>
            <a:ext cx="8147304"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009851" y="3154680"/>
            <a:ext cx="0" cy="256032"/>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30275" y="4937760"/>
            <a:ext cx="10522915" cy="320040"/>
          </a:xfrm>
          <a:prstGeom prst="rect">
            <a:avLst/>
          </a:prstGeom>
          <a:noFill/>
        </p:spPr>
        <p:txBody>
          <a:bodyPr wrap="square" anchor="t" lIns="45720" rIns="45720">
            <a:noAutofit/>
          </a:bodyPr>
          <a:lstStyle/>
          <a:p>
            <a:pPr eaLnBrk="0" latinLnBrk="0" algn="l">
              <a:spcAft>
                <a:spcPts val="400"/>
              </a:spcAft>
            </a:pPr>
            <a:r>
              <a:rPr sz="1200" b="0" lang="ko-KR" altLang="en-US">
                <a:solidFill>
                  <a:srgbClr val="595959"/>
                </a:solidFill>
                <a:latin typeface="나눔스퀘어 Bold"/>
                <a:ea typeface="나눔스퀘어 Bold"/>
              </a:rPr>
              <a:t>회색</a:t>
            </a:r>
            <a:r>
              <a:rPr sz="1200" b="0" lang="ko-KR" altLang="en-US">
                <a:solidFill>
                  <a:srgbClr val="595959"/>
                </a:solidFill>
                <a:latin typeface="나눔스퀘어"/>
                <a:ea typeface="나눔스퀘어"/>
              </a:rPr>
              <a:t> = 사전학습 생성 모델 추론 (학습·fine-tuning 없음)   </a:t>
            </a:r>
            <a:r>
              <a:rPr sz="1200" b="0" lang="ko-KR" altLang="en-US">
                <a:solidFill>
                  <a:srgbClr val="595959"/>
                </a:solidFill>
                <a:latin typeface="나눔스퀘어 Bold"/>
                <a:ea typeface="나눔스퀘어 Bold"/>
              </a:rPr>
              <a:t>흰색</a:t>
            </a:r>
            <a:r>
              <a:rPr sz="1200" b="0" lang="ko-KR" altLang="en-US">
                <a:solidFill>
                  <a:srgbClr val="595959"/>
                </a:solidFill>
                <a:latin typeface="나눔스퀘어"/>
                <a:ea typeface="나눔스퀘어"/>
              </a:rPr>
              <a:t> = 결정적 처리</a:t>
            </a:r>
          </a:p>
        </p:txBody>
      </p:sp>
      <p:sp>
        <p:nvSpPr>
          <p:cNvPr id="36" name="TextBox 35"/>
          <p:cNvSpPr txBox="1"/>
          <p:nvPr/>
        </p:nvSpPr>
        <p:spPr>
          <a:xfrm>
            <a:off x="830275" y="5349240"/>
            <a:ext cx="10522915" cy="777240"/>
          </a:xfrm>
          <a:prstGeom prst="rect">
            <a:avLst/>
          </a:prstGeom>
          <a:noFill/>
        </p:spPr>
        <p:txBody>
          <a:bodyPr wrap="square" anchor="t" lIns="45720" rIns="45720">
            <a:noAutofit/>
          </a:bodyPr>
          <a:lstStyle/>
          <a:p>
            <a:pPr eaLnBrk="0" latinLnBrk="0" algn="l" marL="283464" indent="-283464">
              <a:lnSpc>
                <a:spcPct val="130000"/>
              </a:lnSpc>
              <a:spcAft>
                <a:spcPts val="400"/>
              </a:spcAft>
              <a:buFont typeface="Arial"/>
              <a:buChar char="•"/>
            </a:pPr>
            <a:r>
              <a:rPr sz="1500" b="0" lang="ko-KR" altLang="en-US">
                <a:solidFill>
                  <a:srgbClr val="000000"/>
                </a:solidFill>
                <a:latin typeface="나눔스퀘어 Bold"/>
                <a:ea typeface="나눔스퀘어 Bold"/>
              </a:rPr>
              <a:t>사람 개입  </a:t>
            </a:r>
            <a:r>
              <a:rPr sz="1500" b="0" lang="ko-KR" altLang="en-US">
                <a:solidFill>
                  <a:srgbClr val="000000"/>
                </a:solidFill>
                <a:latin typeface="나눔스퀘어"/>
                <a:ea typeface="나눔스퀘어"/>
              </a:rPr>
              <a:t>MSR 수락·병합·계층 분할·역할 수정 · 사건 brief와 prompt · 생성 후보 선택 · 최종 veto</a:t>
            </a:r>
          </a:p>
        </p:txBody>
      </p:sp>
    </p:spTree>
    <p:extLst>
      <p:ext uri="{BB962C8B-B14F-4D97-AF65-F5344CB8AC3E}">
        <p14:creationId xmlns:p14="http://schemas.microsoft.com/office/powerpoint/2010/main" val="238146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EAF35-A1FF-4994-BA27-97247018DE10}"/>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① MSR과 MSRG</a:t>
            </a:r>
          </a:p>
        </p:txBody>
      </p:sp>
      <p:sp>
        <p:nvSpPr>
          <p:cNvPr id="16" name="직선 연결선 14">
            <a:extLst>
              <a:ext uri="{FF2B5EF4-FFF2-40B4-BE49-F238E27FC236}">
                <a16:creationId xmlns:a16="http://schemas.microsoft.com/office/drawing/2014/main" id="{FC243EE9-91F5-4BEC-A544-8F6DF94C2DE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590859DF-E614-445B-B602-351B3C907AB5}"/>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a:extLst>
              <a:ext uri="{FF2B5EF4-FFF2-40B4-BE49-F238E27FC236}">
                <a16:creationId xmlns:a16="http://schemas.microsoft.com/office/drawing/2014/main" id="{006BDBBF-36AD-4254-A150-13F2B6F37F9D}"/>
              </a:ext>
            </a:extLst>
          </p:cNvPr>
          <p:cNvSpPr>
            <a:spLocks noGrp="1"/>
          </p:cNvSpPr>
          <p:nvPr/>
        </p:nvSpPr>
        <p:spPr>
          <a:xfrm>
            <a:off x="830275" y="1481328"/>
            <a:ext cx="5394960" cy="2377440"/>
          </a:xfrm>
          <a:prstGeom prst="rect">
            <a:avLst/>
          </a:prstGeom>
          <a:noFill/>
        </p:spPr>
        <p:txBody>
          <a:bodyPr wrap="square" lIns="45720" rIns="45720" anchor="t">
            <a:noAutofit/>
          </a:bodyPr>
          <a:lstStyle/>
          <a:p>
            <a:pPr marL="283464" indent="-283464" algn="l" eaLnBrk="0" latinLnBrk="0">
              <a:lnSpc>
                <a:spcPct val="150000"/>
              </a:lnSpc>
              <a:spcAft>
                <a:spcPts val="0"/>
              </a:spcAft>
              <a:buFont typeface="Arial"/>
              <a:buChar char="•"/>
            </a:pPr>
            <a:r>
              <a:rPr sz="1600" b="0" lang="ko-KR" altLang="en-US">
                <a:solidFill>
                  <a:srgbClr val="000000"/>
                </a:solidFill>
                <a:latin typeface="나눔스퀘어 Bold"/>
                <a:ea typeface="나눔스퀘어 Bold"/>
                <a:cs typeface="나눔스퀘어 Bold"/>
              </a:rPr>
              <a:t>MSR: 정답 label이 아니라 저작 단위</a:t>
            </a:r>
          </a:p>
          <a:p>
            <a:pPr marL="566928" indent="-228600" algn="l" eaLnBrk="0" latinLnBrk="0">
              <a:lnSpc>
                <a:spcPct val="150000"/>
              </a:lnSpc>
              <a:spcAft>
                <a:spcPts val="0"/>
              </a:spcAft>
              <a:buFont typeface="Arial"/>
              <a:buChar char="–"/>
            </a:pPr>
            <a:r>
              <a:rPr sz="1600" b="0" lang="ko-KR" altLang="en-US">
                <a:solidFill>
                  <a:srgbClr val="000000"/>
                </a:solidFill>
                <a:latin typeface="나눔스퀘어"/>
                <a:ea typeface="나눔스퀘어"/>
                <a:cs typeface="나눔스퀘어"/>
              </a:rPr>
              <a:t>근거: 의미, 기능, 구조, 작가 지정</a:t>
            </a:r>
          </a:p>
          <a:p>
            <a:pPr marL="566928" indent="-228600" algn="l" eaLnBrk="0" latinLnBrk="0">
              <a:lnSpc>
                <a:spcPct val="150000"/>
              </a:lnSpc>
              <a:spcAft>
                <a:spcPts val="0"/>
              </a:spcAft>
              <a:buFont typeface="Arial"/>
              <a:buChar char="–"/>
            </a:pPr>
            <a:r>
              <a:rPr sz="1600" b="0" lang="ko-KR" altLang="en-US">
                <a:solidFill>
                  <a:srgbClr val="000000"/>
                </a:solidFill>
                <a:latin typeface="나눔스퀘어"/>
                <a:ea typeface="나눔스퀘어"/>
                <a:cs typeface="나눔스퀘어"/>
              </a:rPr>
              <a:t>영역마다 core, transition band, halo, confidence</a:t>
            </a:r>
          </a:p>
          <a:p>
            <a:pPr marL="283464" indent="-283464" algn="l" eaLnBrk="0" latinLnBrk="0">
              <a:lnSpc>
                <a:spcPct val="150000"/>
              </a:lnSpc>
              <a:spcAft>
                <a:spcPts val="0"/>
              </a:spcAft>
              <a:buFont typeface="Arial"/>
              <a:buChar char="•"/>
            </a:pPr>
            <a:r>
              <a:rPr sz="1600" b="0" lang="ko-KR" altLang="en-US">
                <a:solidFill>
                  <a:srgbClr val="000000"/>
                </a:solidFill>
                <a:latin typeface="나눔스퀘어 Bold"/>
                <a:ea typeface="나눔스퀘어 Bold"/>
                <a:cs typeface="나눔스퀘어 Bold"/>
              </a:rPr>
              <a:t>MSRG: 영역을 노드로, 계층·인접·전달 관계를 엣지로</a:t>
            </a:r>
          </a:p>
        </p:txBody>
      </p:sp>
      <p:sp>
        <p:nvSpPr>
          <p:cNvPr id="19" name="그림 자리: MSR 예시 (TheRock 영역 분할 등)">
            <a:extLst>
              <a:ext uri="{FF2B5EF4-FFF2-40B4-BE49-F238E27FC236}">
                <a16:creationId xmlns:a16="http://schemas.microsoft.com/office/drawing/2014/main" id="{FB62C7B8-D882-4A44-9B9C-9105CB0FAE43}"/>
              </a:ext>
            </a:extLst>
          </p:cNvPr>
          <p:cNvSpPr>
            <a:spLocks noGrp="1"/>
          </p:cNvSpPr>
          <p:nvPr/>
        </p:nvSpPr>
        <p:spPr>
          <a:xfrm>
            <a:off x="830275" y="3931920"/>
            <a:ext cx="5394960" cy="2148840"/>
          </a:xfrm>
          <a:prstGeom prst="roundRect">
            <a:avLst>
              <a:gd name="adj" fmla="val 2000"/>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100" b="0" lang="ko-KR" altLang="en-US">
                <a:solidFill>
                  <a:srgbClr val="595959"/>
                </a:solidFill>
                <a:latin typeface="나눔스퀘어 Bold"/>
                <a:ea typeface="나눔스퀘어 Bold"/>
                <a:cs typeface="나눔스퀘어 Bold"/>
              </a:rPr>
              <a:t>[그림]</a:t>
            </a:r>
          </a:p>
          <a:p>
            <a:pPr algn="ctr" eaLnBrk="0" latinLnBrk="0">
              <a:spcAft>
                <a:spcPts val="200"/>
              </a:spcAft>
              <a:buNone/>
            </a:pPr>
            <a:r>
              <a:rPr sz="1100" b="0" lang="ko-KR" altLang="en-US">
                <a:solidFill>
                  <a:srgbClr val="595959"/>
                </a:solidFill>
                <a:latin typeface="나눔스퀘어"/>
                <a:ea typeface="나눔스퀘어"/>
                <a:cs typeface="나눔스퀘어"/>
              </a:rPr>
              <a:t>MSR 예시 (TheRock 영역 분할 등)</a:t>
            </a:r>
          </a:p>
        </p:txBody>
      </p:sp>
      <p:graphicFrame>
        <p:nvGraphicFramePr>
          <p:cNvPr id="30" name="Table 19"/>
          <p:cNvGraphicFramePr/>
          <p:nvPr/>
        </p:nvGraphicFramePr>
        <p:xfrm>
          <a:off x="6492240" y="1600200"/>
          <a:ext cx="4846320" cy="3712464"/>
        </p:xfrm>
        <a:graphic>
          <a:graphicData uri="http://schemas.openxmlformats.org/drawingml/2006/table">
            <a:tbl>
              <a:tblPr firstRow="1">
                <a:tableStyleId>{2D5ABB26-0587-4C30-8999-92F81FD0307C}</a:tableStyleId>
              </a:tblPr>
              <a:tblGrid>
                <a:gridCol w="132588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tblGrid>
              <a:tr h="530352">
                <a:tc>
                  <a:txBody>
                    <a:bodyPr/>
                    <a:lstStyle/>
                    <a:p>
                      <a:pPr algn="l" eaLnBrk="0" latinLnBrk="0">
                        <a:buNone/>
                      </a:pPr>
                      <a:r>
                        <a:rPr sz="1400" b="0" lang="ko-KR" altLang="en-US">
                          <a:solidFill>
                            <a:srgbClr val="000000"/>
                          </a:solidFill>
                          <a:latin typeface="나눔스퀘어 Bold"/>
                          <a:ea typeface="나눔스퀘어 Bold"/>
                          <a:cs typeface="나눔스퀘어 Bold"/>
                        </a:rPr>
                        <a:t>역할</a:t>
                      </a:r>
                    </a:p>
                  </a:txBody>
                  <a:tcPr marL="73152" marR="73152" marT="27432" marB="27432" anchor="ctr">
                    <a:lnL w="0">
                      <a:noFill/>
                    </a:lnL>
                    <a:lnR w="0">
                      <a:noFill/>
                    </a:lnR>
                    <a:lnT w="19050">
                      <a:solidFill>
                        <a:srgbClr val="000000"/>
                      </a:solidFill>
                    </a:lnT>
                    <a:lnB w="12700">
                      <a:solidFill>
                        <a:srgbClr val="000000"/>
                      </a:solidFill>
                    </a:lnB>
                    <a:noFill/>
                  </a:tcPr>
                </a:tc>
                <a:tc>
                  <a:txBody>
                    <a:bodyPr/>
                    <a:lstStyle/>
                    <a:p>
                      <a:pPr algn="l" eaLnBrk="0" latinLnBrk="0">
                        <a:buNone/>
                      </a:pPr>
                      <a:r>
                        <a:rPr sz="1400" b="0" lang="ko-KR" altLang="en-US">
                          <a:solidFill>
                            <a:srgbClr val="000000"/>
                          </a:solidFill>
                          <a:latin typeface="나눔스퀘어 Bold"/>
                          <a:ea typeface="나눔스퀘어 Bold"/>
                          <a:cs typeface="나눔스퀘어 Bold"/>
                        </a:rPr>
                        <a:t>표면에서 하는 일</a:t>
                      </a:r>
                    </a:p>
                  </a:txBody>
                  <a:tcPr marL="73152" marR="73152" marT="27432" marB="27432" anchor="ctr">
                    <a:lnL w="0">
                      <a:noFill/>
                    </a:lnL>
                    <a:lnR w="0">
                      <a:noFill/>
                    </a:lnR>
                    <a:lnT w="19050">
                      <a:solidFill>
                        <a:srgbClr val="000000"/>
                      </a:solidFill>
                    </a:lnT>
                    <a:lnB w="12700">
                      <a:solidFill>
                        <a:srgbClr val="000000"/>
                      </a:solidFill>
                    </a:lnB>
                    <a:noFill/>
                  </a:tcPr>
                </a:tc>
                <a:extLst>
                  <a:ext uri="{0D108BD9-81ED-4DB2-BD59-A6C34878D82A}">
                    <a16:rowId xmlns:a16="http://schemas.microsoft.com/office/drawing/2014/main" val="10000"/>
                  </a:ext>
                </a:extLst>
              </a:tr>
              <a:tr h="530352">
                <a:tc>
                  <a:txBody>
                    <a:bodyPr/>
                    <a:lstStyle/>
                    <a:p>
                      <a:pPr algn="l" eaLnBrk="0" latinLnBrk="0">
                        <a:buNone/>
                      </a:pPr>
                      <a:r>
                        <a:rPr sz="1400" b="0" lang="ko-KR" altLang="en-US">
                          <a:solidFill>
                            <a:srgbClr val="000000"/>
                          </a:solidFill>
                          <a:latin typeface="나눔스퀘어 Bold"/>
                          <a:ea typeface="나눔스퀘어 Bold"/>
                          <a:cs typeface="나눔스퀘어 Bold"/>
                        </a:rPr>
                        <a:t>Source</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tc>
                  <a:txBody>
                    <a:bodyPr/>
                    <a:lstStyle/>
                    <a:p>
                      <a:pPr algn="l" eaLnBrk="0" latinLnBrk="0">
                        <a:buNone/>
                      </a:pPr>
                      <a:r>
                        <a:rPr sz="1400" b="0" lang="ko-KR" altLang="en-US">
                          <a:solidFill>
                            <a:srgbClr val="000000"/>
                          </a:solidFill>
                          <a:latin typeface="나눔스퀘어"/>
                          <a:ea typeface="나눔스퀘어"/>
                          <a:cs typeface="나눔스퀘어"/>
                        </a:rPr>
                        <a:t>오디오·생성 사건이 시작되는 위치</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1"/>
                  </a:ext>
                </a:extLst>
              </a:tr>
              <a:tr h="530352">
                <a:tc>
                  <a:txBody>
                    <a:bodyPr/>
                    <a:lstStyle/>
                    <a:p>
                      <a:pPr algn="l" eaLnBrk="0" latinLnBrk="0">
                        <a:buNone/>
                      </a:pPr>
                      <a:r>
                        <a:rPr sz="1400" b="0" lang="ko-KR" altLang="en-US">
                          <a:solidFill>
                            <a:srgbClr val="000000"/>
                          </a:solidFill>
                          <a:latin typeface="나눔스퀘어 Bold"/>
                          <a:ea typeface="나눔스퀘어 Bold"/>
                          <a:cs typeface="나눔스퀘어 Bold"/>
                        </a:rPr>
                        <a:t>Path</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400" b="0" lang="ko-KR" altLang="en-US">
                          <a:solidFill>
                            <a:srgbClr val="000000"/>
                          </a:solidFill>
                          <a:latin typeface="나눔스퀘어"/>
                          <a:ea typeface="나눔스퀘어"/>
                          <a:cs typeface="나눔스퀘어"/>
                        </a:rPr>
                        <a:t>변화가 표면을 따라 이동하는 경로</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2"/>
                  </a:ext>
                </a:extLst>
              </a:tr>
              <a:tr h="530352">
                <a:tc>
                  <a:txBody>
                    <a:bodyPr/>
                    <a:lstStyle/>
                    <a:p>
                      <a:pPr algn="l" eaLnBrk="0" latinLnBrk="0">
                        <a:buNone/>
                      </a:pPr>
                      <a:r>
                        <a:rPr sz="1400" b="0" lang="ko-KR" altLang="en-US">
                          <a:solidFill>
                            <a:srgbClr val="000000"/>
                          </a:solidFill>
                          <a:latin typeface="나눔스퀘어 Bold"/>
                          <a:ea typeface="나눔스퀘어 Bold"/>
                          <a:cs typeface="나눔스퀘어 Bold"/>
                        </a:rPr>
                        <a:t>Barrier</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400" b="0" lang="ko-KR" altLang="en-US">
                          <a:solidFill>
                            <a:srgbClr val="000000"/>
                          </a:solidFill>
                          <a:latin typeface="나눔스퀘어"/>
                          <a:ea typeface="나눔스퀘어"/>
                          <a:cs typeface="나눔스퀘어"/>
                        </a:rPr>
                        <a:t>영역 사이 전달을 줄이거나 방향을 바꿈</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3"/>
                  </a:ext>
                </a:extLst>
              </a:tr>
              <a:tr h="530352">
                <a:tc>
                  <a:txBody>
                    <a:bodyPr/>
                    <a:lstStyle/>
                    <a:p>
                      <a:pPr algn="l" eaLnBrk="0" latinLnBrk="0">
                        <a:buNone/>
                      </a:pPr>
                      <a:r>
                        <a:rPr sz="1400" b="0" lang="ko-KR" altLang="en-US">
                          <a:solidFill>
                            <a:srgbClr val="000000"/>
                          </a:solidFill>
                          <a:latin typeface="나눔스퀘어 Bold"/>
                          <a:ea typeface="나눔스퀘어 Bold"/>
                          <a:cs typeface="나눔스퀘어 Bold"/>
                        </a:rPr>
                        <a:t>Reservoir</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400" b="0" lang="ko-KR" altLang="en-US">
                          <a:solidFill>
                            <a:srgbClr val="000000"/>
                          </a:solidFill>
                          <a:latin typeface="나눔스퀘어"/>
                          <a:ea typeface="나눔스퀘어"/>
                          <a:cs typeface="나눔스퀘어"/>
                        </a:rPr>
                        <a:t>입력을 축적하고 느리게 방출</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4"/>
                  </a:ext>
                </a:extLst>
              </a:tr>
              <a:tr h="530352">
                <a:tc>
                  <a:txBody>
                    <a:bodyPr/>
                    <a:lstStyle/>
                    <a:p>
                      <a:pPr algn="l" eaLnBrk="0" latinLnBrk="0">
                        <a:buNone/>
                      </a:pPr>
                      <a:r>
                        <a:rPr sz="1400" b="0" lang="ko-KR" altLang="en-US">
                          <a:solidFill>
                            <a:srgbClr val="000000"/>
                          </a:solidFill>
                          <a:latin typeface="나눔스퀘어 Bold"/>
                          <a:ea typeface="나눔스퀘어 Bold"/>
                          <a:cs typeface="나눔스퀘어 Bold"/>
                        </a:rPr>
                        <a:t>Modifier</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400" b="0" lang="ko-KR" altLang="en-US">
                          <a:solidFill>
                            <a:srgbClr val="000000"/>
                          </a:solidFill>
                          <a:latin typeface="나눔스퀘어"/>
                          <a:ea typeface="나눔스퀘어"/>
                          <a:cs typeface="나눔스퀘어"/>
                        </a:rPr>
                        <a:t>재질 조직, 위상, 방향성을 바꿈</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5"/>
                  </a:ext>
                </a:extLst>
              </a:tr>
              <a:tr h="530352">
                <a:tc>
                  <a:txBody>
                    <a:bodyPr/>
                    <a:lstStyle/>
                    <a:p>
                      <a:pPr algn="l" eaLnBrk="0" latinLnBrk="0">
                        <a:buNone/>
                      </a:pPr>
                      <a:r>
                        <a:rPr sz="1400" b="0" lang="ko-KR" altLang="en-US">
                          <a:solidFill>
                            <a:srgbClr val="000000"/>
                          </a:solidFill>
                          <a:latin typeface="나눔스퀘어 Bold"/>
                          <a:ea typeface="나눔스퀘어 Bold"/>
                          <a:cs typeface="나눔스퀘어 Bold"/>
                        </a:rPr>
                        <a:t>Sink</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tc>
                  <a:txBody>
                    <a:bodyPr/>
                    <a:lstStyle/>
                    <a:p>
                      <a:pPr algn="l" eaLnBrk="0" latinLnBrk="0">
                        <a:buNone/>
                      </a:pPr>
                      <a:r>
                        <a:rPr sz="1400" b="0" lang="ko-KR" altLang="en-US">
                          <a:solidFill>
                            <a:srgbClr val="000000"/>
                          </a:solidFill>
                          <a:latin typeface="나눔스퀘어"/>
                          <a:ea typeface="나눔스퀘어"/>
                          <a:cs typeface="나눔스퀘어"/>
                        </a:rPr>
                        <a:t>축적 상태를 소멸·배출</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6"/>
                  </a:ext>
                </a:extLst>
              </a:tr>
            </a:tbl>
          </a:graphicData>
        </a:graphic>
      </p:graphicFrame>
      <p:sp>
        <p:nvSpPr>
          <p:cNvPr id="21" name="TextBox 20">
            <a:extLst>
              <a:ext uri="{FF2B5EF4-FFF2-40B4-BE49-F238E27FC236}">
                <a16:creationId xmlns:a16="http://schemas.microsoft.com/office/drawing/2014/main" id="{25F07DBB-7EB8-47DD-A8E8-C2E0F229BDB1}"/>
              </a:ext>
            </a:extLst>
          </p:cNvPr>
          <p:cNvSpPr>
            <a:spLocks noGrp="1"/>
          </p:cNvSpPr>
          <p:nvPr/>
        </p:nvSpPr>
        <p:spPr>
          <a:xfrm>
            <a:off x="6492240" y="5440680"/>
            <a:ext cx="4846320" cy="548640"/>
          </a:xfrm>
          <a:prstGeom prst="rect">
            <a:avLst/>
          </a:prstGeom>
          <a:noFill/>
        </p:spPr>
        <p:txBody>
          <a:bodyPr wrap="square" lIns="45720" rIns="45720" anchor="t">
            <a:noAutofit/>
          </a:bodyPr>
          <a:lstStyle/>
          <a:p>
            <a:pPr algn="l" eaLnBrk="0" latinLnBrk="0">
              <a:spcAft>
                <a:spcPts val="400"/>
              </a:spcAft>
              <a:buNone/>
            </a:pPr>
            <a:r>
              <a:rPr sz="1200" b="0" lang="ko-KR" altLang="en-US">
                <a:solidFill>
                  <a:srgbClr val="595959"/>
                </a:solidFill>
                <a:latin typeface="나눔스퀘어"/>
                <a:ea typeface="나눔스퀘어"/>
                <a:cs typeface="나눔스퀘어"/>
              </a:rPr>
              <a:t>역할은 영역 기하 특징의 가중합 → softmax(T=0.22)로 자동 제안, 편집기에서 수정·승인 (식: 부록 E). 역할과 계수는 본 연구의 설계 가설</a:t>
            </a:r>
          </a:p>
        </p:txBody>
      </p:sp>
      <p:sp>
        <p:nvSpPr>
          <p:cNvPr id="23" name="직사각형 22">
            <a:extLst>
              <a:ext uri="{FF2B5EF4-FFF2-40B4-BE49-F238E27FC236}">
                <a16:creationId xmlns:a16="http://schemas.microsoft.com/office/drawing/2014/main" id="{14280416-CAE8-4FAD-AE77-05A3D5A10D1D}"/>
              </a:ext>
            </a:extLst>
          </p:cNvPr>
          <p:cNvSpPr>
            <a:spLocks noGrp="1"/>
          </p:cNvSpPr>
          <p:nvPr/>
        </p:nvSpPr>
        <p:spPr>
          <a:xfrm>
            <a:off x="830294" y="3931920"/>
            <a:ext cx="5394960" cy="2148840"/>
          </a:xfrm>
          <a:prstGeom prst="rect">
            <a:avLst/>
          </a:prstGeom>
          <a:solidFill>
            <a:srgbClr val="111820"/>
          </a:solidFill>
          <a:ln w="9525">
            <a:solidFill>
              <a:srgbClr val="D0D0D0"/>
            </a:solidFill>
          </a:ln>
        </p:spPr>
      </p:sp>
      <p:pic>
        <p:nvPicPr>
          <p:cNvPr id="33" name="그림 32"/>
          <p:cNvPicPr>
            <a:picLocks noChangeAspect="1"/>
          </p:cNvPicPr>
          <p:nvPr/>
        </p:nvPicPr>
        <p:blipFill>
          <a:blip r:embed="rId3"/>
          <a:srcRect l="8156" r="8156"/>
          <a:stretch>
            <a:fillRect/>
          </a:stretch>
        </p:blipFill>
        <p:spPr>
          <a:xfrm>
            <a:off x="830294" y="3931920"/>
            <a:ext cx="5394960" cy="2148840"/>
          </a:xfrm>
          <a:prstGeom prst="rect">
            <a:avLst/>
          </a:prstGeom>
        </p:spPr>
      </p:pic>
    </p:spTree>
    <p:extLst>
      <p:ext uri="{BB962C8B-B14F-4D97-AF65-F5344CB8AC3E}">
        <p14:creationId xmlns:p14="http://schemas.microsoft.com/office/powerpoint/2010/main" val="718075981"/>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① MSR 제안 방법</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5989320" cy="2926080"/>
          </a:xfrm>
          <a:prstGeom prst="rect">
            <a:avLst/>
          </a:prstGeom>
          <a:noFill/>
        </p:spPr>
        <p:txBody>
          <a:bodyPr wrap="square" anchor="t" lIns="45720" rIns="45720">
            <a:noAutofit/>
          </a:bodyPr>
          <a:lstStyle/>
          <a:p>
            <a:pPr eaLnBrk="0" latinLnBrk="0" algn="l" marL="329184" indent="-329184">
              <a:spcAft>
                <a:spcPts val="100"/>
              </a:spcAft>
              <a:buAutoNum type="arabicPeriod"/>
            </a:pPr>
            <a:r>
              <a:rPr sz="1500" b="0" lang="ko-KR" altLang="en-US">
                <a:solidFill>
                  <a:srgbClr val="000000"/>
                </a:solidFill>
                <a:latin typeface="나눔스퀘어 Bold"/>
                <a:ea typeface="나눔스퀘어 Bold"/>
              </a:rPr>
              <a:t>PartField 표면 특징</a:t>
            </a:r>
          </a:p>
          <a:p>
            <a:pPr eaLnBrk="0" latinLnBrk="0" algn="l" marL="283464" indent="-283464">
              <a:spcAft>
                <a:spcPts val="900"/>
              </a:spcAft>
              <a:buFont typeface="Arial"/>
              <a:buChar char=" "/>
            </a:pPr>
            <a:r>
              <a:rPr sz="1250" b="0" lang="ko-KR" altLang="en-US">
                <a:solidFill>
                  <a:srgbClr val="595959"/>
                </a:solidFill>
                <a:latin typeface="나눔스퀘어"/>
                <a:ea typeface="나눔스퀘어"/>
              </a:rPr>
              <a:t>원본 face마다 448-D feature, L2 정규화</a:t>
            </a:r>
          </a:p>
          <a:p>
            <a:pPr eaLnBrk="0" latinLnBrk="0" algn="l" marL="329184" indent="-329184">
              <a:spcAft>
                <a:spcPts val="100"/>
              </a:spcAft>
              <a:buAutoNum type="arabicPeriod" startAt="2"/>
            </a:pPr>
            <a:r>
              <a:rPr sz="1500" b="0" lang="ko-KR" altLang="en-US">
                <a:solidFill>
                  <a:srgbClr val="000000"/>
                </a:solidFill>
                <a:latin typeface="나눔스퀘어 Bold"/>
                <a:ea typeface="나눔스퀘어 Bold"/>
              </a:rPr>
              <a:t>계층을 한 번에</a:t>
            </a:r>
          </a:p>
          <a:p>
            <a:pPr eaLnBrk="0" latinLnBrk="0" algn="l" marL="283464" indent="-283464">
              <a:spcAft>
                <a:spcPts val="900"/>
              </a:spcAft>
              <a:buFont typeface="Arial"/>
              <a:buChar char=" "/>
            </a:pPr>
            <a:r>
              <a:rPr sz="1250" b="0" lang="ko-KR" altLang="en-US">
                <a:solidFill>
                  <a:srgbClr val="595959"/>
                </a:solidFill>
                <a:latin typeface="나눔스퀘어"/>
                <a:ea typeface="나눔스퀘어"/>
              </a:rPr>
              <a:t>face 인접 제약 agglomerative clustering 한 번 → 전체 binary hierarchy</a:t>
            </a:r>
          </a:p>
          <a:p>
            <a:pPr eaLnBrk="0" latinLnBrk="0" algn="l" marL="329184" indent="-329184">
              <a:spcAft>
                <a:spcPts val="100"/>
              </a:spcAft>
              <a:buAutoNum type="arabicPeriod" startAt="3"/>
            </a:pPr>
            <a:r>
              <a:rPr sz="1500" b="0" lang="ko-KR" altLang="en-US">
                <a:solidFill>
                  <a:srgbClr val="000000"/>
                </a:solidFill>
                <a:latin typeface="나눔스퀘어 Bold"/>
                <a:ea typeface="나눔스퀘어 Bold"/>
              </a:rPr>
              <a:t>후보 예산 B ∈ {4, 8, 16, 32}</a:t>
            </a:r>
          </a:p>
          <a:p>
            <a:pPr eaLnBrk="0" latinLnBrk="0" algn="l" marL="283464" indent="-283464">
              <a:spcAft>
                <a:spcPts val="900"/>
              </a:spcAft>
              <a:buFont typeface="Arial"/>
              <a:buChar char=" "/>
            </a:pPr>
            <a:r>
              <a:rPr sz="1250" b="0" lang="ko-KR" altLang="en-US">
                <a:solidFill>
                  <a:srgbClr val="595959"/>
                </a:solidFill>
                <a:latin typeface="나눔스퀘어"/>
                <a:ea typeface="나눔스퀘어"/>
              </a:rPr>
              <a:t>coarse parent를 B/2까지 먼저, 후보 = 한 영역 또는 두 영역 합집합</a:t>
            </a:r>
          </a:p>
          <a:p>
            <a:pPr eaLnBrk="0" latinLnBrk="0" algn="l" marL="329184" indent="-329184">
              <a:spcAft>
                <a:spcPts val="100"/>
              </a:spcAft>
              <a:buAutoNum type="arabicPeriod" startAt="4"/>
            </a:pPr>
            <a:r>
              <a:rPr sz="1500" b="0" lang="ko-KR" altLang="en-US">
                <a:solidFill>
                  <a:srgbClr val="000000"/>
                </a:solidFill>
                <a:latin typeface="나눔스퀘어 Bold"/>
                <a:ea typeface="나눔스퀘어 Bold"/>
              </a:rPr>
              <a:t>다중 시점 관측으로 선택</a:t>
            </a:r>
          </a:p>
          <a:p>
            <a:pPr eaLnBrk="0" latinLnBrk="0" algn="l" marL="283464" indent="-283464">
              <a:spcAft>
                <a:spcPts val="0"/>
              </a:spcAft>
              <a:buFont typeface="Arial"/>
              <a:buChar char=" "/>
            </a:pPr>
            <a:r>
              <a:rPr sz="1250" b="0" lang="ko-KR" altLang="en-US">
                <a:solidFill>
                  <a:srgbClr val="595959"/>
                </a:solidFill>
                <a:latin typeface="나눔스퀘어"/>
                <a:ea typeface="나눔스퀘어"/>
              </a:rPr>
              <a:t>24시점 SAM2 격자 + DINO(부위어 36개)·SAM2</a:t>
            </a:r>
          </a:p>
          <a:p>
            <a:pPr eaLnBrk="0" latinLnBrk="0" algn="l" marL="283464" indent="-283464">
              <a:spcAft>
                <a:spcPts val="900"/>
              </a:spcAft>
              <a:buFont typeface="Arial"/>
              <a:buChar char=" "/>
            </a:pPr>
            <a:r>
              <a:rPr sz="1250" b="0" lang="ko-KR" altLang="en-US">
                <a:solidFill>
                  <a:srgbClr val="595959"/>
                </a:solidFill>
                <a:latin typeface="나눔스퀘어"/>
                <a:ea typeface="나눔스퀘어"/>
              </a:rPr>
              <a:t>fit ≥ 0.6이고 이득이 있을 때만 greedy 추가</a:t>
            </a:r>
          </a:p>
        </p:txBody>
      </p:sp>
      <p:sp>
        <p:nvSpPr>
          <p:cNvPr id="19" name="Rounded Rectangle 18"/>
          <p:cNvSpPr/>
          <p:nvPr/>
        </p:nvSpPr>
        <p:spPr>
          <a:xfrm>
            <a:off x="830275" y="4526280"/>
            <a:ext cx="5989320" cy="9601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noAutofit/>
          </a:bodyPr>
          <a:lstStyle/>
          <a:p>
            <a:pPr algn="l" eaLnBrk="0" latinLnBrk="0">
              <a:spcAft>
                <a:spcPts val="300"/>
              </a:spcAft>
            </a:pPr>
            <a:r>
              <a:rPr sz="1400" b="0" lang="ko-KR" altLang="en-US">
                <a:solidFill>
                  <a:srgbClr val="000000"/>
                </a:solidFill>
                <a:latin typeface="나눔스퀘어 Bold"/>
                <a:ea typeface="나눔스퀘어 Bold"/>
              </a:rPr>
              <a:t>fit_r(S) = q_r · Σ_S h_rf / (Σ_all h_rf + Σ_S v_rf − Σ_S h_rf)</a:t>
            </a:r>
          </a:p>
          <a:p>
            <a:pPr eaLnBrk="0" latinLnBrk="0" algn="l">
              <a:spcAft>
                <a:spcPts val="200"/>
              </a:spcAft>
            </a:pPr>
            <a:r>
              <a:rPr sz="1200" b="0" lang="ko-KR" altLang="en-US">
                <a:solidFill>
                  <a:srgbClr val="595959"/>
                </a:solidFill>
                <a:latin typeface="나눔스퀘어"/>
                <a:ea typeface="나눔스퀘어"/>
              </a:rPr>
              <a:t>h: 관측 r의 mask에 든 정도, v: 보이는 정도, q: 관측 품질 → 관측 mask와 후보 S의 IoU</a:t>
            </a:r>
          </a:p>
        </p:txBody>
      </p:sp>
      <p:sp>
        <p:nvSpPr>
          <p:cNvPr id="20" name="TextBox 19"/>
          <p:cNvSpPr txBox="1"/>
          <p:nvPr/>
        </p:nvSpPr>
        <p:spPr>
          <a:xfrm>
            <a:off x="830275" y="5596128"/>
            <a:ext cx="5989320" cy="548640"/>
          </a:xfrm>
          <a:prstGeom prst="rect">
            <a:avLst/>
          </a:prstGeom>
          <a:noFill/>
        </p:spPr>
        <p:txBody>
          <a:bodyPr wrap="square" anchor="t" lIns="45720" rIns="45720">
            <a:noAutofit/>
          </a:bodyPr>
          <a:lstStyle/>
          <a:p>
            <a:pPr eaLnBrk="0" latinLnBrk="0" algn="l">
              <a:spcAft>
                <a:spcPts val="400"/>
              </a:spcAft>
            </a:pPr>
            <a:r>
              <a:rPr sz="1300" b="0" lang="ko-KR" altLang="en-US">
                <a:solidFill>
                  <a:srgbClr val="000000"/>
                </a:solidFill>
                <a:latin typeface="나눔스퀘어 Bold"/>
                <a:ea typeface="나눔스퀘어 Bold"/>
              </a:rPr>
              <a:t>승인 후 soft field  </a:t>
            </a:r>
            <a:r>
              <a:rPr sz="1300" b="0" lang="ko-KR" altLang="en-US">
                <a:solidFill>
                  <a:srgbClr val="000000"/>
                </a:solidFill>
                <a:latin typeface="나눔스퀘어"/>
                <a:ea typeface="나눔스퀘어"/>
              </a:rPr>
              <a:t>core · transition band(3 step) · halo(12 step, exp(−d/3.6))</a:t>
            </a:r>
          </a:p>
        </p:txBody>
      </p:sp>
      <p:pic>
        <p:nvPicPr>
          <p:cNvPr id="21" name="Picture 20" descr="02_msr_regions_24.png"/>
          <p:cNvPicPr>
            <a:picLocks noChangeAspect="1"/>
          </p:cNvPicPr>
          <p:nvPr/>
        </p:nvPicPr>
        <p:blipFill>
          <a:blip r:embed="rId3"/>
          <a:stretch>
            <a:fillRect/>
          </a:stretch>
        </p:blipFill>
        <p:spPr>
          <a:xfrm>
            <a:off x="7086600" y="1554480"/>
            <a:ext cx="4251960" cy="1768882"/>
          </a:xfrm>
          <a:prstGeom prst="rect">
            <a:avLst/>
          </a:prstGeom>
        </p:spPr>
      </p:pic>
      <p:sp>
        <p:nvSpPr>
          <p:cNvPr id="22" name="TextBox 21"/>
          <p:cNvSpPr txBox="1"/>
          <p:nvPr/>
        </p:nvSpPr>
        <p:spPr>
          <a:xfrm>
            <a:off x="7086600" y="3337560"/>
            <a:ext cx="4251960" cy="274320"/>
          </a:xfrm>
          <a:prstGeom prst="rect">
            <a:avLst/>
          </a:prstGeom>
          <a:noFill/>
        </p:spPr>
        <p:txBody>
          <a:bodyPr wrap="square" anchor="t" lIns="45720" rIns="45720">
            <a:noAutofit/>
          </a:bodyPr>
          <a:lstStyle/>
          <a:p>
            <a:pPr eaLnBrk="0" latinLnBrk="0" algn="ctr">
              <a:spcAft>
                <a:spcPts val="400"/>
              </a:spcAft>
            </a:pPr>
            <a:r>
              <a:rPr sz="1100" b="0" lang="ko-KR" altLang="en-US">
                <a:solidFill>
                  <a:srgbClr val="595959"/>
                </a:solidFill>
                <a:latin typeface="나눔스퀘어"/>
                <a:ea typeface="나눔스퀘어"/>
              </a:rPr>
              <a:t>영역 제안 (24시점)</a:t>
            </a:r>
          </a:p>
        </p:txBody>
      </p:sp>
      <p:pic>
        <p:nvPicPr>
          <p:cNvPr id="23" name="Picture 22" descr="03_msr_roles_24.png"/>
          <p:cNvPicPr>
            <a:picLocks noChangeAspect="1"/>
          </p:cNvPicPr>
          <p:nvPr/>
        </p:nvPicPr>
        <p:blipFill>
          <a:blip r:embed="rId4"/>
          <a:stretch>
            <a:fillRect/>
          </a:stretch>
        </p:blipFill>
        <p:spPr>
          <a:xfrm>
            <a:off x="7086600" y="3703320"/>
            <a:ext cx="4251960" cy="1768882"/>
          </a:xfrm>
          <a:prstGeom prst="rect">
            <a:avLst/>
          </a:prstGeom>
        </p:spPr>
      </p:pic>
      <p:sp>
        <p:nvSpPr>
          <p:cNvPr id="24" name="TextBox 23"/>
          <p:cNvSpPr txBox="1"/>
          <p:nvPr/>
        </p:nvSpPr>
        <p:spPr>
          <a:xfrm>
            <a:off x="7086600" y="5486400"/>
            <a:ext cx="4251960" cy="274320"/>
          </a:xfrm>
          <a:prstGeom prst="rect">
            <a:avLst/>
          </a:prstGeom>
          <a:noFill/>
        </p:spPr>
        <p:txBody>
          <a:bodyPr wrap="square" anchor="t" lIns="45720" rIns="45720">
            <a:noAutofit/>
          </a:bodyPr>
          <a:lstStyle/>
          <a:p>
            <a:pPr eaLnBrk="0" latinLnBrk="0" algn="ctr">
              <a:spcAft>
                <a:spcPts val="400"/>
              </a:spcAft>
            </a:pPr>
            <a:r>
              <a:rPr sz="1100" b="0" lang="ko-KR" altLang="en-US">
                <a:solidFill>
                  <a:srgbClr val="595959"/>
                </a:solidFill>
                <a:latin typeface="나눔스퀘어"/>
                <a:ea typeface="나눔스퀘어"/>
              </a:rPr>
              <a:t>역할 자동 제안 (24시점)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B46E5-6851-4BE1-8F7C-0C61EF139E98}"/>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② 오디오 분석: 5개 control lane</a:t>
            </a:r>
          </a:p>
        </p:txBody>
      </p:sp>
      <p:sp>
        <p:nvSpPr>
          <p:cNvPr id="16" name="직선 연결선 14">
            <a:extLst>
              <a:ext uri="{FF2B5EF4-FFF2-40B4-BE49-F238E27FC236}">
                <a16:creationId xmlns:a16="http://schemas.microsoft.com/office/drawing/2014/main" id="{D039D1C9-8177-4427-B6E9-99DD862A7D4D}"/>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3521251-F1E1-44D8-9616-B466F8C09320}"/>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10522915" cy="685800"/>
          </a:xfrm>
          <a:prstGeom prst="rect">
            <a:avLst/>
          </a:prstGeom>
          <a:noFill/>
        </p:spPr>
        <p:txBody>
          <a:bodyPr wrap="square" anchor="t" lIns="45720" rIns="45720">
            <a:noAutofit/>
          </a:bodyPr>
          <a:lstStyle/>
          <a:p>
            <a:pPr eaLnBrk="0" latinLnBrk="0" algn="l" marL="283464" indent="-283464">
              <a:lnSpc>
                <a:spcPct val="120000"/>
              </a:lnSpc>
              <a:spcAft>
                <a:spcPts val="400"/>
              </a:spcAft>
              <a:buFont typeface="Arial"/>
              <a:buChar char="•"/>
            </a:pPr>
            <a:r>
              <a:rPr sz="1400" b="0" lang="ko-KR" altLang="en-US">
                <a:solidFill>
                  <a:srgbClr val="000000"/>
                </a:solidFill>
                <a:latin typeface="나눔스퀘어"/>
                <a:ea typeface="나눔스퀘어"/>
              </a:rPr>
              <a:t>STFT (Hann 2048, hop 512) → SuperFlux 계열 onset, HPSS(median 17), 대역 bass 30–180 · mid 180–2200 · air 2200–12000 Hz, novelty 1초·4초 → 24 fps</a:t>
            </a:r>
          </a:p>
        </p:txBody>
      </p:sp>
      <p:sp>
        <p:nvSpPr>
          <p:cNvPr id="19" name="Rounded Rectangle 18"/>
          <p:cNvSpPr/>
          <p:nvPr/>
        </p:nvSpPr>
        <p:spPr>
          <a:xfrm>
            <a:off x="830275" y="2212848"/>
            <a:ext cx="10522915" cy="56692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noAutofit/>
          </a:bodyPr>
          <a:lstStyle/>
          <a:p>
            <a:pPr algn="l" eaLnBrk="0" latinLnBrk="0">
              <a:spcAft>
                <a:spcPts val="200"/>
              </a:spcAft>
            </a:pPr>
            <a:r>
              <a:rPr sz="1400" b="0" lang="ko-KR" altLang="en-US">
                <a:solidFill>
                  <a:srgbClr val="000000"/>
                </a:solidFill>
                <a:latin typeface="나눔스퀘어 Bold"/>
                <a:ea typeface="나눔스퀘어 Bold"/>
              </a:rPr>
              <a:t>비대칭 smoothing  </a:t>
            </a:r>
            <a:r>
              <a:rPr sz="1400" b="0" lang="ko-KR" altLang="en-US">
                <a:solidFill>
                  <a:srgbClr val="000000"/>
                </a:solidFill>
                <a:latin typeface="나눔스퀘어"/>
                <a:ea typeface="나눔스퀘어"/>
              </a:rPr>
              <a:t>y[t] = α·y[t−1] + (1−α)·x[t],   α = exp(−1/(τ·24)),   올라갈 때 τ = attack, 내려갈 때 τ = release</a:t>
            </a:r>
          </a:p>
        </p:txBody>
      </p:sp>
      <p:graphicFrame>
        <p:nvGraphicFramePr>
          <p:cNvPr id="20" name="Table 19"/>
          <p:cNvGraphicFramePr>
            <a:graphicFrameLocks noGrp="1"/>
          </p:cNvGraphicFramePr>
          <p:nvPr/>
        </p:nvGraphicFramePr>
        <p:xfrm>
          <a:off x="830275" y="2926080"/>
          <a:ext cx="10515599" cy="2907792"/>
        </p:xfrm>
        <a:graphic>
          <a:graphicData uri="http://schemas.openxmlformats.org/drawingml/2006/table">
            <a:tbl>
              <a:tblPr firstRow="1" bandRow="0">
                <a:tableStyleId>{2D5ABB26-0587-4C30-8999-92F81FD0307C}</a:tableStyleId>
              </a:tblPr>
              <a:tblGrid>
                <a:gridCol w="1828800"/>
                <a:gridCol w="4206240"/>
                <a:gridCol w="1874519"/>
                <a:gridCol w="2606040"/>
              </a:tblGrid>
              <a:tr h="484632">
                <a:tc>
                  <a:txBody>
                    <a:bodyPr wrap="square"/>
                    <a:lstStyle/>
                    <a:p>
                      <a:pPr eaLnBrk="0" latinLnBrk="0" algn="l"/>
                      <a:r>
                        <a:rPr sz="1400" b="0" lang="ko-KR" altLang="en-US">
                          <a:solidFill>
                            <a:srgbClr val="000000"/>
                          </a:solidFill>
                          <a:latin typeface="나눔스퀘어 Bold"/>
                          <a:ea typeface="나눔스퀘어 Bold"/>
                        </a:rPr>
                        <a:t>lane</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400" b="0" lang="ko-KR" altLang="en-US">
                          <a:solidFill>
                            <a:srgbClr val="000000"/>
                          </a:solidFill>
                          <a:latin typeface="나눔스퀘어 Bold"/>
                          <a:ea typeface="나눔스퀘어 Bold"/>
                        </a:rPr>
                        <a:t>입력 특징 (가중치)</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ctr"/>
                      <a:r>
                        <a:rPr sz="1400" b="0" lang="ko-KR" altLang="en-US">
                          <a:solidFill>
                            <a:srgbClr val="000000"/>
                          </a:solidFill>
                          <a:latin typeface="나눔스퀘어 Bold"/>
                          <a:ea typeface="나눔스퀘어 Bold"/>
                        </a:rPr>
                        <a:t>attack / release</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400" b="0" lang="ko-KR" altLang="en-US">
                          <a:solidFill>
                            <a:srgbClr val="000000"/>
                          </a:solidFill>
                          <a:latin typeface="나눔스퀘어 Bold"/>
                          <a:ea typeface="나눔스퀘어 Bold"/>
                        </a:rPr>
                        <a:t>표면 동작</a:t>
                      </a:r>
                    </a:p>
                  </a:txBody>
                  <a:tcPr marL="64008" marR="64008" marT="27432" marB="27432" anchor="ctr">
                    <a:lnL w="0">
                      <a:noFill/>
                    </a:lnL>
                    <a:lnR w="0">
                      <a:noFill/>
                    </a:lnR>
                    <a:lnT w="19050">
                      <a:solidFill>
                        <a:srgbClr val="000000"/>
                      </a:solidFill>
                    </a:lnT>
                    <a:lnB w="12700">
                      <a:solidFill>
                        <a:srgbClr val="000000"/>
                      </a:solidFill>
                    </a:lnB>
                    <a:noFill/>
                  </a:tcPr>
                </a:tc>
              </a:tr>
              <a:tr h="484632">
                <a:tc>
                  <a:txBody>
                    <a:bodyPr wrap="square"/>
                    <a:lstStyle/>
                    <a:p>
                      <a:pPr eaLnBrk="0" latinLnBrk="0" algn="l"/>
                      <a:r>
                        <a:rPr sz="1400" b="0" lang="ko-KR" altLang="en-US">
                          <a:solidFill>
                            <a:srgbClr val="000000"/>
                          </a:solidFill>
                          <a:latin typeface="나눔스퀘어 Bold"/>
                          <a:ea typeface="나눔스퀘어 Bold"/>
                        </a:rPr>
                        <a:t>seed</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0.58 onset + 0.42 percussive attack</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0.025 / 0.34 s</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국소 발생과 impact</a:t>
                      </a:r>
                    </a:p>
                  </a:txBody>
                  <a:tcPr marL="64008" marR="64008" marT="27432" marB="27432" anchor="ctr">
                    <a:lnL w="0">
                      <a:noFill/>
                    </a:lnL>
                    <a:lnR w="0">
                      <a:noFill/>
                    </a:lnR>
                    <a:lnT w="0">
                      <a:noFill/>
                    </a:lnT>
                    <a:lnB w="6350">
                      <a:solidFill>
                        <a:srgbClr val="D9D9D9"/>
                      </a:solidFill>
                    </a:lnB>
                    <a:noFill/>
                  </a:tcPr>
                </a:tc>
              </a:tr>
              <a:tr h="484632">
                <a:tc>
                  <a:txBody>
                    <a:bodyPr wrap="square"/>
                    <a:lstStyle/>
                    <a:p>
                      <a:pPr eaLnBrk="0" latinLnBrk="0" algn="l"/>
                      <a:r>
                        <a:rPr sz="1400" b="0" lang="ko-KR" altLang="en-US">
                          <a:solidFill>
                            <a:srgbClr val="000000"/>
                          </a:solidFill>
                          <a:latin typeface="나눔스퀘어 Bold"/>
                          <a:ea typeface="나눔스퀘어 Bold"/>
                        </a:rPr>
                        <a:t>transport</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0.52 harmonic + 0.28 mid + 0.20 novelty 1초</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0.22 / 1.45 s</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경로를 따른 이동</a:t>
                      </a:r>
                    </a:p>
                  </a:txBody>
                  <a:tcPr marL="64008" marR="64008" marT="27432" marB="27432" anchor="ctr">
                    <a:lnL w="0">
                      <a:noFill/>
                    </a:lnL>
                    <a:lnR w="0">
                      <a:noFill/>
                    </a:lnR>
                    <a:lnT w="0">
                      <a:noFill/>
                    </a:lnT>
                    <a:lnB w="6350">
                      <a:solidFill>
                        <a:srgbClr val="D9D9D9"/>
                      </a:solidFill>
                    </a:lnB>
                    <a:noFill/>
                  </a:tcPr>
                </a:tc>
              </a:tr>
              <a:tr h="484632">
                <a:tc>
                  <a:txBody>
                    <a:bodyPr wrap="square"/>
                    <a:lstStyle/>
                    <a:p>
                      <a:pPr eaLnBrk="0" latinLnBrk="0" algn="l"/>
                      <a:r>
                        <a:rPr sz="1400" b="0" lang="ko-KR" altLang="en-US">
                          <a:solidFill>
                            <a:srgbClr val="000000"/>
                          </a:solidFill>
                          <a:latin typeface="나눔스퀘어 Bold"/>
                          <a:ea typeface="나눔스퀘어 Bold"/>
                        </a:rPr>
                        <a:t>reservoir</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0.55 bass + 0.45 density</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0.38 / 3.2 s</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축적과 느린 방출</a:t>
                      </a:r>
                    </a:p>
                  </a:txBody>
                  <a:tcPr marL="64008" marR="64008" marT="27432" marB="27432" anchor="ctr">
                    <a:lnL w="0">
                      <a:noFill/>
                    </a:lnL>
                    <a:lnR w="0">
                      <a:noFill/>
                    </a:lnR>
                    <a:lnT w="0">
                      <a:noFill/>
                    </a:lnT>
                    <a:lnB w="6350">
                      <a:solidFill>
                        <a:srgbClr val="D9D9D9"/>
                      </a:solidFill>
                    </a:lnB>
                    <a:noFill/>
                  </a:tcPr>
                </a:tc>
              </a:tr>
              <a:tr h="484632">
                <a:tc>
                  <a:txBody>
                    <a:bodyPr wrap="square"/>
                    <a:lstStyle/>
                    <a:p>
                      <a:pPr eaLnBrk="0" latinLnBrk="0" algn="l"/>
                      <a:r>
                        <a:rPr sz="1400" b="0" lang="ko-KR" altLang="en-US">
                          <a:solidFill>
                            <a:srgbClr val="000000"/>
                          </a:solidFill>
                          <a:latin typeface="나눔스퀘어 Bold"/>
                          <a:ea typeface="나눔스퀘어 Bold"/>
                        </a:rPr>
                        <a:t>micro detail</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0.48 air + 0.32 onset + 0.20 noisiness</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0.045 / 0.55 s</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조직 밀도, 빠른 세부</a:t>
                      </a:r>
                    </a:p>
                  </a:txBody>
                  <a:tcPr marL="64008" marR="64008" marT="27432" marB="27432" anchor="ctr">
                    <a:lnL w="0">
                      <a:noFill/>
                    </a:lnL>
                    <a:lnR w="0">
                      <a:noFill/>
                    </a:lnR>
                    <a:lnT w="0">
                      <a:noFill/>
                    </a:lnT>
                    <a:lnB w="6350">
                      <a:solidFill>
                        <a:srgbClr val="D9D9D9"/>
                      </a:solidFill>
                    </a:lnB>
                    <a:noFill/>
                  </a:tcPr>
                </a:tc>
              </a:tr>
              <a:tr h="484632">
                <a:tc>
                  <a:txBody>
                    <a:bodyPr wrap="square"/>
                    <a:lstStyle/>
                    <a:p>
                      <a:pPr eaLnBrk="0" latinLnBrk="0" algn="l"/>
                      <a:r>
                        <a:rPr sz="1400" b="0" lang="ko-KR" altLang="en-US">
                          <a:solidFill>
                            <a:srgbClr val="000000"/>
                          </a:solidFill>
                          <a:latin typeface="나눔스퀘어 Bold"/>
                          <a:ea typeface="나눔스퀘어 Bold"/>
                        </a:rPr>
                        <a:t>reorientation</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l"/>
                      <a:r>
                        <a:rPr sz="1400" b="0" lang="ko-KR" altLang="en-US">
                          <a:solidFill>
                            <a:srgbClr val="000000"/>
                          </a:solidFill>
                          <a:latin typeface="나눔스퀘어"/>
                          <a:ea typeface="나눔스퀘어"/>
                        </a:rPr>
                        <a:t>0.62 section hold + 0.38 novelty 4초</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ctr"/>
                      <a:r>
                        <a:rPr sz="1400" b="0" lang="ko-KR" altLang="en-US">
                          <a:solidFill>
                            <a:srgbClr val="000000"/>
                          </a:solidFill>
                          <a:latin typeface="나눔스퀘어"/>
                          <a:ea typeface="나눔스퀘어"/>
                        </a:rPr>
                        <a:t>0.55 / 2.4 s</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l"/>
                      <a:r>
                        <a:rPr sz="1400" b="0" lang="ko-KR" altLang="en-US">
                          <a:solidFill>
                            <a:srgbClr val="000000"/>
                          </a:solidFill>
                          <a:latin typeface="나눔스퀘어"/>
                          <a:ea typeface="나눔스퀘어"/>
                        </a:rPr>
                        <a:t>장기 구조 전환</a:t>
                      </a:r>
                    </a:p>
                  </a:txBody>
                  <a:tcPr marL="64008" marR="64008" marT="27432" marB="27432" anchor="ctr">
                    <a:lnL w="0">
                      <a:noFill/>
                    </a:lnL>
                    <a:lnR w="0">
                      <a:noFill/>
                    </a:lnR>
                    <a:lnT w="0">
                      <a:noFill/>
                    </a:lnT>
                    <a:lnB w="19050">
                      <a:solidFill>
                        <a:srgbClr val="000000"/>
                      </a:solidFill>
                    </a:lnB>
                    <a:noFill/>
                  </a:tcPr>
                </a:tc>
              </a:tr>
            </a:tbl>
          </a:graphicData>
        </a:graphic>
      </p:graphicFrame>
    </p:spTree>
    <p:extLst>
      <p:ext uri="{BB962C8B-B14F-4D97-AF65-F5344CB8AC3E}">
        <p14:creationId xmlns:p14="http://schemas.microsoft.com/office/powerpoint/2010/main" val="108776698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③ 오디오 → 사건 편성</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6172200" cy="4023360"/>
          </a:xfrm>
          <a:prstGeom prst="rect">
            <a:avLst/>
          </a:prstGeom>
          <a:noFill/>
        </p:spPr>
        <p:txBody>
          <a:bodyPr wrap="square" anchor="t" lIns="45720" rIns="45720">
            <a:noAutofit/>
          </a:bodyPr>
          <a:lstStyle/>
          <a:p>
            <a:pPr eaLnBrk="0" latinLnBrk="0" algn="l" marL="329184" indent="-329184">
              <a:spcAft>
                <a:spcPts val="100"/>
              </a:spcAft>
              <a:buAutoNum type="arabicPeriod"/>
            </a:pPr>
            <a:r>
              <a:rPr sz="1500" b="0" lang="ko-KR" altLang="en-US">
                <a:solidFill>
                  <a:srgbClr val="000000"/>
                </a:solidFill>
                <a:latin typeface="나눔스퀘어 Bold"/>
                <a:ea typeface="나눔스퀘어 Bold"/>
              </a:rPr>
              <a:t>사건마다 다른 특징 조합</a:t>
            </a:r>
          </a:p>
          <a:p>
            <a:pPr eaLnBrk="0" latinLnBrk="0" algn="l" marL="283464" indent="-283464">
              <a:spcAft>
                <a:spcPts val="0"/>
              </a:spcAft>
              <a:buFont typeface="Arial"/>
              <a:buChar char=" "/>
            </a:pPr>
            <a:r>
              <a:rPr sz="1250" b="0" lang="ko-KR" altLang="en-US">
                <a:solidFill>
                  <a:srgbClr val="595959"/>
                </a:solidFill>
                <a:latin typeface="나눔스퀘어"/>
                <a:ea typeface="나눔스퀘어"/>
              </a:rPr>
              <a:t>후면 = bass · reservoir · section</a:t>
            </a:r>
          </a:p>
          <a:p>
            <a:pPr eaLnBrk="0" latinLnBrk="0" algn="l" marL="283464" indent="-283464">
              <a:spcAft>
                <a:spcPts val="0"/>
              </a:spcAft>
              <a:buFont typeface="Arial"/>
              <a:buChar char=" "/>
            </a:pPr>
            <a:r>
              <a:rPr sz="1250" b="0" lang="ko-KR" altLang="en-US">
                <a:solidFill>
                  <a:srgbClr val="595959"/>
                </a:solidFill>
                <a:latin typeface="나눔스퀘어"/>
                <a:ea typeface="나눔스퀘어"/>
              </a:rPr>
              <a:t>귀 = micro detail · noisiness · attack</a:t>
            </a:r>
          </a:p>
          <a:p>
            <a:pPr eaLnBrk="0" latinLnBrk="0" algn="l" marL="283464" indent="-283464">
              <a:spcAft>
                <a:spcPts val="700"/>
              </a:spcAft>
              <a:buFont typeface="Arial"/>
              <a:buChar char=" "/>
            </a:pPr>
            <a:r>
              <a:rPr sz="1250" b="0" lang="ko-KR" altLang="en-US">
                <a:solidFill>
                  <a:srgbClr val="595959"/>
                </a:solidFill>
                <a:latin typeface="나눔스퀘어"/>
                <a:ea typeface="나눔스퀘어"/>
              </a:rPr>
              <a:t>전면 = reorientation · slow novelty</a:t>
            </a:r>
          </a:p>
          <a:p>
            <a:pPr eaLnBrk="0" latinLnBrk="0" algn="l" marL="329184" indent="-329184">
              <a:spcAft>
                <a:spcPts val="100"/>
              </a:spcAft>
              <a:buAutoNum type="arabicPeriod" startAt="2"/>
            </a:pPr>
            <a:r>
              <a:rPr sz="1500" b="0" lang="ko-KR" altLang="en-US">
                <a:solidFill>
                  <a:srgbClr val="000000"/>
                </a:solidFill>
                <a:latin typeface="나눔스퀘어 Bold"/>
                <a:ea typeface="나눔스퀘어 Bold"/>
              </a:rPr>
              <a:t>사건별 정규화</a:t>
            </a:r>
          </a:p>
          <a:p>
            <a:pPr eaLnBrk="0" latinLnBrk="0" algn="l" marL="283464" indent="-283464">
              <a:spcAft>
                <a:spcPts val="700"/>
              </a:spcAft>
              <a:buFont typeface="Arial"/>
              <a:buChar char=" "/>
            </a:pPr>
            <a:r>
              <a:rPr sz="1250" b="0" lang="ko-KR" altLang="en-US">
                <a:solidFill>
                  <a:srgbClr val="595959"/>
                </a:solidFill>
                <a:latin typeface="나눔스퀘어"/>
                <a:ea typeface="나눔스퀘어"/>
              </a:rPr>
              <a:t>raw score를 그 사건의 30초 분포 기준 percentile로 변환 → 사건마다 다른 점수 범위 문제 해소</a:t>
            </a:r>
          </a:p>
          <a:p>
            <a:pPr eaLnBrk="0" latinLnBrk="0" algn="l" marL="329184" indent="-329184">
              <a:spcAft>
                <a:spcPts val="100"/>
              </a:spcAft>
              <a:buAutoNum type="arabicPeriod" startAt="3"/>
            </a:pPr>
            <a:r>
              <a:rPr sz="1500" b="0" lang="ko-KR" altLang="en-US">
                <a:solidFill>
                  <a:srgbClr val="000000"/>
                </a:solidFill>
                <a:latin typeface="나눔스퀘어 Bold"/>
                <a:ea typeface="나눔스퀘어 Bold"/>
              </a:rPr>
              <a:t>임계값을 넘을 때만 시작</a:t>
            </a:r>
          </a:p>
          <a:p>
            <a:pPr eaLnBrk="0" latinLnBrk="0" algn="l" marL="283464" indent="-283464">
              <a:spcAft>
                <a:spcPts val="0"/>
              </a:spcAft>
              <a:buFont typeface="Arial"/>
              <a:buChar char=" "/>
            </a:pPr>
            <a:r>
              <a:rPr sz="1250" b="0" lang="ko-KR" altLang="en-US">
                <a:solidFill>
                  <a:srgbClr val="595959"/>
                </a:solidFill>
                <a:latin typeface="나눔스퀘어"/>
                <a:ea typeface="나눔스퀘어"/>
              </a:rPr>
              <a:t>강한 onset이 있어도 미달이면 빈 구간</a:t>
            </a:r>
          </a:p>
          <a:p>
            <a:pPr eaLnBrk="0" latinLnBrk="0" algn="l" marL="283464" indent="-283464">
              <a:spcAft>
                <a:spcPts val="700"/>
              </a:spcAft>
              <a:buFont typeface="Arial"/>
              <a:buChar char=" "/>
            </a:pPr>
            <a:r>
              <a:rPr sz="1250" b="0" lang="ko-KR" altLang="en-US">
                <a:solidFill>
                  <a:srgbClr val="595959"/>
                </a:solidFill>
                <a:latin typeface="나눔스퀘어"/>
                <a:ea typeface="나눔스퀘어"/>
              </a:rPr>
              <a:t>owner가 다르면 동시 시작·중첩 허용</a:t>
            </a:r>
          </a:p>
          <a:p>
            <a:pPr eaLnBrk="0" latinLnBrk="0" algn="l" marL="329184" indent="-329184">
              <a:spcAft>
                <a:spcPts val="100"/>
              </a:spcAft>
              <a:buAutoNum type="arabicPeriod" startAt="4"/>
            </a:pPr>
            <a:r>
              <a:rPr sz="1500" b="0" lang="ko-KR" altLang="en-US">
                <a:solidFill>
                  <a:srgbClr val="000000"/>
                </a:solidFill>
                <a:latin typeface="나눔스퀘어 Bold"/>
                <a:ea typeface="나눔스퀘어 Bold"/>
              </a:rPr>
              <a:t>원속도 재생</a:t>
            </a:r>
          </a:p>
          <a:p>
            <a:pPr eaLnBrk="0" latinLnBrk="0" algn="l" marL="283464" indent="-283464">
              <a:spcAft>
                <a:spcPts val="700"/>
              </a:spcAft>
              <a:buFont typeface="Arial"/>
              <a:buChar char=" "/>
            </a:pPr>
            <a:r>
              <a:rPr sz="1250" b="0" lang="ko-KR" altLang="en-US">
                <a:solidFill>
                  <a:srgbClr val="595959"/>
                </a:solidFill>
                <a:latin typeface="나눔스퀘어"/>
                <a:ea typeface="나눔스퀘어"/>
              </a:rPr>
              <a:t>사건 source를 늘이기·반복·보간 없이 한 번 재생, 완료 상태 유지</a:t>
            </a:r>
          </a:p>
        </p:txBody>
      </p:sp>
      <p:sp>
        <p:nvSpPr>
          <p:cNvPr id="19" name="Rounded Rectangle 18"/>
          <p:cNvSpPr/>
          <p:nvPr/>
        </p:nvSpPr>
        <p:spPr>
          <a:xfrm>
            <a:off x="7223760" y="1554480"/>
            <a:ext cx="4114800" cy="3977639"/>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eaLnBrk="0" latinLnBrk="0">
              <a:spcAft>
                <a:spcPts val="800"/>
              </a:spcAft>
            </a:pPr>
            <a:r>
              <a:rPr sz="1400" b="0" lang="ko-KR" altLang="en-US">
                <a:solidFill>
                  <a:srgbClr val="000000"/>
                </a:solidFill>
                <a:latin typeface="나눔스퀘어 Bold"/>
                <a:ea typeface="나눔스퀘어 Bold"/>
              </a:rPr>
              <a:t>여기까지 온 과정</a:t>
            </a:r>
          </a:p>
          <a:p>
            <a:pPr eaLnBrk="0" latinLnBrk="0" algn="l">
              <a:spcAft>
                <a:spcPts val="600"/>
              </a:spcAft>
            </a:pPr>
            <a:r>
              <a:rPr sz="1200" b="0" lang="ko-KR" altLang="en-US">
                <a:solidFill>
                  <a:srgbClr val="000000"/>
                </a:solidFill>
                <a:latin typeface="나눔스퀘어 Bold"/>
                <a:ea typeface="나눔스퀘어 Bold"/>
              </a:rPr>
              <a:t>E231  </a:t>
            </a:r>
            <a:r>
              <a:rPr sz="1200" b="0" lang="ko-KR" altLang="en-US">
                <a:solidFill>
                  <a:srgbClr val="000000"/>
                </a:solidFill>
                <a:latin typeface="나눔스퀘어"/>
                <a:ea typeface="나눔스퀘어"/>
              </a:rPr>
              <a:t>사람이 정한 사건 순서, 음악은 시작·중첩만 선택</a:t>
            </a:r>
          </a:p>
          <a:p>
            <a:pPr eaLnBrk="0" latinLnBrk="0" algn="l">
              <a:spcAft>
                <a:spcPts val="600"/>
              </a:spcAft>
            </a:pPr>
            <a:r>
              <a:rPr sz="1200" b="0" lang="ko-KR" altLang="en-US">
                <a:solidFill>
                  <a:srgbClr val="000000"/>
                </a:solidFill>
                <a:latin typeface="나눔스퀘어 Bold"/>
                <a:ea typeface="나눔스퀘어 Bold"/>
              </a:rPr>
              <a:t>E232  </a:t>
            </a:r>
            <a:r>
              <a:rPr sz="1200" b="0" lang="ko-KR" altLang="en-US">
                <a:solidFill>
                  <a:srgbClr val="000000"/>
                </a:solidFill>
                <a:latin typeface="나눔스퀘어"/>
                <a:ea typeface="나눔스퀘어"/>
              </a:rPr>
              <a:t>raw audio → 영상 직접 생성: 진행 역행·UV 떨림으로 기각</a:t>
            </a:r>
          </a:p>
          <a:p>
            <a:pPr eaLnBrk="0" latinLnBrk="0" algn="l">
              <a:spcAft>
                <a:spcPts val="600"/>
              </a:spcAft>
            </a:pPr>
            <a:r>
              <a:rPr sz="1200" b="0" lang="ko-KR" altLang="en-US">
                <a:solidFill>
                  <a:srgbClr val="000000"/>
                </a:solidFill>
                <a:latin typeface="나눔스퀘어 Bold"/>
                <a:ea typeface="나눔스퀘어 Bold"/>
              </a:rPr>
              <a:t>E233  </a:t>
            </a:r>
            <a:r>
              <a:rPr sz="1200" b="0" lang="ko-KR" altLang="en-US">
                <a:solidFill>
                  <a:srgbClr val="000000"/>
                </a:solidFill>
                <a:latin typeface="나눔스퀘어"/>
                <a:ea typeface="나눔스퀘어"/>
              </a:rPr>
              <a:t>음악에 따른 진행 속도: 보간·EMA가 dissolve처럼 보여 기각</a:t>
            </a:r>
          </a:p>
          <a:p>
            <a:pPr eaLnBrk="0" latinLnBrk="0" algn="l">
              <a:spcAft>
                <a:spcPts val="600"/>
              </a:spcAft>
            </a:pPr>
            <a:r>
              <a:rPr sz="1200" b="0" lang="ko-KR" altLang="en-US">
                <a:solidFill>
                  <a:srgbClr val="000000"/>
                </a:solidFill>
                <a:latin typeface="나눔스퀘어 Bold"/>
                <a:ea typeface="나눔스퀘어 Bold"/>
              </a:rPr>
              <a:t>E234  </a:t>
            </a:r>
            <a:r>
              <a:rPr sz="1200" b="0" lang="ko-KR" altLang="en-US">
                <a:solidFill>
                  <a:srgbClr val="000000"/>
                </a:solidFill>
                <a:latin typeface="나눔스퀘어"/>
                <a:ea typeface="나눔스퀘어"/>
              </a:rPr>
              <a:t>음악이 사건 종류·순서·시작·중첩 선택</a:t>
            </a:r>
          </a:p>
          <a:p>
            <a:pPr eaLnBrk="0" latinLnBrk="0" algn="l">
              <a:spcAft>
                <a:spcPts val="600"/>
              </a:spcAft>
            </a:pPr>
            <a:r>
              <a:rPr sz="1200" b="0" lang="ko-KR" altLang="en-US">
                <a:solidFill>
                  <a:srgbClr val="000000"/>
                </a:solidFill>
                <a:latin typeface="나눔스퀘어 Bold"/>
                <a:ea typeface="나눔스퀘어 Bold"/>
              </a:rPr>
              <a:t>E236  </a:t>
            </a:r>
            <a:r>
              <a:rPr sz="1200" b="0" lang="ko-KR" altLang="en-US">
                <a:solidFill>
                  <a:srgbClr val="000000"/>
                </a:solidFill>
                <a:latin typeface="나눔스퀘어"/>
                <a:ea typeface="나눔스퀘어"/>
              </a:rPr>
              <a:t>사건별 percentile 정규화, 빈 구간·동시 사건</a:t>
            </a:r>
          </a:p>
          <a:p>
            <a:pPr eaLnBrk="0" latinLnBrk="0" algn="l">
              <a:spcAft>
                <a:spcPts val="600"/>
              </a:spcAft>
            </a:pPr>
            <a:r>
              <a:rPr sz="1200" b="0" lang="ko-KR" altLang="en-US">
                <a:solidFill>
                  <a:srgbClr val="000000"/>
                </a:solidFill>
                <a:latin typeface="나눔스퀘어 Bold"/>
                <a:ea typeface="나눔스퀘어 Bold"/>
              </a:rPr>
              <a:t>E237  </a:t>
            </a:r>
            <a:r>
              <a:rPr sz="1200" b="0" lang="ko-KR" altLang="en-US">
                <a:solidFill>
                  <a:srgbClr val="000000"/>
                </a:solidFill>
                <a:latin typeface="나눔스퀘어"/>
                <a:ea typeface="나눔스퀘어"/>
              </a:rPr>
              <a:t>전면·눈·코 재생성 → 현재 결과</a:t>
            </a:r>
          </a:p>
        </p:txBody>
      </p:sp>
      <p:sp>
        <p:nvSpPr>
          <p:cNvPr id="20" name="TextBox 19"/>
          <p:cNvSpPr txBox="1"/>
          <p:nvPr/>
        </p:nvSpPr>
        <p:spPr>
          <a:xfrm>
            <a:off x="830275" y="5669280"/>
            <a:ext cx="10522915" cy="457200"/>
          </a:xfrm>
          <a:prstGeom prst="rect">
            <a:avLst/>
          </a:prstGeom>
          <a:noFill/>
        </p:spPr>
        <p:txBody>
          <a:bodyPr wrap="square" anchor="t" lIns="45720" rIns="45720">
            <a:noAutofit/>
          </a:bodyPr>
          <a:lstStyle/>
          <a:p>
            <a:pPr eaLnBrk="0" latinLnBrk="0" algn="l">
              <a:spcAft>
                <a:spcPts val="400"/>
              </a:spcAft>
            </a:pPr>
            <a:r>
              <a:rPr sz="1300" b="0" lang="ko-KR" altLang="en-US">
                <a:solidFill>
                  <a:srgbClr val="595959"/>
                </a:solidFill>
                <a:latin typeface="나눔스퀘어"/>
                <a:ea typeface="나눔스퀘어"/>
              </a:rPr>
              <a:t>생성 모델은 raw audio를 직접 받지 않음 → </a:t>
            </a:r>
            <a:r>
              <a:rPr sz="1300" b="0" lang="ko-KR" altLang="en-US">
                <a:solidFill>
                  <a:srgbClr val="595959"/>
                </a:solidFill>
                <a:latin typeface="나눔스퀘어 Bold"/>
                <a:ea typeface="나눔스퀘어 Bold"/>
              </a:rPr>
              <a:t>오디오 조건 사건 편성 + 프롬프트 의미</a:t>
            </a:r>
            <a:r>
              <a:rPr sz="1300" b="0" lang="ko-KR" altLang="en-US">
                <a:solidFill>
                  <a:srgbClr val="595959"/>
                </a:solidFill>
                <a:latin typeface="나눔스퀘어"/>
                <a:ea typeface="나눔스퀘어"/>
              </a:rPr>
              <a:t> (end-to-end audio-to-video 아님)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④ 국소 생성: FLUX → LTX</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5989320" cy="4114800"/>
          </a:xfrm>
          <a:prstGeom prst="rect">
            <a:avLst/>
          </a:prstGeom>
          <a:noFill/>
        </p:spPr>
        <p:txBody>
          <a:bodyPr wrap="square" anchor="t" lIns="45720" rIns="45720">
            <a:noAutofit/>
          </a:bodyPr>
          <a:lstStyle/>
          <a:p>
            <a:pPr eaLnBrk="0" latinLnBrk="0" algn="l" marL="329184" indent="-329184">
              <a:spcAft>
                <a:spcPts val="100"/>
              </a:spcAft>
              <a:buAutoNum type="arabicPeriod"/>
            </a:pPr>
            <a:r>
              <a:rPr sz="1500" b="0" lang="ko-KR" altLang="en-US">
                <a:solidFill>
                  <a:srgbClr val="000000"/>
                </a:solidFill>
                <a:latin typeface="나눔스퀘어 Bold"/>
                <a:ea typeface="나눔스퀘어 Bold"/>
              </a:rPr>
              <a:t>peak 상태: FLUX.2 [klein] 9B</a:t>
            </a:r>
          </a:p>
          <a:p>
            <a:pPr eaLnBrk="0" latinLnBrk="0" algn="l" marL="283464" indent="-283464">
              <a:spcAft>
                <a:spcPts val="0"/>
              </a:spcAft>
              <a:buFont typeface="Arial"/>
              <a:buChar char=" "/>
            </a:pPr>
            <a:r>
              <a:rPr sz="1250" b="0" lang="ko-KR" altLang="en-US">
                <a:solidFill>
                  <a:srgbClr val="595959"/>
                </a:solidFill>
                <a:latin typeface="나눔스퀘어"/>
                <a:ea typeface="나눔스퀘어"/>
              </a:rPr>
              <a:t>고정 1024² 렌더 + owner mask → ReferenceLatent·noise mask</a:t>
            </a:r>
          </a:p>
          <a:p>
            <a:pPr eaLnBrk="0" latinLnBrk="0" algn="l" marL="283464" indent="-283464">
              <a:spcAft>
                <a:spcPts val="700"/>
              </a:spcAft>
              <a:buFont typeface="Arial"/>
              <a:buChar char=" "/>
            </a:pPr>
            <a:r>
              <a:rPr sz="1250" b="0" lang="ko-KR" altLang="en-US">
                <a:solidFill>
                  <a:srgbClr val="595959"/>
                </a:solidFill>
                <a:latin typeface="나눔스퀘어"/>
                <a:ea typeface="나눔스퀘어"/>
              </a:rPr>
              <a:t>14 step, Euler, CFG 1, seed·sigma 다른 후보 4개, mask 밖 변화 0</a:t>
            </a:r>
          </a:p>
          <a:p>
            <a:pPr eaLnBrk="0" latinLnBrk="0" algn="l" marL="329184" indent="-329184">
              <a:spcAft>
                <a:spcPts val="100"/>
              </a:spcAft>
              <a:buAutoNum type="arabicPeriod" startAt="2"/>
            </a:pPr>
            <a:r>
              <a:rPr sz="1500" b="0" lang="ko-KR" altLang="en-US">
                <a:solidFill>
                  <a:srgbClr val="000000"/>
                </a:solidFill>
                <a:latin typeface="나눔스퀘어 Bold"/>
                <a:ea typeface="나눔스퀘어 Bold"/>
              </a:rPr>
              <a:t>다각도 gate</a:t>
            </a:r>
          </a:p>
          <a:p>
            <a:pPr eaLnBrk="0" latinLnBrk="0" algn="l" marL="283464" indent="-283464">
              <a:spcAft>
                <a:spcPts val="0"/>
              </a:spcAft>
              <a:buFont typeface="Arial"/>
              <a:buChar char=" "/>
            </a:pPr>
            <a:r>
              <a:rPr sz="1250" b="0" lang="ko-KR" altLang="en-US">
                <a:solidFill>
                  <a:srgbClr val="595959"/>
                </a:solidFill>
                <a:latin typeface="나눔스퀘어"/>
                <a:ea typeface="나눔스퀘어"/>
              </a:rPr>
              <a:t>후보를 고정 메시 정면·사면·측면·후면에 투영</a:t>
            </a:r>
          </a:p>
          <a:p>
            <a:pPr eaLnBrk="0" latinLnBrk="0" algn="l" marL="283464" indent="-283464">
              <a:spcAft>
                <a:spcPts val="700"/>
              </a:spcAft>
              <a:buFont typeface="Arial"/>
              <a:buChar char=" "/>
            </a:pPr>
            <a:r>
              <a:rPr sz="1250" b="0" lang="ko-KR" altLang="en-US">
                <a:solidFill>
                  <a:srgbClr val="595959"/>
                </a:solidFill>
                <a:latin typeface="나눔스퀘어"/>
                <a:ea typeface="나눔스퀘어"/>
              </a:rPr>
              <a:t>UI 모양·검은 구멍·날개·패치 경계 후보 제거, 사람이 최종 선택</a:t>
            </a:r>
          </a:p>
          <a:p>
            <a:pPr eaLnBrk="0" latinLnBrk="0" algn="l" marL="329184" indent="-329184">
              <a:spcAft>
                <a:spcPts val="100"/>
              </a:spcAft>
              <a:buAutoNum type="arabicPeriod" startAt="3"/>
            </a:pPr>
            <a:r>
              <a:rPr sz="1500" b="0" lang="ko-KR" altLang="en-US">
                <a:solidFill>
                  <a:srgbClr val="000000"/>
                </a:solidFill>
                <a:latin typeface="나눔스퀘어 Bold"/>
                <a:ea typeface="나눔스퀘어 Bold"/>
              </a:rPr>
              <a:t>시간 변화: LTX-2.3 22B</a:t>
            </a:r>
          </a:p>
          <a:p>
            <a:pPr eaLnBrk="0" latinLnBrk="0" algn="l" marL="283464" indent="-283464">
              <a:spcAft>
                <a:spcPts val="0"/>
              </a:spcAft>
              <a:buFont typeface="Arial"/>
              <a:buChar char=" "/>
            </a:pPr>
            <a:r>
              <a:rPr sz="1250" b="0" lang="ko-KR" altLang="en-US">
                <a:solidFill>
                  <a:srgbClr val="595959"/>
                </a:solidFill>
                <a:latin typeface="나눔스퀘어"/>
                <a:ea typeface="나눔스퀘어"/>
              </a:rPr>
              <a:t>keyframe 6개(0·28·56·84·112·144) → 145 frame, 24 fps</a:t>
            </a:r>
          </a:p>
          <a:p>
            <a:pPr eaLnBrk="0" latinLnBrk="0" algn="l" marL="283464" indent="-283464">
              <a:spcAft>
                <a:spcPts val="700"/>
              </a:spcAft>
              <a:buFont typeface="Arial"/>
              <a:buChar char=" "/>
            </a:pPr>
            <a:r>
              <a:rPr sz="1250" b="0" lang="ko-KR" altLang="en-US">
                <a:solidFill>
                  <a:srgbClr val="595959"/>
                </a:solidFill>
                <a:latin typeface="나눔스퀘어"/>
                <a:ea typeface="나눔스퀘어"/>
              </a:rPr>
              <a:t>768² latent → 공식 ×2 latent 업스케일 → 1536²</a:t>
            </a:r>
          </a:p>
          <a:p>
            <a:pPr eaLnBrk="0" latinLnBrk="0" algn="l" marL="329184" indent="-329184">
              <a:spcAft>
                <a:spcPts val="100"/>
              </a:spcAft>
              <a:buAutoNum type="arabicPeriod" startAt="4"/>
            </a:pPr>
            <a:r>
              <a:rPr sz="1500" b="0" lang="ko-KR" altLang="en-US">
                <a:solidFill>
                  <a:srgbClr val="000000"/>
                </a:solidFill>
                <a:latin typeface="나눔스퀘어 Bold"/>
                <a:ea typeface="나눔스퀘어 Bold"/>
              </a:rPr>
              <a:t>프롬프트</a:t>
            </a:r>
          </a:p>
          <a:p>
            <a:pPr eaLnBrk="0" latinLnBrk="0" algn="l" marL="283464" indent="-283464">
              <a:spcAft>
                <a:spcPts val="700"/>
              </a:spcAft>
              <a:buFont typeface="Arial"/>
              <a:buChar char=" "/>
            </a:pPr>
            <a:r>
              <a:rPr sz="1250" b="0" lang="ko-KR" altLang="en-US">
                <a:solidFill>
                  <a:srgbClr val="595959"/>
                </a:solidFill>
                <a:latin typeface="나눔스퀘어"/>
                <a:ea typeface="나눔스퀘어"/>
              </a:rPr>
              <a:t>무엇이 열리고 드러나는지 + 금지(dissolve, decal, 기하 변형, 실루엣 변경)</a:t>
            </a:r>
          </a:p>
        </p:txBody>
      </p:sp>
      <p:pic>
        <p:nvPicPr>
          <p:cNvPr id="19" name="Picture 18" descr="12_e230_rear_ltx_qa.jpg"/>
          <p:cNvPicPr>
            <a:picLocks noChangeAspect="1"/>
          </p:cNvPicPr>
          <p:nvPr/>
        </p:nvPicPr>
        <p:blipFill>
          <a:blip r:embed="rId3"/>
          <a:stretch>
            <a:fillRect/>
          </a:stretch>
        </p:blipFill>
        <p:spPr>
          <a:xfrm>
            <a:off x="7086600" y="1554480"/>
            <a:ext cx="4251960" cy="2755270"/>
          </a:xfrm>
          <a:prstGeom prst="rect">
            <a:avLst/>
          </a:prstGeom>
        </p:spPr>
      </p:pic>
      <p:sp>
        <p:nvSpPr>
          <p:cNvPr id="20" name="TextBox 19"/>
          <p:cNvSpPr txBox="1"/>
          <p:nvPr/>
        </p:nvSpPr>
        <p:spPr>
          <a:xfrm>
            <a:off x="7086600" y="4343400"/>
            <a:ext cx="4251960" cy="502920"/>
          </a:xfrm>
          <a:prstGeom prst="rect">
            <a:avLst/>
          </a:prstGeom>
          <a:noFill/>
        </p:spPr>
        <p:txBody>
          <a:bodyPr wrap="square" anchor="t" lIns="45720" rIns="45720">
            <a:noAutofit/>
          </a:bodyPr>
          <a:lstStyle/>
          <a:p>
            <a:pPr eaLnBrk="0" latinLnBrk="0" algn="ctr">
              <a:spcAft>
                <a:spcPts val="0"/>
              </a:spcAft>
            </a:pPr>
            <a:r>
              <a:rPr sz="1100" b="0" lang="ko-KR" altLang="en-US">
                <a:solidFill>
                  <a:srgbClr val="595959"/>
                </a:solidFill>
                <a:latin typeface="나눔스퀘어"/>
                <a:ea typeface="나눔스퀘어"/>
              </a:rPr>
              <a:t>E230 후면 사건의 LTX 시간 진행</a:t>
            </a:r>
          </a:p>
          <a:p>
            <a:pPr eaLnBrk="0" latinLnBrk="0" algn="ctr">
              <a:spcAft>
                <a:spcPts val="0"/>
              </a:spcAft>
            </a:pPr>
            <a:r>
              <a:rPr sz="1100" b="0" lang="ko-KR" altLang="en-US">
                <a:solidFill>
                  <a:srgbClr val="595959"/>
                </a:solidFill>
                <a:latin typeface="나눔스퀘어"/>
                <a:ea typeface="나눔스퀘어"/>
              </a:rPr>
              <a:t>LTX 145 frame 1536²: 약 57분 (RTX 3090)</a:t>
            </a:r>
          </a:p>
        </p:txBody>
      </p:sp>
      <p:sp>
        <p:nvSpPr>
          <p:cNvPr id="21" name="TextBox 20"/>
          <p:cNvSpPr txBox="1"/>
          <p:nvPr/>
        </p:nvSpPr>
        <p:spPr>
          <a:xfrm>
            <a:off x="830275" y="5669280"/>
            <a:ext cx="10522915" cy="457200"/>
          </a:xfrm>
          <a:prstGeom prst="rect">
            <a:avLst/>
          </a:prstGeom>
          <a:noFill/>
        </p:spPr>
        <p:txBody>
          <a:bodyPr wrap="square" anchor="t" lIns="45720" rIns="45720">
            <a:noAutofit/>
          </a:bodyPr>
          <a:lstStyle/>
          <a:p>
            <a:pPr eaLnBrk="0" latinLnBrk="0" algn="l">
              <a:spcAft>
                <a:spcPts val="400"/>
              </a:spcAft>
            </a:pPr>
            <a:r>
              <a:rPr sz="1300" b="0" lang="ko-KR" altLang="en-US">
                <a:solidFill>
                  <a:srgbClr val="595959"/>
                </a:solidFill>
                <a:latin typeface="나눔스퀘어"/>
                <a:ea typeface="나눔스퀘어"/>
              </a:rPr>
              <a:t>생성 모델은 사건 RGB만 만들고, </a:t>
            </a:r>
            <a:r>
              <a:rPr sz="1300" b="0" lang="ko-KR" altLang="en-US">
                <a:solidFill>
                  <a:srgbClr val="595959"/>
                </a:solidFill>
                <a:latin typeface="나눔스퀘어 Bold"/>
                <a:ea typeface="나눔스퀘어 Bold"/>
              </a:rPr>
              <a:t>국소성은 owner mask 합성으로 보장</a:t>
            </a:r>
            <a:r>
              <a:rPr sz="1300" b="0" lang="ko-KR" altLang="en-US">
                <a:solidFill>
                  <a:srgbClr val="595959"/>
                </a:solidFill>
                <a:latin typeface="나눔스퀘어"/>
                <a:ea typeface="나눔스퀘어"/>
              </a:rPr>
              <a:t> (모델이 3D owner를 이해한다고 주장하지 않음)</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B016-2A2D-4EC3-85B9-F90873890434}"/>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⑤ UV 통합과 배타 소유권</a:t>
            </a:r>
          </a:p>
        </p:txBody>
      </p:sp>
      <p:sp>
        <p:nvSpPr>
          <p:cNvPr id="16" name="직선 연결선 14">
            <a:extLst>
              <a:ext uri="{FF2B5EF4-FFF2-40B4-BE49-F238E27FC236}">
                <a16:creationId xmlns:a16="http://schemas.microsoft.com/office/drawing/2014/main" id="{C28DEE73-2929-4BD8-833A-EEF58B038B89}"/>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8835C69D-F50E-4985-AD7A-5DC08082D5E2}"/>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21" name="직사각형 20">
            <a:extLst>
              <a:ext uri="{FF2B5EF4-FFF2-40B4-BE49-F238E27FC236}">
                <a16:creationId xmlns:a16="http://schemas.microsoft.com/office/drawing/2014/main" id="{0BAF539A-7473-42E3-989D-38CBAA8847E7}"/>
              </a:ext>
            </a:extLst>
          </p:cNvPr>
          <p:cNvSpPr>
            <a:spLocks noGrp="1"/>
          </p:cNvSpPr>
          <p:nvPr/>
        </p:nvSpPr>
        <p:spPr>
          <a:xfrm>
            <a:off x="6583680" y="1600200"/>
            <a:ext cx="4754880" cy="2148840"/>
          </a:xfrm>
          <a:prstGeom prst="rect">
            <a:avLst/>
          </a:prstGeom>
          <a:solidFill>
            <a:srgbClr val="111820"/>
          </a:solidFill>
          <a:ln w="9525">
            <a:solidFill>
              <a:srgbClr val="D0D0D0"/>
            </a:solidFill>
          </a:ln>
        </p:spPr>
      </p:sp>
      <p:pic>
        <p:nvPicPr>
          <p:cNvPr id="35" name="그림 34"/>
          <p:cNvPicPr>
            <a:picLocks noChangeAspect="1"/>
          </p:cNvPicPr>
          <p:nvPr/>
        </p:nvPicPr>
        <p:blipFill>
          <a:blip r:embed="rId3"/>
          <a:stretch/>
        </p:blipFill>
        <p:spPr>
          <a:xfrm>
            <a:off x="6638925" y="1638300"/>
            <a:ext cx="2072640" cy="2072640"/>
          </a:xfrm>
          <a:prstGeom prst="rect">
            <a:avLst/>
          </a:prstGeom>
        </p:spPr>
      </p:pic>
      <p:pic>
        <p:nvPicPr>
          <p:cNvPr id="36" name="그림 35"/>
          <p:cNvPicPr>
            <a:picLocks noChangeAspect="1"/>
          </p:cNvPicPr>
          <p:nvPr/>
        </p:nvPicPr>
        <p:blipFill>
          <a:blip r:embed="rId4"/>
          <a:srcRect l="21048" r="21048"/>
          <a:stretch>
            <a:fillRect/>
          </a:stretch>
        </p:blipFill>
        <p:spPr>
          <a:xfrm>
            <a:off x="8801100" y="1638300"/>
            <a:ext cx="1200150" cy="2072640"/>
          </a:xfrm>
          <a:prstGeom prst="rect">
            <a:avLst/>
          </a:prstGeom>
        </p:spPr>
      </p:pic>
      <p:pic>
        <p:nvPicPr>
          <p:cNvPr id="37" name="그림 36"/>
          <p:cNvPicPr>
            <a:picLocks noChangeAspect="1"/>
          </p:cNvPicPr>
          <p:nvPr/>
        </p:nvPicPr>
        <p:blipFill>
          <a:blip r:embed="rId5"/>
          <a:srcRect l="21048" r="21048"/>
          <a:stretch>
            <a:fillRect/>
          </a:stretch>
        </p:blipFill>
        <p:spPr>
          <a:xfrm>
            <a:off x="10039350" y="1638300"/>
            <a:ext cx="1200150" cy="2072640"/>
          </a:xfrm>
          <a:prstGeom prst="rect">
            <a:avLst/>
          </a:prstGeom>
        </p:spPr>
      </p:pic>
      <p:sp>
        <p:nvSpPr>
          <p:cNvPr id="25" name="직사각형 24">
            <a:extLst>
              <a:ext uri="{FF2B5EF4-FFF2-40B4-BE49-F238E27FC236}">
                <a16:creationId xmlns:a16="http://schemas.microsoft.com/office/drawing/2014/main" id="{2A5E1F54-8691-47BC-82F1-4A7488B78775}"/>
              </a:ext>
            </a:extLst>
          </p:cNvPr>
          <p:cNvSpPr>
            <a:spLocks noGrp="1"/>
          </p:cNvSpPr>
          <p:nvPr/>
        </p:nvSpPr>
        <p:spPr>
          <a:xfrm>
            <a:off x="6583680" y="3931920"/>
            <a:ext cx="4754880" cy="2148840"/>
          </a:xfrm>
          <a:prstGeom prst="rect">
            <a:avLst/>
          </a:prstGeom>
          <a:solidFill>
            <a:srgbClr val="111820"/>
          </a:solidFill>
          <a:ln w="9525">
            <a:solidFill>
              <a:srgbClr val="D0D0D0"/>
            </a:solidFill>
          </a:ln>
        </p:spPr>
      </p:sp>
      <p:pic>
        <p:nvPicPr>
          <p:cNvPr id="39" name="그림 38"/>
          <p:cNvPicPr>
            <a:picLocks noChangeAspect="1"/>
          </p:cNvPicPr>
          <p:nvPr/>
        </p:nvPicPr>
        <p:blipFill>
          <a:blip r:embed="rId6"/>
          <a:stretch/>
        </p:blipFill>
        <p:spPr>
          <a:xfrm>
            <a:off x="6753225" y="3970020"/>
            <a:ext cx="2072640" cy="2072640"/>
          </a:xfrm>
          <a:prstGeom prst="rect">
            <a:avLst/>
          </a:prstGeom>
        </p:spPr>
      </p:pic>
      <p:pic>
        <p:nvPicPr>
          <p:cNvPr id="40" name="그림 39"/>
          <p:cNvPicPr>
            <a:picLocks noChangeAspect="1"/>
          </p:cNvPicPr>
          <p:nvPr/>
        </p:nvPicPr>
        <p:blipFill>
          <a:blip r:embed="rId7"/>
          <a:stretch/>
        </p:blipFill>
        <p:spPr>
          <a:xfrm>
            <a:off x="9096375" y="3970020"/>
            <a:ext cx="2072640" cy="2072640"/>
          </a:xfrm>
          <a:prstGeom prst="rect">
            <a:avLst/>
          </a:prstGeom>
        </p:spPr>
      </p:pic>
      <p:sp>
        <p:nvSpPr>
          <p:cNvPr id="41" name="TextBox 40"/>
          <p:cNvSpPr txBox="1"/>
          <p:nvPr/>
        </p:nvSpPr>
        <p:spPr>
          <a:xfrm>
            <a:off x="830275" y="1481328"/>
            <a:ext cx="5577840" cy="4663440"/>
          </a:xfrm>
          <a:prstGeom prst="rect">
            <a:avLst/>
          </a:prstGeom>
          <a:noFill/>
        </p:spPr>
        <p:txBody>
          <a:bodyPr wrap="square" anchor="t" lIns="45720" rIns="45720">
            <a:noAutofit/>
          </a:bodyPr>
          <a:lstStyle/>
          <a:p>
            <a:pPr eaLnBrk="0" latinLnBrk="0" algn="l" marL="329184" indent="-329184">
              <a:spcAft>
                <a:spcPts val="100"/>
              </a:spcAft>
              <a:buAutoNum type="arabicPeriod"/>
            </a:pPr>
            <a:r>
              <a:rPr sz="1400" b="0" lang="ko-KR" altLang="en-US">
                <a:solidFill>
                  <a:srgbClr val="000000"/>
                </a:solidFill>
                <a:latin typeface="나눔스퀘어 Bold"/>
                <a:ea typeface="나눔스퀘어 Bold"/>
              </a:rPr>
              <a:t>역투영</a:t>
            </a:r>
          </a:p>
          <a:p>
            <a:pPr eaLnBrk="0" latinLnBrk="0" algn="l" marL="283464" indent="-283464">
              <a:spcAft>
                <a:spcPts val="0"/>
              </a:spcAft>
              <a:buFont typeface="Arial"/>
              <a:buChar char=" "/>
            </a:pPr>
            <a:r>
              <a:rPr sz="1200" b="0" lang="ko-KR" altLang="en-US">
                <a:solidFill>
                  <a:srgbClr val="595959"/>
                </a:solidFill>
                <a:latin typeface="나눔스퀘어"/>
                <a:ea typeface="나눔스퀘어"/>
              </a:rPr>
              <a:t>UV texel마다 (face ID, barycentric) → 3D 위치·법선 → 화면 좌표</a:t>
            </a:r>
          </a:p>
          <a:p>
            <a:pPr eaLnBrk="0" latinLnBrk="0" algn="l" marL="283464" indent="-283464">
              <a:spcAft>
                <a:spcPts val="600"/>
              </a:spcAft>
              <a:buFont typeface="Arial"/>
              <a:buChar char=" "/>
            </a:pPr>
            <a:r>
              <a:rPr sz="1200" b="0" lang="ko-KR" altLang="en-US">
                <a:solidFill>
                  <a:srgbClr val="595959"/>
                </a:solidFill>
                <a:latin typeface="나눔스퀘어"/>
                <a:ea typeface="나눔스퀘어"/>
              </a:rPr>
              <a:t>화면의 face ID가 같을 때만 visible</a:t>
            </a:r>
          </a:p>
          <a:p>
            <a:pPr eaLnBrk="0" latinLnBrk="0" algn="l" marL="329184" indent="-329184">
              <a:spcAft>
                <a:spcPts val="100"/>
              </a:spcAft>
              <a:buAutoNum type="arabicPeriod" startAt="2"/>
            </a:pPr>
            <a:r>
              <a:rPr sz="1400" b="0" lang="ko-KR" altLang="en-US">
                <a:solidFill>
                  <a:srgbClr val="000000"/>
                </a:solidFill>
                <a:latin typeface="나눔스퀘어 Bold"/>
                <a:ea typeface="나눔스퀘어 Bold"/>
              </a:rPr>
              <a:t>residual 합성</a:t>
            </a:r>
          </a:p>
          <a:p>
            <a:pPr eaLnBrk="0" latinLnBrk="0" algn="l" marL="283464" indent="-283464">
              <a:spcAft>
                <a:spcPts val="0"/>
              </a:spcAft>
              <a:buFont typeface="Arial"/>
              <a:buChar char=" "/>
            </a:pPr>
            <a:r>
              <a:rPr sz="1200" b="0" lang="ko-KR" altLang="en-US">
                <a:solidFill>
                  <a:srgbClr val="595959"/>
                </a:solidFill>
                <a:latin typeface="나눔스퀘어"/>
                <a:ea typeface="나눔스퀘어"/>
              </a:rPr>
              <a:t>R_v(t) = 생성_v(t) − 생성_v(0)</a:t>
            </a:r>
          </a:p>
          <a:p>
            <a:pPr eaLnBrk="0" latinLnBrk="0" algn="l" marL="283464" indent="-283464">
              <a:spcAft>
                <a:spcPts val="600"/>
              </a:spcAft>
              <a:buFont typeface="Arial"/>
              <a:buChar char=" "/>
            </a:pPr>
            <a:r>
              <a:rPr sz="1200" b="0" lang="ko-KR" altLang="en-US">
                <a:solidFill>
                  <a:srgbClr val="595959"/>
                </a:solidFill>
                <a:latin typeface="나눔스퀘어"/>
                <a:ea typeface="나눔스퀘어"/>
              </a:rPr>
              <a:t>UV(t) = clip( base + α · Σ_v w_v R_v(t) )</a:t>
            </a:r>
          </a:p>
          <a:p>
            <a:pPr eaLnBrk="0" latinLnBrk="0" algn="l" marL="329184" indent="-329184">
              <a:spcAft>
                <a:spcPts val="100"/>
              </a:spcAft>
              <a:buAutoNum type="arabicPeriod" startAt="3"/>
            </a:pPr>
            <a:r>
              <a:rPr sz="1400" b="0" lang="ko-KR" altLang="en-US">
                <a:solidFill>
                  <a:srgbClr val="000000"/>
                </a:solidFill>
                <a:latin typeface="나눔스퀘어 Bold"/>
                <a:ea typeface="나눔스퀘어 Bold"/>
              </a:rPr>
              <a:t>시점 가중치</a:t>
            </a:r>
          </a:p>
          <a:p>
            <a:pPr eaLnBrk="0" latinLnBrk="0" algn="l" marL="283464" indent="-283464">
              <a:spcAft>
                <a:spcPts val="0"/>
              </a:spcAft>
              <a:buFont typeface="Arial"/>
              <a:buChar char=" "/>
            </a:pPr>
            <a:r>
              <a:rPr sz="1200" b="0" lang="ko-KR" altLang="en-US">
                <a:solidFill>
                  <a:srgbClr val="595959"/>
                </a:solidFill>
                <a:latin typeface="나눔스퀘어"/>
                <a:ea typeface="나눔스퀘어"/>
              </a:rPr>
              <a:t>w = visible · max(n·v, 0)⁴ · exp(−0.34 r²) · min(1, 26 / e)</a:t>
            </a:r>
          </a:p>
          <a:p>
            <a:pPr eaLnBrk="0" latinLnBrk="0" algn="l" marL="283464" indent="-283464">
              <a:spcAft>
                <a:spcPts val="600"/>
              </a:spcAft>
              <a:buFont typeface="Arial"/>
              <a:buChar char=" "/>
            </a:pPr>
            <a:r>
              <a:rPr sz="1200" b="0" lang="ko-KR" altLang="en-US">
                <a:solidFill>
                  <a:srgbClr val="595959"/>
                </a:solidFill>
                <a:latin typeface="나눔스퀘어"/>
                <a:ea typeface="나눔스퀘어"/>
              </a:rPr>
              <a:t>정면·화면 중심일수록, 잔차가 작을수록 큼</a:t>
            </a:r>
          </a:p>
          <a:p>
            <a:pPr eaLnBrk="0" latinLnBrk="0" algn="l" marL="329184" indent="-329184">
              <a:spcAft>
                <a:spcPts val="100"/>
              </a:spcAft>
              <a:buAutoNum type="arabicPeriod" startAt="4"/>
            </a:pPr>
            <a:r>
              <a:rPr sz="1400" b="0" lang="ko-KR" altLang="en-US">
                <a:solidFill>
                  <a:srgbClr val="000000"/>
                </a:solidFill>
                <a:latin typeface="나눔스퀘어 Bold"/>
                <a:ea typeface="나눔스퀘어 Bold"/>
              </a:rPr>
              <a:t>배타 owner와 이어 붙이기</a:t>
            </a:r>
          </a:p>
          <a:p>
            <a:pPr eaLnBrk="0" latinLnBrk="0" algn="l" marL="283464" indent="-283464">
              <a:spcAft>
                <a:spcPts val="0"/>
              </a:spcAft>
              <a:buFont typeface="Arial"/>
              <a:buChar char=" "/>
            </a:pPr>
            <a:r>
              <a:rPr sz="1200" b="0" lang="ko-KR" altLang="en-US">
                <a:solidFill>
                  <a:srgbClr val="595959"/>
                </a:solidFill>
                <a:latin typeface="나눔스퀘어"/>
                <a:ea typeface="나눔스퀘어"/>
              </a:rPr>
              <a:t>texel당 owner 1개, 보호 부위 주변 14 texel 제외</a:t>
            </a:r>
          </a:p>
          <a:p>
            <a:pPr eaLnBrk="0" latinLnBrk="0" algn="l" marL="283464" indent="-283464">
              <a:spcAft>
                <a:spcPts val="600"/>
              </a:spcAft>
              <a:buFont typeface="Arial"/>
              <a:buChar char=" "/>
            </a:pPr>
            <a:r>
              <a:rPr sz="1200" b="0" lang="ko-KR" altLang="en-US">
                <a:solidFill>
                  <a:srgbClr val="595959"/>
                </a:solidFill>
                <a:latin typeface="나눔스퀘어"/>
                <a:ea typeface="나눔스퀘어"/>
              </a:rPr>
              <a:t>1 + 5 × 144 = 721 source frame, 늘이기·반복 없음</a:t>
            </a:r>
          </a:p>
          <a:p>
            <a:pPr eaLnBrk="0" latinLnBrk="0" algn="l" marL="329184" indent="-329184">
              <a:spcAft>
                <a:spcPts val="100"/>
              </a:spcAft>
              <a:buAutoNum type="arabicPeriod" startAt="5"/>
            </a:pPr>
            <a:r>
              <a:rPr sz="1400" b="0" lang="ko-KR" altLang="en-US">
                <a:solidFill>
                  <a:srgbClr val="000000"/>
                </a:solidFill>
                <a:latin typeface="나눔스퀘어 Bold"/>
                <a:ea typeface="나눔스퀘어 Bold"/>
              </a:rPr>
              <a:t>seam · fill · gutter</a:t>
            </a:r>
          </a:p>
          <a:p>
            <a:pPr eaLnBrk="0" latinLnBrk="0" algn="l" marL="283464" indent="-283464">
              <a:spcAft>
                <a:spcPts val="600"/>
              </a:spcAft>
              <a:buFont typeface="Arial"/>
              <a:buChar char=" "/>
            </a:pPr>
            <a:r>
              <a:rPr sz="1200" b="0" lang="ko-KR" altLang="en-US">
                <a:solidFill>
                  <a:srgbClr val="595959"/>
                </a:solidFill>
                <a:latin typeface="나눔스퀘어"/>
                <a:ea typeface="나눔스퀘어"/>
              </a:rPr>
              <a:t>split edge 1,907곳 보정, 미관측 texel은 3D 최근접, 섬 바깥 14 px</a:t>
            </a:r>
          </a:p>
        </p:txBody>
      </p:sp>
    </p:spTree>
    <p:extLst>
      <p:ext uri="{BB962C8B-B14F-4D97-AF65-F5344CB8AC3E}">
        <p14:creationId xmlns:p14="http://schemas.microsoft.com/office/powerpoint/2010/main" val="1354753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2">
            <a:extLst>
              <a:ext uri="{FF2B5EF4-FFF2-40B4-BE49-F238E27FC236}">
                <a16:creationId xmlns:a16="http://schemas.microsoft.com/office/drawing/2014/main" id="{36F35D97-75DB-4FF1-B0B2-D1C0980E81A2}"/>
              </a:ext>
            </a:extLst>
          </p:cNvPr>
          <p:cNvSpPr>
            <a:spLocks noGrp="1"/>
          </p:cNvSpPr>
          <p:nvPr/>
        </p:nvSpPr>
        <p:spPr>
          <a:xfrm>
            <a:off x="-8965" y="-8754"/>
            <a:ext cx="12299577" cy="6947436"/>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0" latinLnBrk="0">
              <a:buNone/>
            </a:pPr>
            <a:endParaRPr lang="ko-KR" altLang="en-US"/>
          </a:p>
        </p:txBody>
      </p:sp>
      <p:sp>
        <p:nvSpPr>
          <p:cNvPr id="2" name="Title 1">
            <a:extLst>
              <a:ext uri="{FF2B5EF4-FFF2-40B4-BE49-F238E27FC236}">
                <a16:creationId xmlns:a16="http://schemas.microsoft.com/office/drawing/2014/main" id="{1223B1F0-E64A-4981-AF37-138C80E18B2C}"/>
              </a:ext>
            </a:extLst>
          </p:cNvPr>
          <p:cNvSpPr>
            <a:spLocks noGrp="1"/>
          </p:cNvSpPr>
          <p:nvPr>
            <p:ph type="title"/>
          </p:nvPr>
        </p:nvSpPr>
        <p:spPr>
          <a:xfrm>
            <a:off x="830424" y="2528211"/>
            <a:ext cx="10515600" cy="1325563"/>
          </a:xfrm>
        </p:spPr>
        <p:txBody>
          <a:bodyPr/>
          <a:lstStyle/>
          <a:p>
            <a:pPr algn="ctr" eaLnBrk="0" latinLnBrk="0">
              <a:buNone/>
            </a:pPr>
            <a:r>
              <a:rPr sz="6000" b="0" lang="ko-KR" altLang="en-US">
                <a:solidFill>
                  <a:srgbClr val="FFFFFF"/>
                </a:solidFill>
                <a:latin typeface="나눔스퀘어 ExtraBold"/>
                <a:ea typeface="나눔스퀘어 ExtraBold"/>
                <a:cs typeface="나눔스퀘어 ExtraBold"/>
              </a:rPr>
              <a:t>Experiments</a:t>
            </a:r>
          </a:p>
        </p:txBody>
      </p:sp>
      <p:sp>
        <p:nvSpPr>
          <p:cNvPr id="16" name="직선 연결선 14">
            <a:extLst>
              <a:ext uri="{FF2B5EF4-FFF2-40B4-BE49-F238E27FC236}">
                <a16:creationId xmlns:a16="http://schemas.microsoft.com/office/drawing/2014/main" id="{B328DE0D-F7F9-4E11-89BB-C520EE3002E0}"/>
              </a:ext>
            </a:extLst>
          </p:cNvPr>
          <p:cNvSpPr>
            <a:spLocks noGrp="1"/>
          </p:cNvSpPr>
          <p:nvPr/>
        </p:nvSpPr>
        <p:spPr>
          <a:xfrm>
            <a:off x="2201148" y="4108193"/>
            <a:ext cx="7789701"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sp>
      <p:pic>
        <p:nvPicPr>
          <p:cNvPr id="21" name="Picture 16"/>
          <p:cNvPicPr>
            <a:picLocks noChangeAspect="1"/>
          </p:cNvPicPr>
          <p:nvPr/>
        </p:nvPicPr>
        <p:blipFill>
          <a:blip r:embed="rId3"/>
          <a:stretch>
            <a:fillRect/>
          </a:stretch>
        </p:blipFill>
        <p:spPr>
          <a:xfrm>
            <a:off x="1" y="6372808"/>
            <a:ext cx="1122886" cy="485191"/>
          </a:xfrm>
          <a:prstGeom prst="rect">
            <a:avLst/>
          </a:prstGeom>
        </p:spPr>
      </p:pic>
    </p:spTree>
    <p:extLst>
      <p:ext uri="{BB962C8B-B14F-4D97-AF65-F5344CB8AC3E}">
        <p14:creationId xmlns:p14="http://schemas.microsoft.com/office/powerpoint/2010/main" val="1383220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DC28-4504-47C6-9E96-777C795FDF14}"/>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실험 환경과 평가 지표</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3063240" cy="4480560"/>
          </a:xfrm>
          <a:prstGeom prst="rect">
            <a:avLst/>
          </a:prstGeom>
          <a:noFill/>
        </p:spPr>
        <p:txBody>
          <a:bodyPr wrap="square" anchor="t" lIns="45720" rIns="45720">
            <a:noAutofit/>
          </a:bodyPr>
          <a:lstStyle/>
          <a:p>
            <a:pPr eaLnBrk="0" latinLnBrk="0" algn="l">
              <a:lnSpc>
                <a:spcPct val="130000"/>
              </a:lnSpc>
              <a:spcAft>
                <a:spcPts val="400"/>
              </a:spcAft>
            </a:pPr>
            <a:r>
              <a:rPr sz="1600" b="0" lang="ko-KR" altLang="en-US">
                <a:solidFill>
                  <a:srgbClr val="000000"/>
                </a:solidFill>
                <a:latin typeface="나눔스퀘어 Bold"/>
                <a:ea typeface="나눔스퀘어 Bold"/>
              </a:rPr>
              <a:t>데이터</a:t>
            </a:r>
          </a:p>
          <a:p>
            <a:pPr eaLnBrk="0" latinLnBrk="0" algn="l" marL="283464" indent="-283464">
              <a:lnSpc>
                <a:spcPct val="130000"/>
              </a:lnSpc>
              <a:spcAft>
                <a:spcPts val="400"/>
              </a:spcAft>
              <a:buFont typeface="Arial"/>
              <a:buChar char="•"/>
            </a:pPr>
            <a:r>
              <a:rPr sz="1500" b="0" lang="ko-KR" altLang="en-US">
                <a:solidFill>
                  <a:srgbClr val="000000"/>
                </a:solidFill>
                <a:latin typeface="나눔스퀘어"/>
                <a:ea typeface="나눔스퀘어"/>
              </a:rPr>
              <a:t>개발 메시 2개</a:t>
            </a:r>
          </a:p>
          <a:p>
            <a:pPr eaLnBrk="0" latinLnBrk="0" algn="l" marL="566928" indent="-228600">
              <a:lnSpc>
                <a:spcPct val="130000"/>
              </a:lnSpc>
              <a:spcAft>
                <a:spcPts val="400"/>
              </a:spcAft>
              <a:buFont typeface="Arial"/>
              <a:buChar char="–"/>
            </a:pPr>
            <a:r>
              <a:rPr sz="1200" b="0" lang="ko-KR" altLang="en-US">
                <a:solidFill>
                  <a:srgbClr val="595959"/>
                </a:solidFill>
                <a:latin typeface="나눔스퀘어"/>
                <a:ea typeface="나눔스퀘어"/>
              </a:rPr>
              <a:t>기계형, 관절형 유기</a:t>
            </a:r>
          </a:p>
          <a:p>
            <a:pPr eaLnBrk="0" latinLnBrk="0" algn="l" marL="283464" indent="-283464">
              <a:lnSpc>
                <a:spcPct val="130000"/>
              </a:lnSpc>
              <a:spcAft>
                <a:spcPts val="400"/>
              </a:spcAft>
              <a:buFont typeface="Arial"/>
              <a:buChar char="•"/>
            </a:pPr>
            <a:r>
              <a:rPr sz="1500" b="0" lang="ko-KR" altLang="en-US">
                <a:solidFill>
                  <a:srgbClr val="000000"/>
                </a:solidFill>
                <a:latin typeface="나눔스퀘어"/>
                <a:ea typeface="나눔스퀘어"/>
              </a:rPr>
              <a:t>미사용 메시 16개</a:t>
            </a:r>
          </a:p>
          <a:p>
            <a:pPr eaLnBrk="0" latinLnBrk="0" algn="l" marL="566928" indent="-228600">
              <a:lnSpc>
                <a:spcPct val="130000"/>
              </a:lnSpc>
              <a:spcAft>
                <a:spcPts val="400"/>
              </a:spcAft>
              <a:buFont typeface="Arial"/>
              <a:buChar char="–"/>
            </a:pPr>
            <a:r>
              <a:rPr sz="1200" b="0" lang="ko-KR" altLang="en-US">
                <a:solidFill>
                  <a:srgbClr val="595959"/>
                </a:solidFill>
                <a:latin typeface="나눔스퀘어"/>
                <a:ea typeface="나눔스퀘어"/>
              </a:rPr>
              <a:t>참조 부위 164개</a:t>
            </a:r>
          </a:p>
          <a:p>
            <a:pPr eaLnBrk="0" latinLnBrk="0" algn="l" marL="283464" indent="-283464">
              <a:lnSpc>
                <a:spcPct val="130000"/>
              </a:lnSpc>
              <a:spcAft>
                <a:spcPts val="400"/>
              </a:spcAft>
              <a:buFont typeface="Arial"/>
              <a:buChar char="•"/>
            </a:pPr>
            <a:r>
              <a:rPr sz="1500" b="0" lang="ko-KR" altLang="en-US">
                <a:solidFill>
                  <a:srgbClr val="000000"/>
                </a:solidFill>
                <a:latin typeface="나눔스퀘어"/>
                <a:ea typeface="나눔스퀘어"/>
              </a:rPr>
              <a:t>TheRock</a:t>
            </a:r>
          </a:p>
          <a:p>
            <a:pPr eaLnBrk="0" latinLnBrk="0" algn="l" marL="566928" indent="-228600">
              <a:lnSpc>
                <a:spcPct val="130000"/>
              </a:lnSpc>
              <a:spcAft>
                <a:spcPts val="400"/>
              </a:spcAft>
              <a:buFont typeface="Arial"/>
              <a:buChar char="–"/>
            </a:pPr>
            <a:r>
              <a:rPr sz="1200" b="0" lang="ko-KR" altLang="en-US">
                <a:solidFill>
                  <a:srgbClr val="595959"/>
                </a:solidFill>
                <a:latin typeface="나눔스퀘어"/>
                <a:ea typeface="나눔스퀘어"/>
              </a:rPr>
              <a:t>low poly 248 vertex, 492 face</a:t>
            </a:r>
          </a:p>
          <a:p>
            <a:pPr eaLnBrk="0" latinLnBrk="0" algn="l" marL="283464" indent="-283464">
              <a:lnSpc>
                <a:spcPct val="130000"/>
              </a:lnSpc>
              <a:spcAft>
                <a:spcPts val="400"/>
              </a:spcAft>
              <a:buFont typeface="Arial"/>
              <a:buChar char="•"/>
            </a:pPr>
            <a:r>
              <a:rPr sz="1500" b="0" lang="ko-KR" altLang="en-US">
                <a:solidFill>
                  <a:srgbClr val="000000"/>
                </a:solidFill>
                <a:latin typeface="나눔스퀘어"/>
                <a:ea typeface="나눔스퀘어"/>
              </a:rPr>
              <a:t>오디오 30초</a:t>
            </a:r>
          </a:p>
          <a:p>
            <a:pPr eaLnBrk="0" latinLnBrk="0" algn="l" marL="566928" indent="-228600">
              <a:lnSpc>
                <a:spcPct val="130000"/>
              </a:lnSpc>
              <a:spcAft>
                <a:spcPts val="400"/>
              </a:spcAft>
              <a:buFont typeface="Arial"/>
              <a:buChar char="–"/>
            </a:pPr>
            <a:r>
              <a:rPr sz="1200" b="0" lang="ko-KR" altLang="en-US">
                <a:solidFill>
                  <a:srgbClr val="595959"/>
                </a:solidFill>
                <a:latin typeface="나눔스퀘어"/>
                <a:ea typeface="나눔스퀘어"/>
              </a:rPr>
              <a:t>v30 2곡, E231·E237 각 1곡</a:t>
            </a:r>
          </a:p>
        </p:txBody>
      </p:sp>
      <p:graphicFrame>
        <p:nvGraphicFramePr>
          <p:cNvPr id="19" name="Table 18"/>
          <p:cNvGraphicFramePr>
            <a:graphicFrameLocks noGrp="1"/>
          </p:cNvGraphicFramePr>
          <p:nvPr/>
        </p:nvGraphicFramePr>
        <p:xfrm>
          <a:off x="4069080" y="1600200"/>
          <a:ext cx="7269480" cy="3657600"/>
        </p:xfrm>
        <a:graphic>
          <a:graphicData uri="http://schemas.openxmlformats.org/drawingml/2006/table">
            <a:tbl>
              <a:tblPr firstRow="1" bandRow="0">
                <a:tableStyleId>{2D5ABB26-0587-4C30-8999-92F81FD0307C}</a:tableStyleId>
              </a:tblPr>
              <a:tblGrid>
                <a:gridCol w="1645920"/>
                <a:gridCol w="2148840"/>
                <a:gridCol w="3474720"/>
              </a:tblGrid>
              <a:tr h="731520">
                <a:tc>
                  <a:txBody>
                    <a:bodyPr wrap="square"/>
                    <a:lstStyle/>
                    <a:p>
                      <a:pPr eaLnBrk="0" latinLnBrk="0" algn="l"/>
                      <a:r>
                        <a:rPr sz="1300" b="0" lang="ko-KR" altLang="en-US">
                          <a:solidFill>
                            <a:srgbClr val="000000"/>
                          </a:solidFill>
                          <a:latin typeface="나눔스퀘어 Bold"/>
                          <a:ea typeface="나눔스퀘어 Bold"/>
                        </a:rPr>
                        <a:t>질문</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300" b="0" lang="ko-KR" altLang="en-US">
                          <a:solidFill>
                            <a:srgbClr val="000000"/>
                          </a:solidFill>
                          <a:latin typeface="나눔스퀘어 Bold"/>
                          <a:ea typeface="나눔스퀘어 Bold"/>
                        </a:rPr>
                        <a:t>지표</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300" b="0" lang="ko-KR" altLang="en-US">
                          <a:solidFill>
                            <a:srgbClr val="000000"/>
                          </a:solidFill>
                          <a:latin typeface="나눔스퀘어 Bold"/>
                          <a:ea typeface="나눔스퀘어 Bold"/>
                        </a:rPr>
                        <a:t>보는 것</a:t>
                      </a:r>
                    </a:p>
                  </a:txBody>
                  <a:tcPr marL="64008" marR="64008" marT="27432" marB="27432" anchor="ctr">
                    <a:lnL w="0">
                      <a:noFill/>
                    </a:lnL>
                    <a:lnR w="0">
                      <a:noFill/>
                    </a:lnR>
                    <a:lnT w="19050">
                      <a:solidFill>
                        <a:srgbClr val="000000"/>
                      </a:solidFill>
                    </a:lnT>
                    <a:lnB w="12700">
                      <a:solidFill>
                        <a:srgbClr val="000000"/>
                      </a:solidFill>
                    </a:lnB>
                    <a:noFill/>
                  </a:tcPr>
                </a:tc>
              </a:tr>
              <a:tr h="731520">
                <a:tc>
                  <a:txBody>
                    <a:bodyPr wrap="square"/>
                    <a:lstStyle/>
                    <a:p>
                      <a:pPr eaLnBrk="0" latinLnBrk="0" algn="l"/>
                      <a:r>
                        <a:rPr sz="1300" b="0" lang="ko-KR" altLang="en-US">
                          <a:solidFill>
                            <a:srgbClr val="000000"/>
                          </a:solidFill>
                          <a:latin typeface="나눔스퀘어 Bold"/>
                          <a:ea typeface="나눔스퀘어 Bold"/>
                        </a:rPr>
                        <a:t>RQ1 영역 제안</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oracle 선택 용량</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기준 부위를 알고 문법 안에서 고른 최대 IoU = 후보 집합의 표현력 상한</a:t>
                      </a:r>
                    </a:p>
                  </a:txBody>
                  <a:tcPr marL="64008" marR="64008" marT="27432" marB="27432" anchor="ctr">
                    <a:lnL w="0">
                      <a:noFill/>
                    </a:lnL>
                    <a:lnR w="0">
                      <a:noFill/>
                    </a:lnR>
                    <a:lnT w="0">
                      <a:noFill/>
                    </a:lnT>
                    <a:lnB w="6350">
                      <a:solidFill>
                        <a:srgbClr val="D9D9D9"/>
                      </a:solidFill>
                    </a:lnB>
                    <a:noFill/>
                  </a:tcPr>
                </a:tc>
              </a:tr>
              <a:tr h="731520">
                <a:tc>
                  <a:txBody>
                    <a:bodyPr wrap="square"/>
                    <a:lstStyle/>
                    <a:p>
                      <a:pPr eaLnBrk="0" latinLnBrk="0" algn="l"/>
                      <a:r>
                        <a:rPr sz="1300" b="0" lang="ko-KR" altLang="en-US">
                          <a:solidFill>
                            <a:srgbClr val="000000"/>
                          </a:solidFill>
                          <a:latin typeface="나눔스퀘어 Bold"/>
                          <a:ea typeface="나눔스퀘어 Bold"/>
                        </a:rPr>
                        <a:t>RQ2 영역별 반응</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effective rank D</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D = exp(−Σ p_i ln p_i): 영역 시간 반응이 몇 갈래로 나뉘는가</a:t>
                      </a:r>
                    </a:p>
                  </a:txBody>
                  <a:tcPr marL="64008" marR="64008" marT="27432" marB="27432" anchor="ctr">
                    <a:lnL w="0">
                      <a:noFill/>
                    </a:lnL>
                    <a:lnR w="0">
                      <a:noFill/>
                    </a:lnR>
                    <a:lnT w="0">
                      <a:noFill/>
                    </a:lnT>
                    <a:lnB w="6350">
                      <a:solidFill>
                        <a:srgbClr val="D9D9D9"/>
                      </a:solidFill>
                    </a:lnB>
                    <a:noFill/>
                  </a:tcPr>
                </a:tc>
              </a:tr>
              <a:tr h="731520">
                <a:tc>
                  <a:txBody>
                    <a:bodyPr wrap="square"/>
                    <a:lstStyle/>
                    <a:p>
                      <a:pPr eaLnBrk="0" latinLnBrk="0" algn="l"/>
                      <a:r>
                        <a:rPr sz="1300" b="0" lang="ko-KR" altLang="en-US">
                          <a:solidFill>
                            <a:srgbClr val="000000"/>
                          </a:solidFill>
                          <a:latin typeface="나눔스퀘어 Bold"/>
                          <a:ea typeface="나눔스퀘어 Bold"/>
                        </a:rPr>
                        <a:t>RQ3 표면 일관성</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seam 차이, coverage, 보호 영역 변화</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UV 경계와 보호 부위가 깨지지 않는가</a:t>
                      </a:r>
                    </a:p>
                  </a:txBody>
                  <a:tcPr marL="64008" marR="64008" marT="27432" marB="27432" anchor="ctr">
                    <a:lnL w="0">
                      <a:noFill/>
                    </a:lnL>
                    <a:lnR w="0">
                      <a:noFill/>
                    </a:lnR>
                    <a:lnT w="0">
                      <a:noFill/>
                    </a:lnT>
                    <a:lnB w="6350">
                      <a:solidFill>
                        <a:srgbClr val="D9D9D9"/>
                      </a:solidFill>
                    </a:lnB>
                    <a:noFill/>
                  </a:tcPr>
                </a:tc>
              </a:tr>
              <a:tr h="731520">
                <a:tc>
                  <a:txBody>
                    <a:bodyPr wrap="square"/>
                    <a:lstStyle/>
                    <a:p>
                      <a:pPr eaLnBrk="0" latinLnBrk="0" algn="l"/>
                      <a:r>
                        <a:rPr sz="1300" b="0" lang="ko-KR" altLang="en-US">
                          <a:solidFill>
                            <a:srgbClr val="000000"/>
                          </a:solidFill>
                          <a:latin typeface="나눔스퀘어 Bold"/>
                          <a:ea typeface="나눔스퀘어 Bold"/>
                        </a:rPr>
                        <a:t>RQ4 오디오 정렬</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l"/>
                      <a:r>
                        <a:rPr sz="1300" b="0" lang="ko-KR" altLang="en-US">
                          <a:solidFill>
                            <a:srgbClr val="000000"/>
                          </a:solidFill>
                          <a:latin typeface="나눔스퀘어"/>
                          <a:ea typeface="나눔스퀘어"/>
                        </a:rPr>
                        <a:t>사건 시작점 점수, trigger hit</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l"/>
                      <a:r>
                        <a:rPr sz="1300" b="0" lang="ko-KR" altLang="en-US">
                          <a:solidFill>
                            <a:srgbClr val="000000"/>
                          </a:solidFill>
                          <a:latin typeface="나눔스퀘어"/>
                          <a:ea typeface="나눔스퀘어"/>
                        </a:rPr>
                        <a:t>실제 vs +7초 이동 오디오에서 사건 시작이 특징과 맞는가</a:t>
                      </a:r>
                    </a:p>
                  </a:txBody>
                  <a:tcPr marL="64008" marR="64008" marT="27432" marB="27432" anchor="ctr">
                    <a:lnL w="0">
                      <a:noFill/>
                    </a:lnL>
                    <a:lnR w="0">
                      <a:noFill/>
                    </a:lnR>
                    <a:lnT w="0">
                      <a:noFill/>
                    </a:lnT>
                    <a:lnB w="19050">
                      <a:solidFill>
                        <a:srgbClr val="000000"/>
                      </a:solidFill>
                    </a:lnB>
                    <a:noFill/>
                  </a:tcPr>
                </a:tc>
              </a:tr>
            </a:tbl>
          </a:graphicData>
        </a:graphic>
      </p:graphicFrame>
      <p:sp>
        <p:nvSpPr>
          <p:cNvPr id="20" name="TextBox 19"/>
          <p:cNvSpPr txBox="1"/>
          <p:nvPr/>
        </p:nvSpPr>
        <p:spPr>
          <a:xfrm>
            <a:off x="4069080" y="5440680"/>
            <a:ext cx="7269480" cy="685800"/>
          </a:xfrm>
          <a:prstGeom prst="rect">
            <a:avLst/>
          </a:prstGeom>
          <a:noFill/>
        </p:spPr>
        <p:txBody>
          <a:bodyPr wrap="square" anchor="t" lIns="45720" rIns="45720">
            <a:noAutofit/>
          </a:bodyPr>
          <a:lstStyle/>
          <a:p>
            <a:pPr eaLnBrk="0" latinLnBrk="0" algn="l">
              <a:spcAft>
                <a:spcPts val="400"/>
              </a:spcAft>
            </a:pPr>
            <a:r>
              <a:rPr sz="1300" b="0" lang="ko-KR" altLang="en-US">
                <a:solidFill>
                  <a:srgbClr val="595959"/>
                </a:solidFill>
                <a:latin typeface="나눔스퀘어"/>
                <a:ea typeface="나눔스퀘어"/>
              </a:rPr>
              <a:t>정답 없는 생성 과업 → 질문별 대리 지표.  작품성은 4단계 판정: </a:t>
            </a:r>
            <a:r>
              <a:rPr sz="1300" b="0" lang="ko-KR" altLang="en-US">
                <a:solidFill>
                  <a:srgbClr val="595959"/>
                </a:solidFill>
                <a:latin typeface="나눔스퀘어 Bold"/>
                <a:ea typeface="나눔스퀘어 Bold"/>
              </a:rPr>
              <a:t>기술 무결성 → MSR 인과 기여 → 콘텐츠 후보 → 사용자 승인(veto)</a:t>
            </a:r>
          </a:p>
        </p:txBody>
      </p:sp>
    </p:spTree>
    <p:extLst>
      <p:ext uri="{BB962C8B-B14F-4D97-AF65-F5344CB8AC3E}">
        <p14:creationId xmlns:p14="http://schemas.microsoft.com/office/powerpoint/2010/main" val="381749287"/>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결과 ① 영역 제안의 표현력</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10522915" cy="365760"/>
          </a:xfrm>
          <a:prstGeom prst="rect">
            <a:avLst/>
          </a:prstGeom>
          <a:noFill/>
        </p:spPr>
        <p:txBody>
          <a:bodyPr wrap="square" lIns="45720" rIns="45720">
            <a:noAutofit/>
          </a:bodyPr>
          <a:lstStyle/>
          <a:p>
            <a:pPr algn="l" eaLnBrk="0" latinLnBrk="0">
              <a:spcAft>
                <a:spcPts val="400"/>
              </a:spcAft>
            </a:pPr>
            <a:r>
              <a:rPr sz="1700" b="0" lang="ko-KR" altLang="en-US">
                <a:solidFill>
                  <a:srgbClr val="000000"/>
                </a:solidFill>
                <a:latin typeface="나눔스퀘어 Bold"/>
                <a:ea typeface="나눔스퀘어 Bold"/>
              </a:rPr>
              <a:t>RQ1. 자동 영역 제안이 기준 부위를 더 잘 표현하는가?</a:t>
            </a:r>
          </a:p>
        </p:txBody>
      </p:sp>
      <p:graphicFrame>
        <p:nvGraphicFramePr>
          <p:cNvPr id="19" name="E86 막대그래프"/>
          <p:cNvGraphicFramePr>
            <a:graphicFrameLocks noGrp="1"/>
          </p:cNvGraphicFramePr>
          <p:nvPr/>
        </p:nvGraphicFramePr>
        <p:xfrm>
          <a:off x="830275" y="1965960"/>
          <a:ext cx="6675120" cy="4114800"/>
        </p:xfrm>
        <a:graphic>
          <a:graphicData uri="http://schemas.openxmlformats.org/drawingml/2006/chart">
            <c:chart xmlns:c="http://schemas.openxmlformats.org/drawingml/2006/chart" r:id="rId2"/>
          </a:graphicData>
        </a:graphic>
      </p:graphicFrame>
      <p:sp>
        <p:nvSpPr>
          <p:cNvPr id="20" name="TextBox 19"/>
          <p:cNvSpPr txBox="1"/>
          <p:nvPr/>
        </p:nvSpPr>
        <p:spPr>
          <a:xfrm>
            <a:off x="7818120" y="2011680"/>
            <a:ext cx="3520440" cy="2377440"/>
          </a:xfrm>
          <a:prstGeom prst="rect">
            <a:avLst/>
          </a:prstGeom>
          <a:noFill/>
        </p:spPr>
        <p:txBody>
          <a:bodyPr wrap="square" lIns="45720" rIns="45720">
            <a:noAutofit/>
          </a:bodyPr>
          <a:lstStyle/>
          <a:p>
            <a:pPr algn="l" eaLnBrk="0" latinLnBrk="0">
              <a:spcAft>
                <a:spcPts val="0"/>
              </a:spcAft>
            </a:pPr>
            <a:r>
              <a:rPr sz="3400" b="0" lang="ko-KR" altLang="en-US">
                <a:solidFill>
                  <a:srgbClr val="000000"/>
                </a:solidFill>
                <a:latin typeface="나눔스퀘어 ExtraBold"/>
                <a:ea typeface="나눔스퀘어 ExtraBold"/>
              </a:rPr>
              <a:t>+4.35%p</a:t>
            </a:r>
          </a:p>
          <a:p>
            <a:pPr algn="l" eaLnBrk="0" latinLnBrk="0">
              <a:spcAft>
                <a:spcPts val="1600"/>
              </a:spcAft>
            </a:pPr>
            <a:r>
              <a:rPr sz="1300" b="0" lang="ko-KR" altLang="en-US">
                <a:solidFill>
                  <a:srgbClr val="595959"/>
                </a:solidFill>
                <a:latin typeface="나눔스퀘어"/>
                <a:ea typeface="나눔스퀘어"/>
              </a:rPr>
              <a:t>Raw PartField 대비 (95% CI 2.01 – 7.22)</a:t>
            </a:r>
          </a:p>
          <a:p>
            <a:pPr algn="l" eaLnBrk="0" latinLnBrk="0">
              <a:spcAft>
                <a:spcPts val="0"/>
              </a:spcAft>
            </a:pPr>
            <a:r>
              <a:rPr sz="3400" b="0" lang="ko-KR" altLang="en-US">
                <a:solidFill>
                  <a:srgbClr val="000000"/>
                </a:solidFill>
                <a:latin typeface="나눔스퀘어 ExtraBold"/>
                <a:ea typeface="나눔스퀘어 ExtraBold"/>
              </a:rPr>
              <a:t>+1.67%p</a:t>
            </a:r>
          </a:p>
          <a:p>
            <a:pPr algn="l" eaLnBrk="0" latinLnBrk="0">
              <a:spcAft>
                <a:spcPts val="400"/>
              </a:spcAft>
            </a:pPr>
            <a:r>
              <a:rPr sz="1300" b="0" lang="ko-KR" altLang="en-US">
                <a:solidFill>
                  <a:srgbClr val="595959"/>
                </a:solidFill>
                <a:latin typeface="나눔스퀘어"/>
                <a:ea typeface="나눔스퀘어"/>
              </a:rPr>
              <a:t>비언어 관찰 후보 대비 (95% CI 0.78 – 2.63)</a:t>
            </a:r>
          </a:p>
        </p:txBody>
      </p:sp>
      <p:sp>
        <p:nvSpPr>
          <p:cNvPr id="21" name="TextBox 20"/>
          <p:cNvSpPr txBox="1"/>
          <p:nvPr/>
        </p:nvSpPr>
        <p:spPr>
          <a:xfrm>
            <a:off x="7818120" y="4343400"/>
            <a:ext cx="3520440" cy="1783080"/>
          </a:xfrm>
          <a:prstGeom prst="rect">
            <a:avLst/>
          </a:prstGeom>
          <a:noFill/>
        </p:spPr>
        <p:txBody>
          <a:bodyPr wrap="square" anchor="t" lIns="45720" rIns="45720">
            <a:noAutofit/>
          </a:bodyPr>
          <a:lstStyle/>
          <a:p>
            <a:pPr eaLnBrk="0" latinLnBrk="0" algn="l" marL="283464" indent="-283464">
              <a:lnSpc>
                <a:spcPct val="115000"/>
              </a:lnSpc>
              <a:spcAft>
                <a:spcPts val="300"/>
              </a:spcAft>
              <a:buFont typeface="Arial"/>
              <a:buChar char="•"/>
            </a:pPr>
            <a:r>
              <a:rPr sz="1250" b="0" lang="ko-KR" altLang="en-US">
                <a:solidFill>
                  <a:srgbClr val="595959"/>
                </a:solidFill>
                <a:latin typeface="나눔스퀘어"/>
                <a:ea typeface="나눔스퀘어"/>
              </a:rPr>
              <a:t>oracle = 기준 부위를 알고 고른 최대 IoU → 자동 정확도가 아니라 표현력 상한</a:t>
            </a:r>
          </a:p>
          <a:p>
            <a:pPr eaLnBrk="0" latinLnBrk="0" algn="l" marL="283464" indent="-283464">
              <a:lnSpc>
                <a:spcPct val="115000"/>
              </a:lnSpc>
              <a:spcAft>
                <a:spcPts val="300"/>
              </a:spcAft>
              <a:buFont typeface="Arial"/>
              <a:buChar char="•"/>
            </a:pPr>
            <a:r>
              <a:rPr sz="1250" b="0" lang="ko-KR" altLang="en-US">
                <a:solidFill>
                  <a:srgbClr val="595959"/>
                </a:solidFill>
                <a:latin typeface="나눔스퀘어"/>
                <a:ea typeface="나눔스퀘어"/>
              </a:rPr>
              <a:t>확대 관찰(E85)은 원래 기준 미통과 → 별도 질문(E86)으로 독립 확인</a:t>
            </a:r>
          </a:p>
          <a:p>
            <a:pPr eaLnBrk="0" latinLnBrk="0" algn="l" marL="283464" indent="-283464">
              <a:lnSpc>
                <a:spcPct val="115000"/>
              </a:lnSpc>
              <a:spcAft>
                <a:spcPts val="300"/>
              </a:spcAft>
              <a:buFont typeface="Arial"/>
              <a:buChar char="•"/>
            </a:pPr>
            <a:r>
              <a:rPr sz="1250" b="0" lang="ko-KR" altLang="en-US">
                <a:solidFill>
                  <a:srgbClr val="595959"/>
                </a:solidFill>
                <a:latin typeface="나눔스퀘어"/>
                <a:ea typeface="나눔스퀘어"/>
              </a:rPr>
              <a:t>작은 부위(면적 1% 미만 18개)에서는 나쁜 사례 존재</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B8D5-CC7B-4AB1-A1F8-251595A3730B}"/>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결과 ② 영역별 반응과 오디오</a:t>
            </a:r>
          </a:p>
        </p:txBody>
      </p:sp>
      <p:sp>
        <p:nvSpPr>
          <p:cNvPr id="16" name="직선 연결선 14">
            <a:extLst>
              <a:ext uri="{FF2B5EF4-FFF2-40B4-BE49-F238E27FC236}">
                <a16:creationId xmlns:a16="http://schemas.microsoft.com/office/drawing/2014/main" id="{47419BC5-C441-4E2D-BD04-CE6E50C028A6}"/>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p>
            <a:pPr eaLnBrk="0" latinLnBrk="0"/>
          </a:p>
        </p:txBody>
      </p:sp>
      <p:sp>
        <p:nvSpPr>
          <p:cNvPr id="17" name="직선 연결선 7">
            <a:extLst>
              <a:ext uri="{FF2B5EF4-FFF2-40B4-BE49-F238E27FC236}">
                <a16:creationId xmlns:a16="http://schemas.microsoft.com/office/drawing/2014/main" id="{5AC8C24D-6D3E-4A69-8DBB-155F20F4B5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p>
            <a:pPr eaLnBrk="0" latinLnBrk="0"/>
          </a:p>
        </p:txBody>
      </p:sp>
      <p:sp>
        <p:nvSpPr>
          <p:cNvPr id="18" name="TextBox 17">
            <a:extLst>
              <a:ext uri="{FF2B5EF4-FFF2-40B4-BE49-F238E27FC236}">
                <a16:creationId xmlns:a16="http://schemas.microsoft.com/office/drawing/2014/main" id="{386EAAF8-D652-4E19-8497-5D4107648995}"/>
              </a:ext>
            </a:extLst>
          </p:cNvPr>
          <p:cNvSpPr>
            <a:spLocks noGrp="1"/>
          </p:cNvSpPr>
          <p:nvPr/>
        </p:nvSpPr>
        <p:spPr>
          <a:xfrm>
            <a:off x="830275" y="1481328"/>
            <a:ext cx="10522915" cy="365760"/>
          </a:xfrm>
          <a:prstGeom prst="rect">
            <a:avLst/>
          </a:prstGeom>
          <a:noFill/>
        </p:spPr>
        <p:txBody>
          <a:bodyPr wrap="square" lIns="45720" rIns="45720" anchor="t">
            <a:noAutofit/>
          </a:bodyPr>
          <a:lstStyle/>
          <a:p>
            <a:pPr algn="l" eaLnBrk="0" latinLnBrk="0">
              <a:spcAft>
                <a:spcPts val="400"/>
              </a:spcAft>
              <a:buNone/>
            </a:pPr>
            <a:r>
              <a:rPr sz="1700" b="0" lang="ko-KR" altLang="en-US">
                <a:solidFill>
                  <a:srgbClr val="000000"/>
                </a:solidFill>
                <a:latin typeface="나눔스퀘어 Bold"/>
                <a:ea typeface="나눔스퀘어 Bold"/>
                <a:cs typeface="나눔스퀘어 Bold"/>
              </a:rPr>
              <a:t>RQ2. 영역별로 다르게 반응하는가?   RQ4. 오디오 타이밍에 맞춰 반응하는가?</a:t>
            </a:r>
          </a:p>
        </p:txBody>
      </p:sp>
      <p:sp>
        <p:nvSpPr>
          <p:cNvPr id="19" name="TextBox 18">
            <a:extLst>
              <a:ext uri="{FF2B5EF4-FFF2-40B4-BE49-F238E27FC236}">
                <a16:creationId xmlns:a16="http://schemas.microsoft.com/office/drawing/2014/main" id="{6552B768-4AE2-4342-91F3-79629C81318C}"/>
              </a:ext>
            </a:extLst>
          </p:cNvPr>
          <p:cNvSpPr>
            <a:spLocks noGrp="1"/>
          </p:cNvSpPr>
          <p:nvPr/>
        </p:nvSpPr>
        <p:spPr>
          <a:xfrm>
            <a:off x="830275" y="1965960"/>
            <a:ext cx="5074920" cy="320040"/>
          </a:xfrm>
          <a:prstGeom prst="rect">
            <a:avLst/>
          </a:prstGeom>
          <a:noFill/>
        </p:spPr>
        <p:txBody>
          <a:bodyPr wrap="square" lIns="45720" rIns="45720" anchor="t">
            <a:noAutofit/>
          </a:bodyPr>
          <a:lstStyle/>
          <a:p>
            <a:pPr algn="l" eaLnBrk="0" latinLnBrk="0">
              <a:spcAft>
                <a:spcPts val="400"/>
              </a:spcAft>
              <a:buNone/>
            </a:pPr>
            <a:r>
              <a:rPr sz="1400" b="0" lang="ko-KR" altLang="en-US">
                <a:solidFill>
                  <a:srgbClr val="595959"/>
                </a:solidFill>
                <a:latin typeface="나눔스퀘어"/>
                <a:ea typeface="나눔스퀘어"/>
                <a:cs typeface="나눔스퀘어"/>
              </a:rPr>
              <a:t>영역별 시간 반응의 유효 차원 (rank D)</a:t>
            </a:r>
          </a:p>
        </p:txBody>
      </p:sp>
      <p:graphicFrame>
        <p:nvGraphicFramePr>
          <p:cNvPr id="41" name="Table 19"/>
          <p:cNvGraphicFramePr/>
          <p:nvPr/>
        </p:nvGraphicFramePr>
        <p:xfrm>
          <a:off x="830275" y="2286000"/>
          <a:ext cx="5074920" cy="2057400"/>
        </p:xfrm>
        <a:graphic>
          <a:graphicData uri="http://schemas.openxmlformats.org/drawingml/2006/table">
            <a:tbl>
              <a:tblPr firstRow="1">
                <a:tableStyleId>{2D5ABB26-0587-4C30-8999-92F81FD0307C}</a:tableStyleId>
              </a:tblPr>
              <a:tblGrid>
                <a:gridCol w="2148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11480">
                <a:tc>
                  <a:txBody>
                    <a:bodyPr/>
                    <a:lstStyle/>
                    <a:p>
                      <a:pPr algn="l" eaLnBrk="0" latinLnBrk="0">
                        <a:buNone/>
                      </a:pPr>
                      <a:r>
                        <a:rPr sz="1400" b="0" lang="ko-KR" altLang="en-US">
                          <a:solidFill>
                            <a:srgbClr val="000000"/>
                          </a:solidFill>
                          <a:latin typeface="나눔스퀘어 Bold"/>
                          <a:ea typeface="나눔스퀘어 Bold"/>
                          <a:cs typeface="나눔스퀘어 Bold"/>
                        </a:rPr>
                        <a:t>조건</a:t>
                      </a:r>
                    </a:p>
                  </a:txBody>
                  <a:tcPr marL="73152" marR="73152" marT="27432" marB="27432" anchor="ctr">
                    <a:lnL w="0">
                      <a:noFill/>
                    </a:lnL>
                    <a:lnR w="0">
                      <a:noFill/>
                    </a:lnR>
                    <a:lnT w="19050">
                      <a:solidFill>
                        <a:srgbClr val="000000"/>
                      </a:solidFill>
                    </a:lnT>
                    <a:lnB w="12700">
                      <a:solidFill>
                        <a:srgbClr val="000000"/>
                      </a:solidFill>
                    </a:lnB>
                    <a:noFill/>
                  </a:tcPr>
                </a:tc>
                <a:tc>
                  <a:txBody>
                    <a:bodyPr/>
                    <a:lstStyle/>
                    <a:p>
                      <a:pPr algn="ctr" eaLnBrk="0" latinLnBrk="0">
                        <a:buNone/>
                      </a:pPr>
                      <a:r>
                        <a:rPr sz="1400" b="0" lang="ko-KR" altLang="en-US">
                          <a:solidFill>
                            <a:srgbClr val="000000"/>
                          </a:solidFill>
                          <a:latin typeface="나눔스퀘어 Bold"/>
                          <a:ea typeface="나눔스퀘어 Bold"/>
                          <a:cs typeface="나눔스퀘어 Bold"/>
                        </a:rPr>
                        <a:t>기계형 객체</a:t>
                      </a:r>
                    </a:p>
                  </a:txBody>
                  <a:tcPr marL="73152" marR="73152" marT="27432" marB="27432" anchor="ctr">
                    <a:lnL w="0">
                      <a:noFill/>
                    </a:lnL>
                    <a:lnR w="0">
                      <a:noFill/>
                    </a:lnR>
                    <a:lnT w="19050">
                      <a:solidFill>
                        <a:srgbClr val="000000"/>
                      </a:solidFill>
                    </a:lnT>
                    <a:lnB w="12700">
                      <a:solidFill>
                        <a:srgbClr val="000000"/>
                      </a:solidFill>
                    </a:lnB>
                    <a:noFill/>
                  </a:tcPr>
                </a:tc>
                <a:tc>
                  <a:txBody>
                    <a:bodyPr/>
                    <a:lstStyle/>
                    <a:p>
                      <a:pPr algn="ctr" eaLnBrk="0" latinLnBrk="0">
                        <a:buNone/>
                      </a:pPr>
                      <a:r>
                        <a:rPr sz="1400" b="0" lang="ko-KR" altLang="en-US">
                          <a:solidFill>
                            <a:srgbClr val="000000"/>
                          </a:solidFill>
                          <a:latin typeface="나눔스퀘어 Bold"/>
                          <a:ea typeface="나눔스퀘어 Bold"/>
                          <a:cs typeface="나눔스퀘어 Bold"/>
                        </a:rPr>
                        <a:t>관절형 유기 객체</a:t>
                      </a:r>
                    </a:p>
                  </a:txBody>
                  <a:tcPr marL="73152" marR="73152" marT="27432" marB="27432" anchor="ctr">
                    <a:lnL w="0">
                      <a:noFill/>
                    </a:lnL>
                    <a:lnR w="0">
                      <a:noFill/>
                    </a:lnR>
                    <a:lnT w="19050">
                      <a:solidFill>
                        <a:srgbClr val="000000"/>
                      </a:solidFill>
                    </a:lnT>
                    <a:lnB w="12700">
                      <a:solidFill>
                        <a:srgbClr val="000000"/>
                      </a:solidFill>
                    </a:lnB>
                    <a:noFill/>
                  </a:tcPr>
                </a:tc>
                <a:extLst>
                  <a:ext uri="{0D108BD9-81ED-4DB2-BD59-A6C34878D82A}">
                    <a16:rowId xmlns:a16="http://schemas.microsoft.com/office/drawing/2014/main" val="10000"/>
                  </a:ext>
                </a:extLst>
              </a:tr>
              <a:tr h="411480">
                <a:tc>
                  <a:txBody>
                    <a:bodyPr/>
                    <a:lstStyle/>
                    <a:p>
                      <a:pPr algn="l" eaLnBrk="0" latinLnBrk="0">
                        <a:buNone/>
                      </a:pPr>
                      <a:r>
                        <a:rPr sz="1400" b="0" lang="ko-KR" altLang="en-US">
                          <a:solidFill>
                            <a:srgbClr val="000000"/>
                          </a:solidFill>
                          <a:latin typeface="나눔스퀘어 Bold"/>
                          <a:ea typeface="나눔스퀘어 Bold"/>
                          <a:cs typeface="나눔스퀘어 Bold"/>
                        </a:rPr>
                        <a:t>Global</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1.00</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1.00</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1"/>
                  </a:ext>
                </a:extLst>
              </a:tr>
              <a:tr h="411480">
                <a:tc>
                  <a:txBody>
                    <a:bodyPr/>
                    <a:lstStyle/>
                    <a:p>
                      <a:pPr algn="l" eaLnBrk="0" latinLnBrk="0">
                        <a:buNone/>
                      </a:pPr>
                      <a:r>
                        <a:rPr sz="1400" b="0" lang="ko-KR" altLang="en-US">
                          <a:solidFill>
                            <a:srgbClr val="000000"/>
                          </a:solidFill>
                          <a:latin typeface="나눔스퀘어 Bold"/>
                          <a:ea typeface="나눔스퀘어 Bold"/>
                          <a:cs typeface="나눔스퀘어 Bold"/>
                        </a:rPr>
                        <a:t>Soft MSR</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1.00</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1.00</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2"/>
                  </a:ext>
                </a:extLst>
              </a:tr>
              <a:tr h="411480">
                <a:tc>
                  <a:txBody>
                    <a:bodyPr/>
                    <a:lstStyle/>
                    <a:p>
                      <a:pPr algn="l" eaLnBrk="0" latinLnBrk="0">
                        <a:buNone/>
                      </a:pPr>
                      <a:r>
                        <a:rPr sz="1400" b="0" lang="ko-KR" altLang="en-US">
                          <a:solidFill>
                            <a:srgbClr val="000000"/>
                          </a:solidFill>
                          <a:latin typeface="나눔스퀘어 Bold"/>
                          <a:ea typeface="나눔스퀘어 Bold"/>
                          <a:cs typeface="나눔스퀘어 Bold"/>
                        </a:rPr>
                        <a:t>Full MSRG</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solidFill>
                      <a:srgbClr val="F2F2F2"/>
                    </a:solidFill>
                  </a:tcPr>
                </a:tc>
                <a:tc>
                  <a:txBody>
                    <a:bodyPr/>
                    <a:lstStyle/>
                    <a:p>
                      <a:pPr algn="ctr" eaLnBrk="0" latinLnBrk="0">
                        <a:buNone/>
                      </a:pPr>
                      <a:r>
                        <a:rPr sz="1400" b="0" lang="ko-KR" altLang="en-US">
                          <a:solidFill>
                            <a:srgbClr val="000000"/>
                          </a:solidFill>
                          <a:latin typeface="나눔스퀘어 Bold"/>
                          <a:ea typeface="나눔스퀘어 Bold"/>
                          <a:cs typeface="나눔스퀘어 Bold"/>
                        </a:rPr>
                        <a:t>3.58</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solidFill>
                      <a:srgbClr val="F2F2F2"/>
                    </a:solidFill>
                  </a:tcPr>
                </a:tc>
                <a:tc>
                  <a:txBody>
                    <a:bodyPr/>
                    <a:lstStyle/>
                    <a:p>
                      <a:pPr algn="ctr" eaLnBrk="0" latinLnBrk="0">
                        <a:buNone/>
                      </a:pPr>
                      <a:r>
                        <a:rPr sz="1400" b="0" lang="ko-KR" altLang="en-US">
                          <a:solidFill>
                            <a:srgbClr val="000000"/>
                          </a:solidFill>
                          <a:latin typeface="나눔스퀘어 Bold"/>
                          <a:ea typeface="나눔스퀘어 Bold"/>
                          <a:cs typeface="나눔스퀘어 Bold"/>
                        </a:rPr>
                        <a:t>2.24</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solidFill>
                      <a:srgbClr val="F2F2F2"/>
                    </a:solidFill>
                  </a:tcPr>
                </a:tc>
                <a:extLst>
                  <a:ext uri="{0D108BD9-81ED-4DB2-BD59-A6C34878D82A}">
                    <a16:rowId xmlns:a16="http://schemas.microsoft.com/office/drawing/2014/main" val="10003"/>
                  </a:ext>
                </a:extLst>
              </a:tr>
              <a:tr h="411480">
                <a:tc>
                  <a:txBody>
                    <a:bodyPr/>
                    <a:lstStyle/>
                    <a:p>
                      <a:pPr algn="l" eaLnBrk="0" latinLnBrk="0">
                        <a:buNone/>
                      </a:pPr>
                      <a:r>
                        <a:rPr sz="1400" b="0" lang="ko-KR" altLang="en-US">
                          <a:solidFill>
                            <a:srgbClr val="000000"/>
                          </a:solidFill>
                          <a:latin typeface="나눔스퀘어 Bold"/>
                          <a:ea typeface="나눔스퀘어 Bold"/>
                          <a:cs typeface="나눔스퀘어 Bold"/>
                        </a:rPr>
                        <a:t>오디오 변화 상관 (Full)</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0.90</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0.94</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4"/>
                  </a:ext>
                </a:extLst>
              </a:tr>
            </a:tbl>
          </a:graphicData>
        </a:graphic>
      </p:graphicFrame>
      <p:sp>
        <p:nvSpPr>
          <p:cNvPr id="21" name="TextBox 20">
            <a:extLst>
              <a:ext uri="{FF2B5EF4-FFF2-40B4-BE49-F238E27FC236}">
                <a16:creationId xmlns:a16="http://schemas.microsoft.com/office/drawing/2014/main" id="{EEBFBB35-D02D-49F5-97C7-60DD4A50AADB}"/>
              </a:ext>
            </a:extLst>
          </p:cNvPr>
          <p:cNvSpPr>
            <a:spLocks noGrp="1"/>
          </p:cNvSpPr>
          <p:nvPr/>
        </p:nvSpPr>
        <p:spPr>
          <a:xfrm>
            <a:off x="6272784" y="1965960"/>
            <a:ext cx="5074920" cy="320040"/>
          </a:xfrm>
          <a:prstGeom prst="rect">
            <a:avLst/>
          </a:prstGeom>
          <a:noFill/>
        </p:spPr>
        <p:txBody>
          <a:bodyPr wrap="square" lIns="45720" rIns="45720" anchor="t">
            <a:noAutofit/>
          </a:bodyPr>
          <a:lstStyle/>
          <a:p>
            <a:pPr algn="l" eaLnBrk="0" latinLnBrk="0">
              <a:spcAft>
                <a:spcPts val="400"/>
              </a:spcAft>
              <a:buNone/>
            </a:pPr>
            <a:r>
              <a:rPr sz="1400" b="0" lang="ko-KR" altLang="en-US">
                <a:solidFill>
                  <a:srgbClr val="595959"/>
                </a:solidFill>
                <a:latin typeface="나눔스퀘어"/>
                <a:ea typeface="나눔스퀘어"/>
                <a:cs typeface="나눔스퀘어"/>
              </a:rPr>
              <a:t>이전 파이프라인(v30) 30초 결과, 오디오 2곡</a:t>
            </a:r>
          </a:p>
        </p:txBody>
      </p:sp>
      <p:graphicFrame>
        <p:nvGraphicFramePr>
          <p:cNvPr id="43" name="Table 21"/>
          <p:cNvGraphicFramePr/>
          <p:nvPr/>
        </p:nvGraphicFramePr>
        <p:xfrm>
          <a:off x="6272784" y="2286000"/>
          <a:ext cx="5074920" cy="2057400"/>
        </p:xfrm>
        <a:graphic>
          <a:graphicData uri="http://schemas.openxmlformats.org/drawingml/2006/table">
            <a:tbl>
              <a:tblPr firstRow="1">
                <a:tableStyleId>{2D5ABB26-0587-4C30-8999-92F81FD0307C}</a:tableStyleId>
              </a:tblPr>
              <a:tblGrid>
                <a:gridCol w="2148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11480">
                <a:tc>
                  <a:txBody>
                    <a:bodyPr/>
                    <a:lstStyle/>
                    <a:p>
                      <a:pPr algn="l" eaLnBrk="0" latinLnBrk="0">
                        <a:buNone/>
                      </a:pPr>
                      <a:r>
                        <a:rPr sz="1400" b="0" lang="ko-KR" altLang="en-US">
                          <a:solidFill>
                            <a:srgbClr val="000000"/>
                          </a:solidFill>
                          <a:latin typeface="나눔스퀘어 Bold"/>
                          <a:ea typeface="나눔스퀘어 Bold"/>
                          <a:cs typeface="나눔스퀘어 Bold"/>
                        </a:rPr>
                        <a:t>지표</a:t>
                      </a:r>
                    </a:p>
                  </a:txBody>
                  <a:tcPr marL="73152" marR="73152" marT="27432" marB="27432" anchor="ctr">
                    <a:lnL w="0">
                      <a:noFill/>
                    </a:lnL>
                    <a:lnR w="0">
                      <a:noFill/>
                    </a:lnR>
                    <a:lnT w="19050">
                      <a:solidFill>
                        <a:srgbClr val="000000"/>
                      </a:solidFill>
                    </a:lnT>
                    <a:lnB w="12700">
                      <a:solidFill>
                        <a:srgbClr val="000000"/>
                      </a:solidFill>
                    </a:lnB>
                    <a:noFill/>
                  </a:tcPr>
                </a:tc>
                <a:tc>
                  <a:txBody>
                    <a:bodyPr/>
                    <a:lstStyle/>
                    <a:p>
                      <a:pPr algn="ctr" eaLnBrk="0" latinLnBrk="0">
                        <a:buNone/>
                      </a:pPr>
                      <a:r>
                        <a:rPr sz="1400" b="0" lang="ko-KR" altLang="en-US">
                          <a:solidFill>
                            <a:srgbClr val="000000"/>
                          </a:solidFill>
                          <a:latin typeface="나눔스퀘어 Bold"/>
                          <a:ea typeface="나눔스퀘어 Bold"/>
                          <a:cs typeface="나눔스퀘어 Bold"/>
                        </a:rPr>
                        <a:t>오디오 A</a:t>
                      </a:r>
                    </a:p>
                  </a:txBody>
                  <a:tcPr marL="73152" marR="73152" marT="27432" marB="27432" anchor="ctr">
                    <a:lnL w="0">
                      <a:noFill/>
                    </a:lnL>
                    <a:lnR w="0">
                      <a:noFill/>
                    </a:lnR>
                    <a:lnT w="19050">
                      <a:solidFill>
                        <a:srgbClr val="000000"/>
                      </a:solidFill>
                    </a:lnT>
                    <a:lnB w="12700">
                      <a:solidFill>
                        <a:srgbClr val="000000"/>
                      </a:solidFill>
                    </a:lnB>
                    <a:noFill/>
                  </a:tcPr>
                </a:tc>
                <a:tc>
                  <a:txBody>
                    <a:bodyPr/>
                    <a:lstStyle/>
                    <a:p>
                      <a:pPr algn="ctr" eaLnBrk="0" latinLnBrk="0">
                        <a:buNone/>
                      </a:pPr>
                      <a:r>
                        <a:rPr sz="1400" b="0" lang="ko-KR" altLang="en-US">
                          <a:solidFill>
                            <a:srgbClr val="000000"/>
                          </a:solidFill>
                          <a:latin typeface="나눔스퀘어 Bold"/>
                          <a:ea typeface="나눔스퀘어 Bold"/>
                          <a:cs typeface="나눔스퀘어 Bold"/>
                        </a:rPr>
                        <a:t>오디오 B</a:t>
                      </a:r>
                    </a:p>
                  </a:txBody>
                  <a:tcPr marL="73152" marR="73152" marT="27432" marB="27432" anchor="ctr">
                    <a:lnL w="0">
                      <a:noFill/>
                    </a:lnL>
                    <a:lnR w="0">
                      <a:noFill/>
                    </a:lnR>
                    <a:lnT w="19050">
                      <a:solidFill>
                        <a:srgbClr val="000000"/>
                      </a:solidFill>
                    </a:lnT>
                    <a:lnB w="12700">
                      <a:solidFill>
                        <a:srgbClr val="000000"/>
                      </a:solidFill>
                    </a:lnB>
                    <a:noFill/>
                  </a:tcPr>
                </a:tc>
                <a:extLst>
                  <a:ext uri="{0D108BD9-81ED-4DB2-BD59-A6C34878D82A}">
                    <a16:rowId xmlns:a16="http://schemas.microsoft.com/office/drawing/2014/main" val="10000"/>
                  </a:ext>
                </a:extLst>
              </a:tr>
              <a:tr h="411480">
                <a:tc>
                  <a:txBody>
                    <a:bodyPr/>
                    <a:lstStyle/>
                    <a:p>
                      <a:pPr algn="l" eaLnBrk="0" latinLnBrk="0">
                        <a:buNone/>
                      </a:pPr>
                      <a:r>
                        <a:rPr sz="1400" b="0" lang="ko-KR" altLang="en-US">
                          <a:solidFill>
                            <a:srgbClr val="000000"/>
                          </a:solidFill>
                          <a:latin typeface="나눔스퀘어 Bold"/>
                          <a:ea typeface="나눔스퀘어 Bold"/>
                          <a:cs typeface="나눔스퀘어 Bold"/>
                        </a:rPr>
                        <a:t>alignment</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0.918</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0.845</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1"/>
                  </a:ext>
                </a:extLst>
              </a:tr>
              <a:tr h="411480">
                <a:tc>
                  <a:txBody>
                    <a:bodyPr/>
                    <a:lstStyle/>
                    <a:p>
                      <a:pPr algn="l" eaLnBrk="0" latinLnBrk="0">
                        <a:buNone/>
                      </a:pPr>
                      <a:r>
                        <a:rPr sz="1400" b="0" lang="ko-KR" altLang="en-US">
                          <a:solidFill>
                            <a:srgbClr val="000000"/>
                          </a:solidFill>
                          <a:latin typeface="나눔스퀘어 Bold"/>
                          <a:ea typeface="나눔스퀘어 Bold"/>
                          <a:cs typeface="나눔스퀘어 Bold"/>
                        </a:rPr>
                        <a:t>time shuffle 95분위</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0.279</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0.533</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2"/>
                  </a:ext>
                </a:extLst>
              </a:tr>
              <a:tr h="411480">
                <a:tc>
                  <a:txBody>
                    <a:bodyPr/>
                    <a:lstStyle/>
                    <a:p>
                      <a:pPr algn="l" eaLnBrk="0" latinLnBrk="0">
                        <a:buNone/>
                      </a:pPr>
                      <a:r>
                        <a:rPr sz="1400" b="0" lang="ko-KR" altLang="en-US">
                          <a:solidFill>
                            <a:srgbClr val="000000"/>
                          </a:solidFill>
                          <a:latin typeface="나눔스퀘어 Bold"/>
                          <a:ea typeface="나눔스퀘어 Bold"/>
                          <a:cs typeface="나눔스퀘어 Bold"/>
                        </a:rPr>
                        <a:t>operator rank (최대 5)</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4.18</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4.22</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3"/>
                  </a:ext>
                </a:extLst>
              </a:tr>
              <a:tr h="411480">
                <a:tc>
                  <a:txBody>
                    <a:bodyPr/>
                    <a:lstStyle/>
                    <a:p>
                      <a:pPr algn="l" eaLnBrk="0" latinLnBrk="0">
                        <a:buNone/>
                      </a:pPr>
                      <a:r>
                        <a:rPr sz="1400" b="0" lang="ko-KR" altLang="en-US">
                          <a:solidFill>
                            <a:srgbClr val="000000"/>
                          </a:solidFill>
                          <a:latin typeface="나눔스퀘어 Bold"/>
                          <a:ea typeface="나눔스퀘어 Bold"/>
                          <a:cs typeface="나눔스퀘어 Bold"/>
                        </a:rPr>
                        <a:t>사건 / 정적 구간 변화 비</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6.05</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3.50</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4"/>
                  </a:ext>
                </a:extLst>
              </a:tr>
            </a:tbl>
          </a:graphicData>
        </a:graphic>
      </p:graphicFrame>
      <p:sp>
        <p:nvSpPr>
          <p:cNvPr id="25" name="TextBox 24">
            <a:extLst>
              <a:ext uri="{FF2B5EF4-FFF2-40B4-BE49-F238E27FC236}">
                <a16:creationId xmlns:a16="http://schemas.microsoft.com/office/drawing/2014/main" id="{B7516853-6CBA-4F44-B3D5-B89ED181D322}"/>
              </a:ext>
            </a:extLst>
          </p:cNvPr>
          <p:cNvSpPr>
            <a:spLocks noGrp="1"/>
          </p:cNvSpPr>
          <p:nvPr/>
        </p:nvSpPr>
        <p:spPr>
          <a:xfrm>
            <a:off x="830275" y="5852160"/>
            <a:ext cx="10522915" cy="320040"/>
          </a:xfrm>
          <a:prstGeom prst="rect">
            <a:avLst/>
          </a:prstGeom>
          <a:noFill/>
        </p:spPr>
        <p:txBody>
          <a:bodyPr wrap="square" lIns="45720" rIns="45720" anchor="t">
            <a:noAutofit/>
          </a:bodyPr>
          <a:lstStyle/>
          <a:p>
            <a:pPr algn="l" eaLnBrk="0" latinLnBrk="0">
              <a:spcAft>
                <a:spcPts val="400"/>
              </a:spcAft>
              <a:buNone/>
            </a:pPr>
            <a:r>
              <a:rPr sz="1200" b="0" lang="ko-KR" altLang="en-US">
                <a:solidFill>
                  <a:srgbClr val="595959"/>
                </a:solidFill>
                <a:latin typeface="나눔스퀘어"/>
                <a:ea typeface="나눔스퀘어"/>
                <a:cs typeface="나눔스퀘어"/>
              </a:rPr>
              <a:t>E231: 정렬 5/5, +7초 이동 대조군 0/5, 시작점 점수 0.838 vs 0.210</a:t>
            </a:r>
          </a:p>
        </p:txBody>
      </p:sp>
      <p:sp>
        <p:nvSpPr>
          <p:cNvPr id="30" name="직사각형 29">
            <a:extLst>
              <a:ext uri="{FF2B5EF4-FFF2-40B4-BE49-F238E27FC236}">
                <a16:creationId xmlns:a16="http://schemas.microsoft.com/office/drawing/2014/main" id="{7E28A44A-2E6F-42E9-8500-18B1FD10B797}"/>
              </a:ext>
            </a:extLst>
          </p:cNvPr>
          <p:cNvSpPr>
            <a:spLocks noGrp="1"/>
          </p:cNvSpPr>
          <p:nvPr/>
        </p:nvSpPr>
        <p:spPr>
          <a:xfrm>
            <a:off x="6272784" y="4415028"/>
            <a:ext cx="2508885" cy="1501140"/>
          </a:xfrm>
          <a:prstGeom prst="rect">
            <a:avLst/>
          </a:prstGeom>
          <a:solidFill>
            <a:srgbClr val="111820"/>
          </a:solidFill>
          <a:ln w="9525">
            <a:solidFill>
              <a:srgbClr val="D0D0D0"/>
            </a:solidFill>
          </a:ln>
        </p:spPr>
        <p:txBody>
          <a:bodyPr/>
          <a:p>
            <a:pPr eaLnBrk="0" latinLnBrk="0"/>
          </a:p>
        </p:txBody>
      </p:sp>
      <p:pic>
        <p:nvPicPr>
          <p:cNvPr id="48" name="그림 47"/>
          <p:cNvPicPr>
            <a:picLocks noChangeAspect="1"/>
          </p:cNvPicPr>
          <p:nvPr/>
        </p:nvPicPr>
        <p:blipFill>
          <a:blip r:embed="rId3"/>
          <a:stretch/>
        </p:blipFill>
        <p:spPr>
          <a:xfrm>
            <a:off x="6526466" y="4415028"/>
            <a:ext cx="2001520" cy="1501140"/>
          </a:xfrm>
          <a:prstGeom prst="rect">
            <a:avLst/>
          </a:prstGeom>
        </p:spPr>
      </p:pic>
      <p:sp>
        <p:nvSpPr>
          <p:cNvPr id="32" name="직사각형 31">
            <a:extLst>
              <a:ext uri="{FF2B5EF4-FFF2-40B4-BE49-F238E27FC236}">
                <a16:creationId xmlns:a16="http://schemas.microsoft.com/office/drawing/2014/main" id="{3A2786E3-4EBD-4442-AE7F-8D37580CDC14}"/>
              </a:ext>
            </a:extLst>
          </p:cNvPr>
          <p:cNvSpPr>
            <a:spLocks noGrp="1"/>
          </p:cNvSpPr>
          <p:nvPr/>
        </p:nvSpPr>
        <p:spPr>
          <a:xfrm>
            <a:off x="6310884" y="4453128"/>
            <a:ext cx="2432685" cy="209550"/>
          </a:xfrm>
          <a:prstGeom prst="rect">
            <a:avLst/>
          </a:prstGeom>
          <a:noFill/>
          <a:ln w="0">
            <a:noFill/>
          </a:ln>
        </p:spPr>
        <p:txBody>
          <a:bodyPr anchor="ctr">
            <a:noAutofit/>
          </a:bodyPr>
          <a:lstStyle/>
          <a:p>
            <a:pPr algn="ctr" eaLnBrk="0" latinLnBrk="0">
              <a:defRPr sz="938" b="1">
                <a:solidFill>
                  <a:srgbClr val="FFFFFF"/>
                </a:solidFill>
                <a:latin typeface="나눔스퀘어"/>
                <a:ea typeface="나눔스퀘어"/>
                <a:cs typeface="나눔스퀘어"/>
              </a:defRPr>
            </a:pPr>
            <a:r>
              <a:rPr sz="938" b="1" lang="ko-KR" altLang="en-US">
                <a:solidFill>
                  <a:srgbClr val="FFFFFF"/>
                </a:solidFill>
                <a:latin typeface="나눔스퀘어"/>
                <a:ea typeface="나눔스퀘어"/>
                <a:cs typeface="나눔스퀘어"/>
              </a:rPr>
              <a:t>오디오 A</a:t>
            </a:r>
          </a:p>
        </p:txBody>
      </p:sp>
      <p:sp>
        <p:nvSpPr>
          <p:cNvPr id="33" name="직사각형 32">
            <a:extLst>
              <a:ext uri="{FF2B5EF4-FFF2-40B4-BE49-F238E27FC236}">
                <a16:creationId xmlns:a16="http://schemas.microsoft.com/office/drawing/2014/main" id="{51F809DA-8B1A-4A93-BA4E-2E66DCEC76D6}"/>
              </a:ext>
            </a:extLst>
          </p:cNvPr>
          <p:cNvSpPr>
            <a:spLocks noGrp="1"/>
          </p:cNvSpPr>
          <p:nvPr/>
        </p:nvSpPr>
        <p:spPr>
          <a:xfrm>
            <a:off x="8838819" y="4415028"/>
            <a:ext cx="2508885" cy="1501140"/>
          </a:xfrm>
          <a:prstGeom prst="rect">
            <a:avLst/>
          </a:prstGeom>
          <a:solidFill>
            <a:srgbClr val="111820"/>
          </a:solidFill>
          <a:ln w="9525">
            <a:solidFill>
              <a:srgbClr val="D0D0D0"/>
            </a:solidFill>
          </a:ln>
        </p:spPr>
        <p:txBody>
          <a:bodyPr/>
          <a:p>
            <a:pPr eaLnBrk="0" latinLnBrk="0"/>
          </a:p>
        </p:txBody>
      </p:sp>
      <p:pic>
        <p:nvPicPr>
          <p:cNvPr id="51" name="그림 50"/>
          <p:cNvPicPr>
            <a:picLocks noChangeAspect="1"/>
          </p:cNvPicPr>
          <p:nvPr/>
        </p:nvPicPr>
        <p:blipFill>
          <a:blip r:embed="rId4"/>
          <a:stretch/>
        </p:blipFill>
        <p:spPr>
          <a:xfrm>
            <a:off x="9092502" y="4415028"/>
            <a:ext cx="2001520" cy="1501140"/>
          </a:xfrm>
          <a:prstGeom prst="rect">
            <a:avLst/>
          </a:prstGeom>
        </p:spPr>
      </p:pic>
      <p:sp>
        <p:nvSpPr>
          <p:cNvPr id="35" name="직사각형 34">
            <a:extLst>
              <a:ext uri="{FF2B5EF4-FFF2-40B4-BE49-F238E27FC236}">
                <a16:creationId xmlns:a16="http://schemas.microsoft.com/office/drawing/2014/main" id="{BFC6C80A-4679-429A-A2D2-041B3F304D53}"/>
              </a:ext>
            </a:extLst>
          </p:cNvPr>
          <p:cNvSpPr>
            <a:spLocks noGrp="1"/>
          </p:cNvSpPr>
          <p:nvPr/>
        </p:nvSpPr>
        <p:spPr>
          <a:xfrm>
            <a:off x="8876919" y="4453128"/>
            <a:ext cx="2432685" cy="209550"/>
          </a:xfrm>
          <a:prstGeom prst="rect">
            <a:avLst/>
          </a:prstGeom>
          <a:noFill/>
          <a:ln w="0">
            <a:noFill/>
          </a:ln>
        </p:spPr>
        <p:txBody>
          <a:bodyPr anchor="ctr">
            <a:noAutofit/>
          </a:bodyPr>
          <a:lstStyle/>
          <a:p>
            <a:pPr algn="ctr" eaLnBrk="0" latinLnBrk="0">
              <a:defRPr sz="938" b="1">
                <a:solidFill>
                  <a:srgbClr val="FFFFFF"/>
                </a:solidFill>
                <a:latin typeface="나눔스퀘어"/>
                <a:ea typeface="나눔스퀘어"/>
                <a:cs typeface="나눔스퀘어"/>
              </a:defRPr>
            </a:pPr>
            <a:r>
              <a:rPr sz="938" b="1" lang="ko-KR" altLang="en-US">
                <a:solidFill>
                  <a:srgbClr val="FFFFFF"/>
                </a:solidFill>
                <a:latin typeface="나눔스퀘어"/>
                <a:ea typeface="나눔스퀘어"/>
                <a:cs typeface="나눔스퀘어"/>
              </a:rPr>
              <a:t>오디오 B</a:t>
            </a:r>
          </a:p>
        </p:txBody>
      </p:sp>
      <p:sp>
        <p:nvSpPr>
          <p:cNvPr id="52" name="TextBox 51"/>
          <p:cNvSpPr txBox="1"/>
          <p:nvPr/>
        </p:nvSpPr>
        <p:spPr>
          <a:xfrm>
            <a:off x="830275" y="4434840"/>
            <a:ext cx="5074920" cy="1097280"/>
          </a:xfrm>
          <a:prstGeom prst="rect">
            <a:avLst/>
          </a:prstGeom>
          <a:noFill/>
        </p:spPr>
        <p:txBody>
          <a:bodyPr wrap="square" lIns="45720" rIns="45720">
            <a:noAutofit/>
          </a:bodyPr>
          <a:lstStyle/>
          <a:p>
            <a:pPr algn="l" marL="283464" indent="-283464" eaLnBrk="0" latinLnBrk="0">
              <a:lnSpc>
                <a:spcPct val="120000"/>
              </a:lnSpc>
              <a:spcAft>
                <a:spcPts val="400"/>
              </a:spcAft>
              <a:buFont typeface="Arial"/>
              <a:buChar char="•"/>
            </a:pPr>
            <a:r>
              <a:rPr sz="1300" b="0" lang="ko-KR" altLang="en-US">
                <a:solidFill>
                  <a:srgbClr val="595959"/>
                </a:solidFill>
                <a:latin typeface="나눔스퀘어"/>
                <a:ea typeface="나눔스퀘어"/>
              </a:rPr>
              <a:t>Global, Soft MSR은 단일 envelope를 공유하도록 설계한 대조군</a:t>
            </a:r>
          </a:p>
          <a:p>
            <a:pPr algn="l" marL="283464" indent="-283464" eaLnBrk="0" latinLnBrk="0">
              <a:lnSpc>
                <a:spcPct val="120000"/>
              </a:lnSpc>
              <a:spcAft>
                <a:spcPts val="400"/>
              </a:spcAft>
              <a:buFont typeface="Arial"/>
              <a:buChar char="•"/>
            </a:pPr>
            <a:r>
              <a:rPr sz="1300" b="0" lang="ko-KR" altLang="en-US">
                <a:solidFill>
                  <a:srgbClr val="595959"/>
                </a:solidFill>
                <a:latin typeface="나눔스퀘어"/>
                <a:ea typeface="나눔스퀘어"/>
              </a:rPr>
              <a:t>다채널 기준선과의 비교, 지각적 인과성 평가는 향후 과제</a:t>
            </a:r>
          </a:p>
        </p:txBody>
      </p:sp>
    </p:spTree>
    <p:extLst>
      <p:ext uri="{BB962C8B-B14F-4D97-AF65-F5344CB8AC3E}">
        <p14:creationId xmlns:p14="http://schemas.microsoft.com/office/powerpoint/2010/main" val="1902296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D1BFD41D-A969-42B1-B1CC-0769997CDD20}"/>
              </a:ext>
            </a:extLst>
          </p:cNvPr>
          <p:cNvSpPr>
            <a:spLocks noGrp="1"/>
          </p:cNvSpPr>
          <p:nvPr/>
        </p:nvSpPr>
        <p:spPr>
          <a:xfrm>
            <a:off x="838200" y="9176"/>
            <a:ext cx="10515600" cy="1325563"/>
          </a:xfrm>
          <a:prstGeom prst="rect">
            <a:avLst/>
          </a:prstGeom>
          <a:noFill/>
          <a:ln w="0">
            <a:noFill/>
          </a:ln>
        </p:spPr>
        <p:txBody>
          <a:bodyPr anchor="ctr">
            <a:noAutofit/>
          </a:bodyPr>
          <a:lstStyle/>
          <a:p>
            <a:pPr algn="l" eaLnBrk="0" latinLnBrk="0">
              <a:defRPr sz="3150">
                <a:solidFill>
                  <a:srgbClr val="000000"/>
                </a:solidFill>
                <a:latin typeface="나눔스퀘어"/>
                <a:ea typeface="나눔스퀘어"/>
                <a:cs typeface="나눔스퀘어"/>
              </a:defRPr>
            </a:pPr>
            <a:r>
              <a:rPr sz="4000" b="0" lang="ko-KR" altLang="en-US">
                <a:solidFill>
                  <a:srgbClr val="000000"/>
                </a:solidFill>
                <a:latin typeface="나눔스퀘어 ExtraBold"/>
                <a:ea typeface="나눔스퀘어 ExtraBold"/>
                <a:cs typeface="나눔스퀘어"/>
              </a:rPr>
              <a:t>캥거루 갈비 6초 사건</a:t>
            </a:r>
          </a:p>
        </p:txBody>
      </p:sp>
      <p:sp>
        <p:nvSpPr>
          <p:cNvPr id="2" name="직선 연결선 1">
            <a:extLst>
              <a:ext uri="{FF2B5EF4-FFF2-40B4-BE49-F238E27FC236}">
                <a16:creationId xmlns:a16="http://schemas.microsoft.com/office/drawing/2014/main" id="{EE75AF8D-1588-409D-B692-FC193DB93D69}"/>
              </a:ext>
            </a:extLst>
          </p:cNvPr>
          <p:cNvSpPr>
            <a:spLocks noGrp="1"/>
          </p:cNvSpPr>
          <p:nvPr/>
        </p:nvSpPr>
        <p:spPr>
          <a:xfrm>
            <a:off x="830294" y="1239583"/>
            <a:ext cx="10523411" cy="0"/>
          </a:xfrm>
          <a:prstGeom prst="line">
            <a:avLst/>
          </a:prstGeom>
          <a:ln w="19050">
            <a:solidFill>
              <a:srgbClr val="111111"/>
            </a:solidFill>
          </a:ln>
        </p:spPr>
        <p:txBody>
          <a:bodyPr/>
          <a:p>
            <a:pPr eaLnBrk="0" latinLnBrk="0"/>
          </a:p>
        </p:txBody>
      </p:sp>
      <p:sp>
        <p:nvSpPr>
          <p:cNvPr id="3" name="직사각형 2">
            <a:extLst>
              <a:ext uri="{FF2B5EF4-FFF2-40B4-BE49-F238E27FC236}">
                <a16:creationId xmlns:a16="http://schemas.microsoft.com/office/drawing/2014/main" id="{B2870A89-CF79-477D-8F4D-B50BBF1149F6}"/>
              </a:ext>
            </a:extLst>
          </p:cNvPr>
          <p:cNvSpPr>
            <a:spLocks noGrp="1"/>
          </p:cNvSpPr>
          <p:nvPr/>
        </p:nvSpPr>
        <p:spPr>
          <a:xfrm>
            <a:off x="830294" y="1638300"/>
            <a:ext cx="6667500" cy="4171950"/>
          </a:xfrm>
          <a:prstGeom prst="rect">
            <a:avLst/>
          </a:prstGeom>
          <a:solidFill>
            <a:srgbClr val="111820"/>
          </a:solidFill>
          <a:ln w="9525">
            <a:solidFill>
              <a:srgbClr val="D0D0D0"/>
            </a:solidFill>
          </a:ln>
        </p:spPr>
        <p:txBody>
          <a:bodyPr/>
          <a:p>
            <a:pPr eaLnBrk="0" latinLnBrk="0"/>
          </a:p>
        </p:txBody>
      </p:sp>
      <p:pic>
        <p:nvPicPr>
          <p:cNvPr id="16" name="그림 15"/>
          <p:cNvPicPr>
            <a:picLocks noChangeAspect="1"/>
          </p:cNvPicPr>
          <p:nvPr/>
        </p:nvPicPr>
        <p:blipFill>
          <a:blip r:embed="rId5"/>
          <a:stretch/>
        </p:blipFill>
        <p:spPr>
          <a:xfrm>
            <a:off x="830294" y="1640681"/>
            <a:ext cx="6667500" cy="4167188"/>
          </a:xfrm>
          <a:prstGeom prst="rect">
            <a:avLst/>
          </a:prstGeom>
        </p:spPr>
      </p:pic>
      <p:sp>
        <p:nvSpPr>
          <p:cNvPr id="5" name="직사각형 4">
            <a:extLst>
              <a:ext uri="{FF2B5EF4-FFF2-40B4-BE49-F238E27FC236}">
                <a16:creationId xmlns:a16="http://schemas.microsoft.com/office/drawing/2014/main" id="{B2F93174-7486-4627-A879-BE35911D6C03}"/>
              </a:ext>
            </a:extLst>
          </p:cNvPr>
          <p:cNvSpPr>
            <a:spLocks noGrp="1"/>
          </p:cNvSpPr>
          <p:nvPr/>
        </p:nvSpPr>
        <p:spPr>
          <a:xfrm>
            <a:off x="830294" y="5829300"/>
            <a:ext cx="6667500" cy="285750"/>
          </a:xfrm>
          <a:prstGeom prst="rect">
            <a:avLst/>
          </a:prstGeom>
          <a:noFill/>
          <a:ln w="0">
            <a:noFill/>
          </a:ln>
        </p:spPr>
        <p:txBody>
          <a:bodyPr anchor="ctr">
            <a:noAutofit/>
          </a:bodyPr>
          <a:lstStyle/>
          <a:p>
            <a:pPr algn="ctr" eaLnBrk="0" latinLnBrk="0">
              <a:defRPr sz="1125" b="1">
                <a:solidFill>
                  <a:srgbClr val="333333"/>
                </a:solidFill>
                <a:latin typeface="나눔스퀘어"/>
                <a:ea typeface="나눔스퀘어"/>
                <a:cs typeface="나눔스퀘어"/>
              </a:defRPr>
            </a:pPr>
            <a:r>
              <a:rPr sz="1125" b="1" lang="ko-KR" altLang="en-US">
                <a:solidFill>
                  <a:srgbClr val="333333"/>
                </a:solidFill>
                <a:latin typeface="나눔스퀘어"/>
                <a:ea typeface="나눔스퀘어"/>
                <a:cs typeface="나눔스퀘어"/>
              </a:rPr>
              <a:t>클릭하여 6초 영상 재생</a:t>
            </a:r>
          </a:p>
        </p:txBody>
      </p:sp>
      <p:sp>
        <p:nvSpPr>
          <p:cNvPr id="6" name="직사각형 5">
            <a:extLst>
              <a:ext uri="{FF2B5EF4-FFF2-40B4-BE49-F238E27FC236}">
                <a16:creationId xmlns:a16="http://schemas.microsoft.com/office/drawing/2014/main" id="{59622DA3-CB51-44C4-8022-2AB59FB5E7BF}"/>
              </a:ext>
            </a:extLst>
          </p:cNvPr>
          <p:cNvSpPr>
            <a:spLocks noGrp="1"/>
          </p:cNvSpPr>
          <p:nvPr/>
        </p:nvSpPr>
        <p:spPr>
          <a:xfrm>
            <a:off x="7867650" y="1771650"/>
            <a:ext cx="3276600" cy="285750"/>
          </a:xfrm>
          <a:prstGeom prst="rect">
            <a:avLst/>
          </a:prstGeom>
          <a:noFill/>
          <a:ln w="0">
            <a:noFill/>
          </a:ln>
        </p:spPr>
        <p:txBody>
          <a:bodyPr>
            <a:noAutofit/>
          </a:bodyPr>
          <a:lstStyle/>
          <a:p>
            <a:pPr eaLnBrk="0" latinLnBrk="0">
              <a:defRPr sz="1425" b="1">
                <a:solidFill>
                  <a:srgbClr val="111111"/>
                </a:solidFill>
                <a:latin typeface="나눔스퀘어"/>
                <a:ea typeface="나눔스퀘어"/>
                <a:cs typeface="나눔스퀘어"/>
              </a:defRPr>
            </a:pPr>
            <a:r>
              <a:rPr sz="1425" b="1" lang="ko-KR" altLang="en-US">
                <a:solidFill>
                  <a:srgbClr val="111111"/>
                </a:solidFill>
                <a:latin typeface="나눔스퀘어"/>
                <a:ea typeface="나눔스퀘어"/>
                <a:cs typeface="나눔스퀘어"/>
              </a:rPr>
              <a:t>시각적 결과</a:t>
            </a:r>
          </a:p>
        </p:txBody>
      </p:sp>
      <p:sp>
        <p:nvSpPr>
          <p:cNvPr id="7" name="직사각형 6">
            <a:extLst>
              <a:ext uri="{FF2B5EF4-FFF2-40B4-BE49-F238E27FC236}">
                <a16:creationId xmlns:a16="http://schemas.microsoft.com/office/drawing/2014/main" id="{B9D8457E-E77B-4E4F-AE7E-E2F1FC5224CF}"/>
              </a:ext>
            </a:extLst>
          </p:cNvPr>
          <p:cNvSpPr>
            <a:spLocks noGrp="1"/>
          </p:cNvSpPr>
          <p:nvPr/>
        </p:nvSpPr>
        <p:spPr>
          <a:xfrm>
            <a:off x="7867650" y="2114550"/>
            <a:ext cx="3276600" cy="876300"/>
          </a:xfrm>
          <a:prstGeom prst="rect">
            <a:avLst/>
          </a:prstGeom>
          <a:noFill/>
          <a:ln w="0">
            <a:noFill/>
          </a:ln>
        </p:spPr>
        <p:txBody>
          <a:bodyPr>
            <a:noAutofit/>
          </a:bodyPr>
          <a:lstStyle/>
          <a:p>
            <a:pPr eaLnBrk="0" latinLnBrk="0">
              <a:defRPr sz="1238">
                <a:solidFill>
                  <a:srgbClr val="5F5F5F"/>
                </a:solidFill>
                <a:latin typeface="나눔스퀘어"/>
                <a:ea typeface="나눔스퀘어"/>
                <a:cs typeface="나눔스퀘어"/>
              </a:defRPr>
            </a:pPr>
            <a:r>
              <a:rPr sz="1238" lang="ko-KR" altLang="en-US">
                <a:solidFill>
                  <a:srgbClr val="5F5F5F"/>
                </a:solidFill>
                <a:latin typeface="나눔스퀘어"/>
                <a:ea typeface="나눔스퀘어"/>
                <a:cs typeface="나눔스퀘어"/>
              </a:rPr>
              <a:t>갈비 표면이 열리는 듯 전환되며 내부의 청록색 구조가 드러납니다. 측면에서 변화가 가장 분명합니다.</a:t>
            </a:r>
          </a:p>
        </p:txBody>
      </p:sp>
      <p:sp>
        <p:nvSpPr>
          <p:cNvPr id="8" name="직사각형 7">
            <a:extLst>
              <a:ext uri="{FF2B5EF4-FFF2-40B4-BE49-F238E27FC236}">
                <a16:creationId xmlns:a16="http://schemas.microsoft.com/office/drawing/2014/main" id="{8C1CFEB8-74AC-411C-86FA-5843D0831076}"/>
              </a:ext>
            </a:extLst>
          </p:cNvPr>
          <p:cNvSpPr>
            <a:spLocks noGrp="1"/>
          </p:cNvSpPr>
          <p:nvPr/>
        </p:nvSpPr>
        <p:spPr>
          <a:xfrm>
            <a:off x="7867650" y="3124200"/>
            <a:ext cx="3276600" cy="285750"/>
          </a:xfrm>
          <a:prstGeom prst="rect">
            <a:avLst/>
          </a:prstGeom>
          <a:noFill/>
          <a:ln w="0">
            <a:noFill/>
          </a:ln>
        </p:spPr>
        <p:txBody>
          <a:bodyPr>
            <a:noAutofit/>
          </a:bodyPr>
          <a:lstStyle/>
          <a:p>
            <a:pPr eaLnBrk="0" latinLnBrk="0">
              <a:defRPr sz="1425" b="1">
                <a:solidFill>
                  <a:srgbClr val="111111"/>
                </a:solidFill>
                <a:latin typeface="나눔스퀘어"/>
                <a:ea typeface="나눔스퀘어"/>
                <a:cs typeface="나눔스퀘어"/>
              </a:defRPr>
            </a:pPr>
            <a:r>
              <a:rPr sz="1425" b="1" lang="ko-KR" altLang="en-US">
                <a:solidFill>
                  <a:srgbClr val="111111"/>
                </a:solidFill>
                <a:latin typeface="나눔스퀘어"/>
                <a:ea typeface="나눔스퀘어"/>
                <a:cs typeface="나눔스퀘어"/>
              </a:rPr>
              <a:t>구현 조건</a:t>
            </a:r>
          </a:p>
        </p:txBody>
      </p:sp>
      <p:sp>
        <p:nvSpPr>
          <p:cNvPr id="9" name="직사각형 8">
            <a:extLst>
              <a:ext uri="{FF2B5EF4-FFF2-40B4-BE49-F238E27FC236}">
                <a16:creationId xmlns:a16="http://schemas.microsoft.com/office/drawing/2014/main" id="{9239B3F6-092A-40AC-921E-98647F5747B6}"/>
              </a:ext>
            </a:extLst>
          </p:cNvPr>
          <p:cNvSpPr>
            <a:spLocks noGrp="1"/>
          </p:cNvSpPr>
          <p:nvPr/>
        </p:nvSpPr>
        <p:spPr>
          <a:xfrm>
            <a:off x="7867650" y="3467100"/>
            <a:ext cx="3276600" cy="876300"/>
          </a:xfrm>
          <a:prstGeom prst="rect">
            <a:avLst/>
          </a:prstGeom>
          <a:noFill/>
          <a:ln w="0">
            <a:noFill/>
          </a:ln>
        </p:spPr>
        <p:txBody>
          <a:bodyPr>
            <a:noAutofit/>
          </a:bodyPr>
          <a:lstStyle/>
          <a:p>
            <a:pPr eaLnBrk="0" latinLnBrk="0">
              <a:defRPr sz="1238">
                <a:solidFill>
                  <a:srgbClr val="5F5F5F"/>
                </a:solidFill>
                <a:latin typeface="나눔스퀘어"/>
                <a:ea typeface="나눔스퀘어"/>
                <a:cs typeface="나눔스퀘어"/>
              </a:defRPr>
            </a:pPr>
            <a:r>
              <a:rPr sz="1238" lang="ko-KR" altLang="en-US">
                <a:solidFill>
                  <a:srgbClr val="5F5F5F"/>
                </a:solidFill>
                <a:latin typeface="나눔스퀘어"/>
                <a:ea typeface="나눔스퀘어"/>
                <a:cs typeface="나눔스퀘어"/>
              </a:rPr>
              <a:t>145프레임, 24fps, 6.04초입니다. 메시 geometry와 silhouette를 고정하고 E200 strict 소유권을 적용했습니다.</a:t>
            </a:r>
          </a:p>
        </p:txBody>
      </p:sp>
      <p:sp>
        <p:nvSpPr>
          <p:cNvPr id="10" name="직사각형 9">
            <a:extLst>
              <a:ext uri="{FF2B5EF4-FFF2-40B4-BE49-F238E27FC236}">
                <a16:creationId xmlns:a16="http://schemas.microsoft.com/office/drawing/2014/main" id="{D2DA54B7-E390-456F-982D-2507E6878ACA}"/>
              </a:ext>
            </a:extLst>
          </p:cNvPr>
          <p:cNvSpPr>
            <a:spLocks noGrp="1"/>
          </p:cNvSpPr>
          <p:nvPr/>
        </p:nvSpPr>
        <p:spPr>
          <a:xfrm>
            <a:off x="7867650" y="4476750"/>
            <a:ext cx="3276600" cy="285750"/>
          </a:xfrm>
          <a:prstGeom prst="rect">
            <a:avLst/>
          </a:prstGeom>
          <a:noFill/>
          <a:ln w="0">
            <a:noFill/>
          </a:ln>
        </p:spPr>
        <p:txBody>
          <a:bodyPr>
            <a:noAutofit/>
          </a:bodyPr>
          <a:lstStyle/>
          <a:p>
            <a:pPr eaLnBrk="0" latinLnBrk="0">
              <a:defRPr sz="1425" b="1">
                <a:solidFill>
                  <a:srgbClr val="111111"/>
                </a:solidFill>
                <a:latin typeface="나눔스퀘어"/>
                <a:ea typeface="나눔스퀘어"/>
                <a:cs typeface="나눔스퀘어"/>
              </a:defRPr>
            </a:pPr>
            <a:r>
              <a:rPr sz="1425" b="1" lang="ko-KR" altLang="en-US">
                <a:solidFill>
                  <a:srgbClr val="111111"/>
                </a:solidFill>
                <a:latin typeface="나눔스퀘어"/>
                <a:ea typeface="나눔스퀘어"/>
                <a:cs typeface="나눔스퀘어"/>
              </a:rPr>
              <a:t>해석 범위</a:t>
            </a:r>
          </a:p>
        </p:txBody>
      </p:sp>
      <p:sp>
        <p:nvSpPr>
          <p:cNvPr id="11" name="직사각형 10">
            <a:extLst>
              <a:ext uri="{FF2B5EF4-FFF2-40B4-BE49-F238E27FC236}">
                <a16:creationId xmlns:a16="http://schemas.microsoft.com/office/drawing/2014/main" id="{E10556DF-16A5-4399-B056-C1AC8C1F1920}"/>
              </a:ext>
            </a:extLst>
          </p:cNvPr>
          <p:cNvSpPr>
            <a:spLocks noGrp="1"/>
          </p:cNvSpPr>
          <p:nvPr/>
        </p:nvSpPr>
        <p:spPr>
          <a:xfrm>
            <a:off x="7867650" y="4819650"/>
            <a:ext cx="3276600" cy="876300"/>
          </a:xfrm>
          <a:prstGeom prst="rect">
            <a:avLst/>
          </a:prstGeom>
          <a:noFill/>
          <a:ln w="0">
            <a:noFill/>
          </a:ln>
        </p:spPr>
        <p:txBody>
          <a:bodyPr>
            <a:noAutofit/>
          </a:bodyPr>
          <a:lstStyle/>
          <a:p>
            <a:pPr eaLnBrk="0" latinLnBrk="0">
              <a:defRPr sz="1238">
                <a:solidFill>
                  <a:srgbClr val="5F5F5F"/>
                </a:solidFill>
                <a:latin typeface="나눔스퀘어"/>
                <a:ea typeface="나눔스퀘어"/>
                <a:cs typeface="나눔스퀘어"/>
              </a:defRPr>
            </a:pPr>
            <a:r>
              <a:rPr sz="1238" lang="ko-KR" altLang="en-US">
                <a:solidFill>
                  <a:srgbClr val="5F5F5F"/>
                </a:solidFill>
                <a:latin typeface="나눔스퀘어"/>
                <a:ea typeface="나눔스퀘어"/>
                <a:cs typeface="나눔스퀘어"/>
              </a:rPr>
              <a:t>기존 LTX RGB를 재사용한 무음 영상입니다. 영역 적용과 시간 사건의 사례이며 새 생성 품질을 뜻하지 않습니다.</a:t>
            </a:r>
          </a:p>
        </p:txBody>
      </p:sp>
      <p:sp>
        <p:nvSpPr>
          <p:cNvPr id="12" name="직선 연결선 11">
            <a:extLst>
              <a:ext uri="{FF2B5EF4-FFF2-40B4-BE49-F238E27FC236}">
                <a16:creationId xmlns:a16="http://schemas.microsoft.com/office/drawing/2014/main" id="{5482F4D4-963B-451F-B432-0314F540184C}"/>
              </a:ext>
            </a:extLst>
          </p:cNvPr>
          <p:cNvSpPr>
            <a:spLocks noGrp="1"/>
          </p:cNvSpPr>
          <p:nvPr/>
        </p:nvSpPr>
        <p:spPr>
          <a:xfrm>
            <a:off x="830294" y="6278309"/>
            <a:ext cx="10523411" cy="0"/>
          </a:xfrm>
          <a:prstGeom prst="line">
            <a:avLst/>
          </a:prstGeom>
          <a:ln w="19050">
            <a:solidFill>
              <a:srgbClr val="111111"/>
            </a:solidFill>
          </a:ln>
        </p:spPr>
        <p:txBody>
          <a:bodyPr/>
          <a:p>
            <a:pPr eaLnBrk="0" latinLnBrk="0"/>
          </a:p>
        </p:txBody>
      </p:sp>
      <p:pic>
        <p:nvPicPr>
          <p:cNvPr id="1012" name="E201 갈비 6초 영상" descr="캥거루 갈비가 열리며 내부 구조가 드러나는 6초 영상">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30294" y="1638300"/>
            <a:ext cx="6667500" cy="4171950"/>
          </a:xfrm>
          <a:prstGeom prst="rect">
            <a:avLst/>
          </a:prstGeom>
        </p:spPr>
      </p:pic>
    </p:spTree>
    <p:extLst>
      <p:ext uri="{BB962C8B-B14F-4D97-AF65-F5344CB8AC3E}">
        <p14:creationId xmlns:p14="http://schemas.microsoft.com/office/powerpoint/2010/main" val="1327465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3A437-E887-4FB6-92B7-899DB3E493E0}"/>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결과 ③ 표면 일관성</a:t>
            </a:r>
          </a:p>
        </p:txBody>
      </p:sp>
      <p:sp>
        <p:nvSpPr>
          <p:cNvPr id="16" name="직선 연결선 14">
            <a:extLst>
              <a:ext uri="{FF2B5EF4-FFF2-40B4-BE49-F238E27FC236}">
                <a16:creationId xmlns:a16="http://schemas.microsoft.com/office/drawing/2014/main" id="{FE4FB071-A4DA-4153-BE9E-491575B41705}"/>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p>
            <a:pPr eaLnBrk="0" latinLnBrk="0"/>
          </a:p>
        </p:txBody>
      </p:sp>
      <p:sp>
        <p:nvSpPr>
          <p:cNvPr id="17" name="직선 연결선 7">
            <a:extLst>
              <a:ext uri="{FF2B5EF4-FFF2-40B4-BE49-F238E27FC236}">
                <a16:creationId xmlns:a16="http://schemas.microsoft.com/office/drawing/2014/main" id="{D780A804-49CA-44B3-9DEE-1DA13398076F}"/>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p>
            <a:pPr eaLnBrk="0" latinLnBrk="0"/>
          </a:p>
        </p:txBody>
      </p:sp>
      <p:sp>
        <p:nvSpPr>
          <p:cNvPr id="18" name="TextBox 17">
            <a:extLst>
              <a:ext uri="{FF2B5EF4-FFF2-40B4-BE49-F238E27FC236}">
                <a16:creationId xmlns:a16="http://schemas.microsoft.com/office/drawing/2014/main" id="{43F9AFDA-1292-4A9D-9128-49B8FA59D8AE}"/>
              </a:ext>
            </a:extLst>
          </p:cNvPr>
          <p:cNvSpPr>
            <a:spLocks noGrp="1"/>
          </p:cNvSpPr>
          <p:nvPr/>
        </p:nvSpPr>
        <p:spPr>
          <a:xfrm>
            <a:off x="830275" y="1481328"/>
            <a:ext cx="10522915" cy="365760"/>
          </a:xfrm>
          <a:prstGeom prst="rect">
            <a:avLst/>
          </a:prstGeom>
          <a:noFill/>
        </p:spPr>
        <p:txBody>
          <a:bodyPr wrap="square" lIns="45720" rIns="45720" anchor="t">
            <a:noAutofit/>
          </a:bodyPr>
          <a:lstStyle/>
          <a:p>
            <a:pPr algn="l" eaLnBrk="0" latinLnBrk="0">
              <a:spcAft>
                <a:spcPts val="400"/>
              </a:spcAft>
              <a:buNone/>
            </a:pPr>
            <a:r>
              <a:rPr sz="1700" b="0" lang="ko-KR" altLang="en-US">
                <a:solidFill>
                  <a:srgbClr val="000000"/>
                </a:solidFill>
                <a:latin typeface="나눔스퀘어 Bold"/>
                <a:ea typeface="나눔스퀘어 Bold"/>
                <a:cs typeface="나눔스퀘어 Bold"/>
              </a:rPr>
              <a:t>RQ3. 시점이 바뀌어도 같은 표면 사건인가?</a:t>
            </a:r>
          </a:p>
        </p:txBody>
      </p:sp>
      <p:sp>
        <p:nvSpPr>
          <p:cNvPr id="19" name="TextBox 18">
            <a:extLst>
              <a:ext uri="{FF2B5EF4-FFF2-40B4-BE49-F238E27FC236}">
                <a16:creationId xmlns:a16="http://schemas.microsoft.com/office/drawing/2014/main" id="{8C414EFC-6B45-41BD-BABF-439D4518AD29}"/>
              </a:ext>
            </a:extLst>
          </p:cNvPr>
          <p:cNvSpPr>
            <a:spLocks noGrp="1"/>
          </p:cNvSpPr>
          <p:nvPr/>
        </p:nvSpPr>
        <p:spPr>
          <a:xfrm>
            <a:off x="830275" y="1965960"/>
            <a:ext cx="3291840" cy="1737360"/>
          </a:xfrm>
          <a:prstGeom prst="rect">
            <a:avLst/>
          </a:prstGeom>
          <a:noFill/>
        </p:spPr>
        <p:txBody>
          <a:bodyPr wrap="square" lIns="45720" rIns="45720" anchor="t">
            <a:noAutofit/>
          </a:bodyPr>
          <a:lstStyle/>
          <a:p>
            <a:pPr algn="l" eaLnBrk="0" latinLnBrk="0">
              <a:spcAft>
                <a:spcPts val="0"/>
              </a:spcAft>
              <a:buNone/>
            </a:pPr>
            <a:r>
              <a:rPr sz="4400" b="0" lang="ko-KR" altLang="en-US">
                <a:solidFill>
                  <a:srgbClr val="000000"/>
                </a:solidFill>
                <a:latin typeface="나눔스퀘어 ExtraBold"/>
                <a:ea typeface="나눔스퀘어 ExtraBold"/>
                <a:cs typeface="나눔스퀘어 ExtraBold"/>
              </a:rPr>
              <a:t>−92%</a:t>
            </a:r>
          </a:p>
          <a:p>
            <a:pPr algn="l" eaLnBrk="0" latinLnBrk="0">
              <a:spcAft>
                <a:spcPts val="200"/>
              </a:spcAft>
              <a:buNone/>
            </a:pPr>
            <a:r>
              <a:rPr sz="1600" b="0" lang="ko-KR" altLang="en-US">
                <a:solidFill>
                  <a:srgbClr val="000000"/>
                </a:solidFill>
                <a:latin typeface="나눔스퀘어 Bold"/>
                <a:ea typeface="나눔스퀘어 Bold"/>
                <a:cs typeface="나눔스퀘어 Bold"/>
              </a:rPr>
              <a:t>UV seam 색 차이</a:t>
            </a:r>
          </a:p>
          <a:p>
            <a:pPr algn="l" eaLnBrk="0" latinLnBrk="0">
              <a:spcAft>
                <a:spcPts val="400"/>
              </a:spcAft>
              <a:buNone/>
            </a:pPr>
            <a:r>
              <a:rPr sz="1300" b="0" lang="ko-KR" altLang="en-US">
                <a:solidFill>
                  <a:srgbClr val="595959"/>
                </a:solidFill>
                <a:latin typeface="나눔스퀘어"/>
                <a:ea typeface="나눔스퀘어"/>
                <a:cs typeface="나눔스퀘어"/>
              </a:rPr>
              <a:t>평균 31.33 → 2.51, 95분위 76.15 → 7.11</a:t>
            </a:r>
          </a:p>
        </p:txBody>
      </p:sp>
      <p:sp>
        <p:nvSpPr>
          <p:cNvPr id="20" name="TextBox 19">
            <a:extLst>
              <a:ext uri="{FF2B5EF4-FFF2-40B4-BE49-F238E27FC236}">
                <a16:creationId xmlns:a16="http://schemas.microsoft.com/office/drawing/2014/main" id="{240E83B1-7040-42B8-A72C-ACBAABBB1710}"/>
              </a:ext>
            </a:extLst>
          </p:cNvPr>
          <p:cNvSpPr>
            <a:spLocks noGrp="1"/>
          </p:cNvSpPr>
          <p:nvPr/>
        </p:nvSpPr>
        <p:spPr>
          <a:xfrm>
            <a:off x="4396435" y="1965960"/>
            <a:ext cx="3291840" cy="1737360"/>
          </a:xfrm>
          <a:prstGeom prst="rect">
            <a:avLst/>
          </a:prstGeom>
          <a:noFill/>
        </p:spPr>
        <p:txBody>
          <a:bodyPr wrap="square" lIns="45720" rIns="45720" anchor="t">
            <a:noAutofit/>
          </a:bodyPr>
          <a:lstStyle/>
          <a:p>
            <a:pPr algn="l" eaLnBrk="0" latinLnBrk="0">
              <a:spcAft>
                <a:spcPts val="0"/>
              </a:spcAft>
              <a:buNone/>
            </a:pPr>
            <a:r>
              <a:rPr sz="4400" b="0" lang="ko-KR" altLang="en-US">
                <a:solidFill>
                  <a:srgbClr val="000000"/>
                </a:solidFill>
                <a:latin typeface="나눔스퀘어 ExtraBold"/>
                <a:ea typeface="나눔스퀘어 ExtraBold"/>
                <a:cs typeface="나눔스퀘어 ExtraBold"/>
              </a:rPr>
              <a:t>1.0</a:t>
            </a:r>
          </a:p>
          <a:p>
            <a:pPr algn="l" eaLnBrk="0" latinLnBrk="0">
              <a:spcAft>
                <a:spcPts val="200"/>
              </a:spcAft>
              <a:buNone/>
            </a:pPr>
            <a:r>
              <a:rPr sz="1600" b="0" lang="ko-KR" altLang="en-US">
                <a:solidFill>
                  <a:srgbClr val="000000"/>
                </a:solidFill>
                <a:latin typeface="나눔스퀘어 Bold"/>
                <a:ea typeface="나눔스퀘어 Bold"/>
                <a:cs typeface="나눔스퀘어 Bold"/>
              </a:rPr>
              <a:t>valid UV coverage</a:t>
            </a:r>
          </a:p>
          <a:p>
            <a:pPr algn="l" eaLnBrk="0" latinLnBrk="0">
              <a:spcAft>
                <a:spcPts val="400"/>
              </a:spcAft>
              <a:buNone/>
            </a:pPr>
            <a:r>
              <a:rPr sz="1300" b="0" lang="ko-KR" altLang="en-US">
                <a:solidFill>
                  <a:srgbClr val="595959"/>
                </a:solidFill>
                <a:latin typeface="나눔스퀘어"/>
                <a:ea typeface="나눔스퀘어"/>
                <a:cs typeface="나눔스퀘어"/>
              </a:rPr>
              <a:t>관측 0.905 → 3D nearest fill 후</a:t>
            </a:r>
          </a:p>
        </p:txBody>
      </p:sp>
      <p:sp>
        <p:nvSpPr>
          <p:cNvPr id="21" name="TextBox 20">
            <a:extLst>
              <a:ext uri="{FF2B5EF4-FFF2-40B4-BE49-F238E27FC236}">
                <a16:creationId xmlns:a16="http://schemas.microsoft.com/office/drawing/2014/main" id="{45A3D3B3-DDD8-4D90-9CBF-F5DAC6C7DCFF}"/>
              </a:ext>
            </a:extLst>
          </p:cNvPr>
          <p:cNvSpPr>
            <a:spLocks noGrp="1"/>
          </p:cNvSpPr>
          <p:nvPr/>
        </p:nvSpPr>
        <p:spPr>
          <a:xfrm>
            <a:off x="7962595" y="1965960"/>
            <a:ext cx="3291840" cy="1737360"/>
          </a:xfrm>
          <a:prstGeom prst="rect">
            <a:avLst/>
          </a:prstGeom>
          <a:noFill/>
        </p:spPr>
        <p:txBody>
          <a:bodyPr wrap="square" lIns="45720" rIns="45720" anchor="t">
            <a:noAutofit/>
          </a:bodyPr>
          <a:lstStyle/>
          <a:p>
            <a:pPr algn="l" eaLnBrk="0" latinLnBrk="0">
              <a:spcAft>
                <a:spcPts val="0"/>
              </a:spcAft>
              <a:buNone/>
            </a:pPr>
            <a:r>
              <a:rPr sz="4400" b="0" lang="ko-KR" altLang="en-US">
                <a:solidFill>
                  <a:srgbClr val="000000"/>
                </a:solidFill>
                <a:latin typeface="나눔스퀘어 ExtraBold"/>
                <a:ea typeface="나눔스퀘어 ExtraBold"/>
                <a:cs typeface="나눔스퀘어 ExtraBold"/>
              </a:rPr>
              <a:t>0</a:t>
            </a:r>
          </a:p>
          <a:p>
            <a:pPr algn="l" eaLnBrk="0" latinLnBrk="0">
              <a:spcAft>
                <a:spcPts val="200"/>
              </a:spcAft>
              <a:buNone/>
            </a:pPr>
            <a:r>
              <a:rPr sz="1600" b="0" lang="ko-KR" altLang="en-US">
                <a:solidFill>
                  <a:srgbClr val="000000"/>
                </a:solidFill>
                <a:latin typeface="나눔스퀘어 Bold"/>
                <a:ea typeface="나눔스퀘어 Bold"/>
                <a:cs typeface="나눔스퀘어 Bold"/>
              </a:rPr>
              <a:t>보호 영역 변화</a:t>
            </a:r>
          </a:p>
          <a:p>
            <a:pPr algn="l" eaLnBrk="0" latinLnBrk="0">
              <a:spcAft>
                <a:spcPts val="400"/>
              </a:spcAft>
              <a:buNone/>
            </a:pPr>
            <a:r>
              <a:rPr sz="1300" b="0" lang="ko-KR" altLang="en-US">
                <a:solidFill>
                  <a:srgbClr val="595959"/>
                </a:solidFill>
                <a:latin typeface="나눔스퀘어"/>
                <a:ea typeface="나눔스퀘어"/>
                <a:cs typeface="나눔스퀘어"/>
              </a:rPr>
              <a:t>TheRock 귀·눈·코·입 6초 사건, 소유 영역 밖 최대 변화</a:t>
            </a:r>
          </a:p>
        </p:txBody>
      </p:sp>
      <p:sp>
        <p:nvSpPr>
          <p:cNvPr id="22" name="직사각형 21">
            <a:extLst>
              <a:ext uri="{FF2B5EF4-FFF2-40B4-BE49-F238E27FC236}">
                <a16:creationId xmlns:a16="http://schemas.microsoft.com/office/drawing/2014/main" id="{90A2581D-95FD-4144-A066-718DCA7ABC46}"/>
              </a:ext>
            </a:extLst>
          </p:cNvPr>
          <p:cNvSpPr>
            <a:spLocks noGrp="1"/>
          </p:cNvSpPr>
          <p:nvPr/>
        </p:nvSpPr>
        <p:spPr>
          <a:xfrm>
            <a:off x="830294" y="3840480"/>
            <a:ext cx="2457450" cy="2240280"/>
          </a:xfrm>
          <a:prstGeom prst="rect">
            <a:avLst/>
          </a:prstGeom>
          <a:solidFill>
            <a:srgbClr val="111820"/>
          </a:solidFill>
          <a:ln w="9525">
            <a:solidFill>
              <a:srgbClr val="D0D0D0"/>
            </a:solidFill>
          </a:ln>
        </p:spPr>
        <p:txBody>
          <a:bodyPr/>
          <a:p>
            <a:pPr eaLnBrk="0" latinLnBrk="0"/>
          </a:p>
        </p:txBody>
      </p:sp>
      <p:pic>
        <p:nvPicPr>
          <p:cNvPr id="42" name="그림 41"/>
          <p:cNvPicPr>
            <a:picLocks noChangeAspect="1"/>
          </p:cNvPicPr>
          <p:nvPr/>
        </p:nvPicPr>
        <p:blipFill>
          <a:blip r:embed="rId3"/>
          <a:srcRect t="4419" b="4419"/>
          <a:stretch>
            <a:fillRect/>
          </a:stretch>
        </p:blipFill>
        <p:spPr>
          <a:xfrm>
            <a:off x="830294" y="3840480"/>
            <a:ext cx="2457450" cy="2240280"/>
          </a:xfrm>
          <a:prstGeom prst="rect">
            <a:avLst/>
          </a:prstGeom>
        </p:spPr>
      </p:pic>
      <p:sp>
        <p:nvSpPr>
          <p:cNvPr id="24" name="직사각형 23">
            <a:extLst>
              <a:ext uri="{FF2B5EF4-FFF2-40B4-BE49-F238E27FC236}">
                <a16:creationId xmlns:a16="http://schemas.microsoft.com/office/drawing/2014/main" id="{31C3FC21-2CC5-4283-998C-55455A0A7DD9}"/>
              </a:ext>
            </a:extLst>
          </p:cNvPr>
          <p:cNvSpPr>
            <a:spLocks noGrp="1"/>
          </p:cNvSpPr>
          <p:nvPr/>
        </p:nvSpPr>
        <p:spPr>
          <a:xfrm>
            <a:off x="868394" y="3878580"/>
            <a:ext cx="2381250" cy="209550"/>
          </a:xfrm>
          <a:prstGeom prst="rect">
            <a:avLst/>
          </a:prstGeom>
          <a:noFill/>
          <a:ln w="0">
            <a:noFill/>
          </a:ln>
        </p:spPr>
        <p:txBody>
          <a:bodyPr anchor="ctr">
            <a:noAutofit/>
          </a:bodyPr>
          <a:lstStyle/>
          <a:p>
            <a:pPr algn="ctr" eaLnBrk="0" latinLnBrk="0">
              <a:defRPr sz="1013" b="1">
                <a:solidFill>
                  <a:srgbClr val="FFFFFF"/>
                </a:solidFill>
                <a:latin typeface="나눔스퀘어"/>
                <a:ea typeface="나눔스퀘어"/>
                <a:cs typeface="나눔스퀘어"/>
              </a:defRPr>
            </a:pPr>
            <a:r>
              <a:rPr sz="1013" b="1" lang="ko-KR" altLang="en-US">
                <a:solidFill>
                  <a:srgbClr val="FFFFFF"/>
                </a:solidFill>
                <a:latin typeface="나눔스퀘어"/>
                <a:ea typeface="나눔스퀘어"/>
                <a:cs typeface="나눔스퀘어"/>
              </a:rPr>
              <a:t>투영 기반, 측면 90°</a:t>
            </a:r>
          </a:p>
        </p:txBody>
      </p:sp>
      <p:sp>
        <p:nvSpPr>
          <p:cNvPr id="25" name="직사각형 24">
            <a:extLst>
              <a:ext uri="{FF2B5EF4-FFF2-40B4-BE49-F238E27FC236}">
                <a16:creationId xmlns:a16="http://schemas.microsoft.com/office/drawing/2014/main" id="{AF38C094-FD6D-45DD-996A-A7689A363BD7}"/>
              </a:ext>
            </a:extLst>
          </p:cNvPr>
          <p:cNvSpPr>
            <a:spLocks noGrp="1"/>
          </p:cNvSpPr>
          <p:nvPr/>
        </p:nvSpPr>
        <p:spPr>
          <a:xfrm>
            <a:off x="3402044" y="3840480"/>
            <a:ext cx="2457450" cy="2240280"/>
          </a:xfrm>
          <a:prstGeom prst="rect">
            <a:avLst/>
          </a:prstGeom>
          <a:solidFill>
            <a:srgbClr val="111820"/>
          </a:solidFill>
          <a:ln w="9525">
            <a:solidFill>
              <a:srgbClr val="D0D0D0"/>
            </a:solidFill>
          </a:ln>
        </p:spPr>
        <p:txBody>
          <a:bodyPr/>
          <a:p>
            <a:pPr eaLnBrk="0" latinLnBrk="0"/>
          </a:p>
        </p:txBody>
      </p:sp>
      <p:pic>
        <p:nvPicPr>
          <p:cNvPr id="45" name="그림 44"/>
          <p:cNvPicPr>
            <a:picLocks noChangeAspect="1"/>
          </p:cNvPicPr>
          <p:nvPr/>
        </p:nvPicPr>
        <p:blipFill>
          <a:blip r:embed="rId4"/>
          <a:srcRect t="4419" b="4419"/>
          <a:stretch>
            <a:fillRect/>
          </a:stretch>
        </p:blipFill>
        <p:spPr>
          <a:xfrm>
            <a:off x="3402044" y="3840480"/>
            <a:ext cx="2457450" cy="2240280"/>
          </a:xfrm>
          <a:prstGeom prst="rect">
            <a:avLst/>
          </a:prstGeom>
        </p:spPr>
      </p:pic>
      <p:sp>
        <p:nvSpPr>
          <p:cNvPr id="27" name="직사각형 26">
            <a:extLst>
              <a:ext uri="{FF2B5EF4-FFF2-40B4-BE49-F238E27FC236}">
                <a16:creationId xmlns:a16="http://schemas.microsoft.com/office/drawing/2014/main" id="{EF6C091A-4959-4123-B6CC-4B313C959775}"/>
              </a:ext>
            </a:extLst>
          </p:cNvPr>
          <p:cNvSpPr>
            <a:spLocks noGrp="1"/>
          </p:cNvSpPr>
          <p:nvPr/>
        </p:nvSpPr>
        <p:spPr>
          <a:xfrm>
            <a:off x="3440144" y="3878580"/>
            <a:ext cx="2381250" cy="209550"/>
          </a:xfrm>
          <a:prstGeom prst="rect">
            <a:avLst/>
          </a:prstGeom>
          <a:noFill/>
          <a:ln w="0">
            <a:noFill/>
          </a:ln>
        </p:spPr>
        <p:txBody>
          <a:bodyPr anchor="ctr">
            <a:noAutofit/>
          </a:bodyPr>
          <a:lstStyle/>
          <a:p>
            <a:pPr algn="ctr" eaLnBrk="0" latinLnBrk="0">
              <a:defRPr sz="1013" b="1">
                <a:solidFill>
                  <a:srgbClr val="FFFFFF"/>
                </a:solidFill>
                <a:latin typeface="나눔스퀘어"/>
                <a:ea typeface="나눔스퀘어"/>
                <a:cs typeface="나눔스퀘어"/>
              </a:defRPr>
            </a:pPr>
            <a:r>
              <a:rPr sz="1013" b="1" lang="ko-KR" altLang="en-US">
                <a:solidFill>
                  <a:srgbClr val="FFFFFF"/>
                </a:solidFill>
                <a:latin typeface="나눔스퀘어"/>
                <a:ea typeface="나눔스퀘어"/>
                <a:cs typeface="나눔스퀘어"/>
              </a:rPr>
              <a:t>UV 고정, 측면 90°</a:t>
            </a:r>
          </a:p>
        </p:txBody>
      </p:sp>
      <p:sp>
        <p:nvSpPr>
          <p:cNvPr id="28" name="직사각형 27">
            <a:extLst>
              <a:ext uri="{FF2B5EF4-FFF2-40B4-BE49-F238E27FC236}">
                <a16:creationId xmlns:a16="http://schemas.microsoft.com/office/drawing/2014/main" id="{26F6AA6C-36C2-4F25-98F4-43BB1EFDF56B}"/>
              </a:ext>
            </a:extLst>
          </p:cNvPr>
          <p:cNvSpPr>
            <a:spLocks noGrp="1"/>
          </p:cNvSpPr>
          <p:nvPr/>
        </p:nvSpPr>
        <p:spPr>
          <a:xfrm>
            <a:off x="6225254" y="3840480"/>
            <a:ext cx="2457450" cy="2240280"/>
          </a:xfrm>
          <a:prstGeom prst="rect">
            <a:avLst/>
          </a:prstGeom>
          <a:solidFill>
            <a:srgbClr val="111820"/>
          </a:solidFill>
          <a:ln w="9525">
            <a:solidFill>
              <a:srgbClr val="D0D0D0"/>
            </a:solidFill>
          </a:ln>
        </p:spPr>
        <p:txBody>
          <a:bodyPr/>
          <a:p>
            <a:pPr eaLnBrk="0" latinLnBrk="0"/>
          </a:p>
        </p:txBody>
      </p:sp>
      <p:pic>
        <p:nvPicPr>
          <p:cNvPr id="48" name="그림 47"/>
          <p:cNvPicPr>
            <a:picLocks noChangeAspect="1"/>
          </p:cNvPicPr>
          <p:nvPr/>
        </p:nvPicPr>
        <p:blipFill>
          <a:blip r:embed="rId5"/>
          <a:srcRect t="4419" b="4419"/>
          <a:stretch>
            <a:fillRect/>
          </a:stretch>
        </p:blipFill>
        <p:spPr>
          <a:xfrm>
            <a:off x="6225254" y="3840480"/>
            <a:ext cx="2457450" cy="2240280"/>
          </a:xfrm>
          <a:prstGeom prst="rect">
            <a:avLst/>
          </a:prstGeom>
        </p:spPr>
      </p:pic>
      <p:sp>
        <p:nvSpPr>
          <p:cNvPr id="30" name="직사각형 29">
            <a:extLst>
              <a:ext uri="{FF2B5EF4-FFF2-40B4-BE49-F238E27FC236}">
                <a16:creationId xmlns:a16="http://schemas.microsoft.com/office/drawing/2014/main" id="{851CD6F7-0523-4B1D-9692-80FC4044C426}"/>
              </a:ext>
            </a:extLst>
          </p:cNvPr>
          <p:cNvSpPr>
            <a:spLocks noGrp="1"/>
          </p:cNvSpPr>
          <p:nvPr/>
        </p:nvSpPr>
        <p:spPr>
          <a:xfrm>
            <a:off x="6263354" y="3878580"/>
            <a:ext cx="2381250" cy="209550"/>
          </a:xfrm>
          <a:prstGeom prst="rect">
            <a:avLst/>
          </a:prstGeom>
          <a:noFill/>
          <a:ln w="0">
            <a:noFill/>
          </a:ln>
        </p:spPr>
        <p:txBody>
          <a:bodyPr anchor="ctr">
            <a:noAutofit/>
          </a:bodyPr>
          <a:lstStyle/>
          <a:p>
            <a:pPr algn="ctr" eaLnBrk="0" latinLnBrk="0">
              <a:defRPr sz="1013" b="1">
                <a:solidFill>
                  <a:srgbClr val="FFFFFF"/>
                </a:solidFill>
                <a:latin typeface="나눔스퀘어"/>
                <a:ea typeface="나눔스퀘어"/>
                <a:cs typeface="나눔스퀘어"/>
              </a:defRPr>
            </a:pPr>
            <a:r>
              <a:rPr sz="1013" b="1" lang="ko-KR" altLang="en-US">
                <a:solidFill>
                  <a:srgbClr val="FFFFFF"/>
                </a:solidFill>
                <a:latin typeface="나눔스퀘어"/>
                <a:ea typeface="나눔스퀘어"/>
                <a:cs typeface="나눔스퀘어"/>
              </a:rPr>
              <a:t>같은 UV 상태, 정면</a:t>
            </a:r>
          </a:p>
        </p:txBody>
      </p:sp>
      <p:sp>
        <p:nvSpPr>
          <p:cNvPr id="31" name="직사각형 30">
            <a:extLst>
              <a:ext uri="{FF2B5EF4-FFF2-40B4-BE49-F238E27FC236}">
                <a16:creationId xmlns:a16="http://schemas.microsoft.com/office/drawing/2014/main" id="{DBDA719B-6C30-4E76-A15F-137F27EF26DE}"/>
              </a:ext>
            </a:extLst>
          </p:cNvPr>
          <p:cNvSpPr>
            <a:spLocks noGrp="1"/>
          </p:cNvSpPr>
          <p:nvPr/>
        </p:nvSpPr>
        <p:spPr>
          <a:xfrm>
            <a:off x="8797004" y="3840480"/>
            <a:ext cx="2457450" cy="2240280"/>
          </a:xfrm>
          <a:prstGeom prst="rect">
            <a:avLst/>
          </a:prstGeom>
          <a:solidFill>
            <a:srgbClr val="111820"/>
          </a:solidFill>
          <a:ln w="9525">
            <a:solidFill>
              <a:srgbClr val="D0D0D0"/>
            </a:solidFill>
          </a:ln>
        </p:spPr>
        <p:txBody>
          <a:bodyPr/>
          <a:p>
            <a:pPr eaLnBrk="0" latinLnBrk="0"/>
          </a:p>
        </p:txBody>
      </p:sp>
      <p:pic>
        <p:nvPicPr>
          <p:cNvPr id="51" name="그림 50"/>
          <p:cNvPicPr>
            <a:picLocks noChangeAspect="1"/>
          </p:cNvPicPr>
          <p:nvPr/>
        </p:nvPicPr>
        <p:blipFill>
          <a:blip r:embed="rId6"/>
          <a:srcRect t="4419" b="4419"/>
          <a:stretch>
            <a:fillRect/>
          </a:stretch>
        </p:blipFill>
        <p:spPr>
          <a:xfrm>
            <a:off x="8797004" y="3840480"/>
            <a:ext cx="2457450" cy="2240280"/>
          </a:xfrm>
          <a:prstGeom prst="rect">
            <a:avLst/>
          </a:prstGeom>
        </p:spPr>
      </p:pic>
      <p:sp>
        <p:nvSpPr>
          <p:cNvPr id="33" name="직사각형 32">
            <a:extLst>
              <a:ext uri="{FF2B5EF4-FFF2-40B4-BE49-F238E27FC236}">
                <a16:creationId xmlns:a16="http://schemas.microsoft.com/office/drawing/2014/main" id="{ED53E72B-8ABE-423D-9DB2-CDA1E69F843F}"/>
              </a:ext>
            </a:extLst>
          </p:cNvPr>
          <p:cNvSpPr>
            <a:spLocks noGrp="1"/>
          </p:cNvSpPr>
          <p:nvPr/>
        </p:nvSpPr>
        <p:spPr>
          <a:xfrm>
            <a:off x="8835104" y="3878580"/>
            <a:ext cx="2381250" cy="209550"/>
          </a:xfrm>
          <a:prstGeom prst="rect">
            <a:avLst/>
          </a:prstGeom>
          <a:noFill/>
          <a:ln w="0">
            <a:noFill/>
          </a:ln>
        </p:spPr>
        <p:txBody>
          <a:bodyPr anchor="ctr">
            <a:noAutofit/>
          </a:bodyPr>
          <a:lstStyle/>
          <a:p>
            <a:pPr algn="ctr" eaLnBrk="0" latinLnBrk="0">
              <a:defRPr sz="1013" b="1">
                <a:solidFill>
                  <a:srgbClr val="FFFFFF"/>
                </a:solidFill>
                <a:latin typeface="나눔스퀘어"/>
                <a:ea typeface="나눔스퀘어"/>
                <a:cs typeface="나눔스퀘어"/>
              </a:defRPr>
            </a:pPr>
            <a:r>
              <a:rPr sz="1013" b="1" lang="ko-KR" altLang="en-US">
                <a:solidFill>
                  <a:srgbClr val="FFFFFF"/>
                </a:solidFill>
                <a:latin typeface="나눔스퀘어"/>
                <a:ea typeface="나눔스퀘어"/>
                <a:cs typeface="나눔스퀘어"/>
              </a:rPr>
              <a:t>같은 UV 상태, 측면</a:t>
            </a:r>
          </a:p>
        </p:txBody>
      </p:sp>
    </p:spTree>
    <p:extLst>
      <p:ext uri="{BB962C8B-B14F-4D97-AF65-F5344CB8AC3E}">
        <p14:creationId xmlns:p14="http://schemas.microsoft.com/office/powerpoint/2010/main" val="695092990"/>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결과 ④ 오디오와 사건 시작의 정렬</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10522915" cy="365760"/>
          </a:xfrm>
          <a:prstGeom prst="rect">
            <a:avLst/>
          </a:prstGeom>
          <a:noFill/>
        </p:spPr>
        <p:txBody>
          <a:bodyPr wrap="square" anchor="t" lIns="45720" rIns="45720">
            <a:noAutofit/>
          </a:bodyPr>
          <a:lstStyle/>
          <a:p>
            <a:pPr eaLnBrk="0" latinLnBrk="0" algn="l">
              <a:spcAft>
                <a:spcPts val="400"/>
              </a:spcAft>
            </a:pPr>
            <a:r>
              <a:rPr sz="1700" b="0" lang="ko-KR" altLang="en-US">
                <a:solidFill>
                  <a:srgbClr val="000000"/>
                </a:solidFill>
                <a:latin typeface="나눔스퀘어 Bold"/>
                <a:ea typeface="나눔스퀘어 Bold"/>
              </a:rPr>
              <a:t>RQ4. 사건 시작이 실제 오디오 특징과 맞는가? (E231, 과정 단계)</a:t>
            </a:r>
          </a:p>
        </p:txBody>
      </p:sp>
      <p:graphicFrame>
        <p:nvGraphicFramePr>
          <p:cNvPr id="19" name="Table 18"/>
          <p:cNvGraphicFramePr>
            <a:graphicFrameLocks noGrp="1"/>
          </p:cNvGraphicFramePr>
          <p:nvPr/>
        </p:nvGraphicFramePr>
        <p:xfrm>
          <a:off x="830275" y="1965960"/>
          <a:ext cx="5120640" cy="3218688"/>
        </p:xfrm>
        <a:graphic>
          <a:graphicData uri="http://schemas.openxmlformats.org/drawingml/2006/table">
            <a:tbl>
              <a:tblPr firstRow="1" bandRow="0">
                <a:tableStyleId>{2D5ABB26-0587-4C30-8999-92F81FD0307C}</a:tableStyleId>
              </a:tblPr>
              <a:tblGrid>
                <a:gridCol w="1737360"/>
                <a:gridCol w="1005840"/>
                <a:gridCol w="1188720"/>
                <a:gridCol w="1188720"/>
              </a:tblGrid>
              <a:tr h="402336">
                <a:tc>
                  <a:txBody>
                    <a:bodyPr wrap="square"/>
                    <a:lstStyle/>
                    <a:p>
                      <a:pPr eaLnBrk="0" latinLnBrk="0" algn="l"/>
                      <a:r>
                        <a:rPr sz="1400" b="0" lang="ko-KR" altLang="en-US">
                          <a:solidFill>
                            <a:srgbClr val="000000"/>
                          </a:solidFill>
                          <a:latin typeface="나눔스퀘어 Bold"/>
                          <a:ea typeface="나눔스퀘어 Bold"/>
                        </a:rPr>
                        <a:t>사건</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ctr"/>
                      <a:r>
                        <a:rPr sz="1400" b="0" lang="ko-KR" altLang="en-US">
                          <a:solidFill>
                            <a:srgbClr val="000000"/>
                          </a:solidFill>
                          <a:latin typeface="나눔스퀘어 Bold"/>
                          <a:ea typeface="나눔스퀘어 Bold"/>
                        </a:rPr>
                        <a:t>시작(초)</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ctr"/>
                      <a:r>
                        <a:rPr sz="1400" b="0" lang="ko-KR" altLang="en-US">
                          <a:solidFill>
                            <a:srgbClr val="000000"/>
                          </a:solidFill>
                          <a:latin typeface="나눔스퀘어 Bold"/>
                          <a:ea typeface="나눔스퀘어 Bold"/>
                        </a:rPr>
                        <a:t>정렬</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ctr"/>
                      <a:r>
                        <a:rPr sz="1400" b="0" lang="ko-KR" altLang="en-US">
                          <a:solidFill>
                            <a:srgbClr val="000000"/>
                          </a:solidFill>
                          <a:latin typeface="나눔스퀘어 Bold"/>
                          <a:ea typeface="나눔스퀘어 Bold"/>
                        </a:rPr>
                        <a:t>+7초 이동</a:t>
                      </a:r>
                    </a:p>
                  </a:txBody>
                  <a:tcPr marL="64008" marR="64008" marT="27432" marB="27432" anchor="ctr">
                    <a:lnL w="0">
                      <a:noFill/>
                    </a:lnL>
                    <a:lnR w="0">
                      <a:noFill/>
                    </a:lnR>
                    <a:lnT w="19050">
                      <a:solidFill>
                        <a:srgbClr val="000000"/>
                      </a:solidFill>
                    </a:lnT>
                    <a:lnB w="12700">
                      <a:solidFill>
                        <a:srgbClr val="000000"/>
                      </a:solidFill>
                    </a:lnB>
                    <a:noFill/>
                  </a:tcPr>
                </a:tc>
              </a:tr>
              <a:tr h="402336">
                <a:tc>
                  <a:txBody>
                    <a:bodyPr wrap="square"/>
                    <a:lstStyle/>
                    <a:p>
                      <a:pPr eaLnBrk="0" latinLnBrk="0" algn="l"/>
                      <a:r>
                        <a:rPr sz="1400" b="0" lang="ko-KR" altLang="en-US">
                          <a:solidFill>
                            <a:srgbClr val="000000"/>
                          </a:solidFill>
                          <a:latin typeface="나눔스퀘어 Bold"/>
                          <a:ea typeface="나눔스퀘어 Bold"/>
                        </a:rPr>
                        <a:t>눈</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2.21</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1.000</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0.064</a:t>
                      </a:r>
                    </a:p>
                  </a:txBody>
                  <a:tcPr marL="64008" marR="64008" marT="27432" marB="27432" anchor="ctr">
                    <a:lnL w="0">
                      <a:noFill/>
                    </a:lnL>
                    <a:lnR w="0">
                      <a:noFill/>
                    </a:lnR>
                    <a:lnT w="0">
                      <a:noFill/>
                    </a:lnT>
                    <a:lnB w="6350">
                      <a:solidFill>
                        <a:srgbClr val="D9D9D9"/>
                      </a:solidFill>
                    </a:lnB>
                    <a:noFill/>
                  </a:tcPr>
                </a:tc>
              </a:tr>
              <a:tr h="402336">
                <a:tc>
                  <a:txBody>
                    <a:bodyPr wrap="square"/>
                    <a:lstStyle/>
                    <a:p>
                      <a:pPr eaLnBrk="0" latinLnBrk="0" algn="l"/>
                      <a:r>
                        <a:rPr sz="1400" b="0" lang="ko-KR" altLang="en-US">
                          <a:solidFill>
                            <a:srgbClr val="000000"/>
                          </a:solidFill>
                          <a:latin typeface="나눔스퀘어 Bold"/>
                          <a:ea typeface="나눔스퀘어 Bold"/>
                        </a:rPr>
                        <a:t>귀</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7.00</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0.390</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0.724</a:t>
                      </a:r>
                    </a:p>
                  </a:txBody>
                  <a:tcPr marL="64008" marR="64008" marT="27432" marB="27432" anchor="ctr">
                    <a:lnL w="0">
                      <a:noFill/>
                    </a:lnL>
                    <a:lnR w="0">
                      <a:noFill/>
                    </a:lnR>
                    <a:lnT w="0">
                      <a:noFill/>
                    </a:lnT>
                    <a:lnB w="6350">
                      <a:solidFill>
                        <a:srgbClr val="D9D9D9"/>
                      </a:solidFill>
                    </a:lnB>
                    <a:noFill/>
                  </a:tcPr>
                </a:tc>
              </a:tr>
              <a:tr h="402336">
                <a:tc>
                  <a:txBody>
                    <a:bodyPr wrap="square"/>
                    <a:lstStyle/>
                    <a:p>
                      <a:pPr eaLnBrk="0" latinLnBrk="0" algn="l"/>
                      <a:r>
                        <a:rPr sz="1400" b="0" lang="ko-KR" altLang="en-US">
                          <a:solidFill>
                            <a:srgbClr val="000000"/>
                          </a:solidFill>
                          <a:latin typeface="나눔스퀘어 Bold"/>
                          <a:ea typeface="나눔스퀘어 Bold"/>
                        </a:rPr>
                        <a:t>전면</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10.54</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1.000</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0.048</a:t>
                      </a:r>
                    </a:p>
                  </a:txBody>
                  <a:tcPr marL="64008" marR="64008" marT="27432" marB="27432" anchor="ctr">
                    <a:lnL w="0">
                      <a:noFill/>
                    </a:lnL>
                    <a:lnR w="0">
                      <a:noFill/>
                    </a:lnR>
                    <a:lnT w="0">
                      <a:noFill/>
                    </a:lnT>
                    <a:lnB w="6350">
                      <a:solidFill>
                        <a:srgbClr val="D9D9D9"/>
                      </a:solidFill>
                    </a:lnB>
                    <a:noFill/>
                  </a:tcPr>
                </a:tc>
              </a:tr>
              <a:tr h="402336">
                <a:tc>
                  <a:txBody>
                    <a:bodyPr wrap="square"/>
                    <a:lstStyle/>
                    <a:p>
                      <a:pPr eaLnBrk="0" latinLnBrk="0" algn="l"/>
                      <a:r>
                        <a:rPr sz="1400" b="0" lang="ko-KR" altLang="en-US">
                          <a:solidFill>
                            <a:srgbClr val="000000"/>
                          </a:solidFill>
                          <a:latin typeface="나눔스퀘어 Bold"/>
                          <a:ea typeface="나눔스퀘어 Bold"/>
                        </a:rPr>
                        <a:t>입 · 코</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15.71</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0.870</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0.200</a:t>
                      </a:r>
                    </a:p>
                  </a:txBody>
                  <a:tcPr marL="64008" marR="64008" marT="27432" marB="27432" anchor="ctr">
                    <a:lnL w="0">
                      <a:noFill/>
                    </a:lnL>
                    <a:lnR w="0">
                      <a:noFill/>
                    </a:lnR>
                    <a:lnT w="0">
                      <a:noFill/>
                    </a:lnT>
                    <a:lnB w="6350">
                      <a:solidFill>
                        <a:srgbClr val="D9D9D9"/>
                      </a:solidFill>
                    </a:lnB>
                    <a:noFill/>
                  </a:tcPr>
                </a:tc>
              </a:tr>
              <a:tr h="402336">
                <a:tc>
                  <a:txBody>
                    <a:bodyPr wrap="square"/>
                    <a:lstStyle/>
                    <a:p>
                      <a:pPr eaLnBrk="0" latinLnBrk="0" algn="l"/>
                      <a:r>
                        <a:rPr sz="1400" b="0" lang="ko-KR" altLang="en-US">
                          <a:solidFill>
                            <a:srgbClr val="000000"/>
                          </a:solidFill>
                          <a:latin typeface="나눔스퀘어 Bold"/>
                          <a:ea typeface="나눔스퀘어 Bold"/>
                        </a:rPr>
                        <a:t>후면 · 정수리</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23.67</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0.930</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0.017</a:t>
                      </a:r>
                    </a:p>
                  </a:txBody>
                  <a:tcPr marL="64008" marR="64008" marT="27432" marB="27432" anchor="ctr">
                    <a:lnL w="0">
                      <a:noFill/>
                    </a:lnL>
                    <a:lnR w="0">
                      <a:noFill/>
                    </a:lnR>
                    <a:lnT w="0">
                      <a:noFill/>
                    </a:lnT>
                    <a:lnB w="6350">
                      <a:solidFill>
                        <a:srgbClr val="D9D9D9"/>
                      </a:solidFill>
                    </a:lnB>
                    <a:noFill/>
                  </a:tcPr>
                </a:tc>
              </a:tr>
              <a:tr h="402336">
                <a:tc>
                  <a:txBody>
                    <a:bodyPr wrap="square"/>
                    <a:lstStyle/>
                    <a:p>
                      <a:pPr eaLnBrk="0" latinLnBrk="0" algn="l"/>
                      <a:r>
                        <a:rPr sz="1400" b="0" lang="ko-KR" altLang="en-US">
                          <a:solidFill>
                            <a:srgbClr val="000000"/>
                          </a:solidFill>
                          <a:latin typeface="나눔스퀘어 Bold"/>
                          <a:ea typeface="나눔스퀘어 Bold"/>
                        </a:rPr>
                        <a:t>평균 시작점 점수</a:t>
                      </a:r>
                    </a:p>
                  </a:txBody>
                  <a:tcPr marL="64008" marR="64008" marT="27432" marB="27432" anchor="ctr">
                    <a:lnL w="0">
                      <a:noFill/>
                    </a:lnL>
                    <a:lnR w="0">
                      <a:noFill/>
                    </a:lnR>
                    <a:lnT w="0">
                      <a:noFill/>
                    </a:lnT>
                    <a:lnB w="6350">
                      <a:solidFill>
                        <a:srgbClr val="D9D9D9"/>
                      </a:solidFill>
                    </a:lnB>
                    <a:solidFill>
                      <a:srgbClr val="F2F2F2"/>
                    </a:solidFill>
                  </a:tcPr>
                </a:tc>
                <a:tc>
                  <a:txBody>
                    <a:bodyPr wrap="square"/>
                    <a:lstStyle/>
                    <a:p>
                      <a:pPr eaLnBrk="0" latinLnBrk="0" algn="ctr"/>
                      <a:r>
                        <a:rPr sz="1400" b="0" lang="ko-KR" altLang="en-US">
                          <a:solidFill>
                            <a:srgbClr val="000000"/>
                          </a:solidFill>
                          <a:latin typeface="나눔스퀘어 Bold"/>
                          <a:ea typeface="나눔스퀘어 Bold"/>
                        </a:rPr>
                        <a:t/>
                      </a:r>
                    </a:p>
                  </a:txBody>
                  <a:tcPr marL="64008" marR="64008" marT="27432" marB="27432" anchor="ctr">
                    <a:lnL w="0">
                      <a:noFill/>
                    </a:lnL>
                    <a:lnR w="0">
                      <a:noFill/>
                    </a:lnR>
                    <a:lnT w="0">
                      <a:noFill/>
                    </a:lnT>
                    <a:lnB w="6350">
                      <a:solidFill>
                        <a:srgbClr val="D9D9D9"/>
                      </a:solidFill>
                    </a:lnB>
                    <a:solidFill>
                      <a:srgbClr val="F2F2F2"/>
                    </a:solidFill>
                  </a:tcPr>
                </a:tc>
                <a:tc>
                  <a:txBody>
                    <a:bodyPr wrap="square"/>
                    <a:lstStyle/>
                    <a:p>
                      <a:pPr eaLnBrk="0" latinLnBrk="0" algn="ctr"/>
                      <a:r>
                        <a:rPr sz="1400" b="0" lang="ko-KR" altLang="en-US">
                          <a:solidFill>
                            <a:srgbClr val="000000"/>
                          </a:solidFill>
                          <a:latin typeface="나눔스퀘어 Bold"/>
                          <a:ea typeface="나눔스퀘어 Bold"/>
                        </a:rPr>
                        <a:t>0.838</a:t>
                      </a:r>
                    </a:p>
                  </a:txBody>
                  <a:tcPr marL="64008" marR="64008" marT="27432" marB="27432" anchor="ctr">
                    <a:lnL w="0">
                      <a:noFill/>
                    </a:lnL>
                    <a:lnR w="0">
                      <a:noFill/>
                    </a:lnR>
                    <a:lnT w="0">
                      <a:noFill/>
                    </a:lnT>
                    <a:lnB w="6350">
                      <a:solidFill>
                        <a:srgbClr val="D9D9D9"/>
                      </a:solidFill>
                    </a:lnB>
                    <a:solidFill>
                      <a:srgbClr val="F2F2F2"/>
                    </a:solidFill>
                  </a:tcPr>
                </a:tc>
                <a:tc>
                  <a:txBody>
                    <a:bodyPr wrap="square"/>
                    <a:lstStyle/>
                    <a:p>
                      <a:pPr eaLnBrk="0" latinLnBrk="0" algn="ctr"/>
                      <a:r>
                        <a:rPr sz="1400" b="0" lang="ko-KR" altLang="en-US">
                          <a:solidFill>
                            <a:srgbClr val="000000"/>
                          </a:solidFill>
                          <a:latin typeface="나눔스퀘어 Bold"/>
                          <a:ea typeface="나눔스퀘어 Bold"/>
                        </a:rPr>
                        <a:t>0.210</a:t>
                      </a:r>
                    </a:p>
                  </a:txBody>
                  <a:tcPr marL="64008" marR="64008" marT="27432" marB="27432" anchor="ctr">
                    <a:lnL w="0">
                      <a:noFill/>
                    </a:lnL>
                    <a:lnR w="0">
                      <a:noFill/>
                    </a:lnR>
                    <a:lnT w="0">
                      <a:noFill/>
                    </a:lnT>
                    <a:lnB w="6350">
                      <a:solidFill>
                        <a:srgbClr val="D9D9D9"/>
                      </a:solidFill>
                    </a:lnB>
                    <a:solidFill>
                      <a:srgbClr val="F2F2F2"/>
                    </a:solidFill>
                  </a:tcPr>
                </a:tc>
              </a:tr>
              <a:tr h="402336">
                <a:tc>
                  <a:txBody>
                    <a:bodyPr wrap="square"/>
                    <a:lstStyle/>
                    <a:p>
                      <a:pPr eaLnBrk="0" latinLnBrk="0" algn="l"/>
                      <a:r>
                        <a:rPr sz="1400" b="0" lang="ko-KR" altLang="en-US">
                          <a:solidFill>
                            <a:srgbClr val="000000"/>
                          </a:solidFill>
                          <a:latin typeface="나눔스퀘어 Bold"/>
                          <a:ea typeface="나눔스퀘어 Bold"/>
                        </a:rPr>
                        <a:t>trigger hit</a:t>
                      </a:r>
                    </a:p>
                  </a:txBody>
                  <a:tcPr marL="64008" marR="64008" marT="27432" marB="27432" anchor="ctr">
                    <a:lnL w="0">
                      <a:noFill/>
                    </a:lnL>
                    <a:lnR w="0">
                      <a:noFill/>
                    </a:lnR>
                    <a:lnT w="0">
                      <a:noFill/>
                    </a:lnT>
                    <a:lnB w="19050">
                      <a:solidFill>
                        <a:srgbClr val="000000"/>
                      </a:solidFill>
                    </a:lnB>
                    <a:solidFill>
                      <a:srgbClr val="F2F2F2"/>
                    </a:solidFill>
                  </a:tcPr>
                </a:tc>
                <a:tc>
                  <a:txBody>
                    <a:bodyPr wrap="square"/>
                    <a:lstStyle/>
                    <a:p>
                      <a:pPr eaLnBrk="0" latinLnBrk="0" algn="ctr"/>
                      <a:r>
                        <a:rPr sz="1400" b="0" lang="ko-KR" altLang="en-US">
                          <a:solidFill>
                            <a:srgbClr val="000000"/>
                          </a:solidFill>
                          <a:latin typeface="나눔스퀘어 Bold"/>
                          <a:ea typeface="나눔스퀘어 Bold"/>
                        </a:rPr>
                        <a:t/>
                      </a:r>
                    </a:p>
                  </a:txBody>
                  <a:tcPr marL="64008" marR="64008" marT="27432" marB="27432" anchor="ctr">
                    <a:lnL w="0">
                      <a:noFill/>
                    </a:lnL>
                    <a:lnR w="0">
                      <a:noFill/>
                    </a:lnR>
                    <a:lnT w="0">
                      <a:noFill/>
                    </a:lnT>
                    <a:lnB w="19050">
                      <a:solidFill>
                        <a:srgbClr val="000000"/>
                      </a:solidFill>
                    </a:lnB>
                    <a:solidFill>
                      <a:srgbClr val="F2F2F2"/>
                    </a:solidFill>
                  </a:tcPr>
                </a:tc>
                <a:tc>
                  <a:txBody>
                    <a:bodyPr wrap="square"/>
                    <a:lstStyle/>
                    <a:p>
                      <a:pPr eaLnBrk="0" latinLnBrk="0" algn="ctr"/>
                      <a:r>
                        <a:rPr sz="1400" b="0" lang="ko-KR" altLang="en-US">
                          <a:solidFill>
                            <a:srgbClr val="000000"/>
                          </a:solidFill>
                          <a:latin typeface="나눔스퀘어 Bold"/>
                          <a:ea typeface="나눔스퀘어 Bold"/>
                        </a:rPr>
                        <a:t>5 / 5</a:t>
                      </a:r>
                    </a:p>
                  </a:txBody>
                  <a:tcPr marL="64008" marR="64008" marT="27432" marB="27432" anchor="ctr">
                    <a:lnL w="0">
                      <a:noFill/>
                    </a:lnL>
                    <a:lnR w="0">
                      <a:noFill/>
                    </a:lnR>
                    <a:lnT w="0">
                      <a:noFill/>
                    </a:lnT>
                    <a:lnB w="19050">
                      <a:solidFill>
                        <a:srgbClr val="000000"/>
                      </a:solidFill>
                    </a:lnB>
                    <a:solidFill>
                      <a:srgbClr val="F2F2F2"/>
                    </a:solidFill>
                  </a:tcPr>
                </a:tc>
                <a:tc>
                  <a:txBody>
                    <a:bodyPr wrap="square"/>
                    <a:lstStyle/>
                    <a:p>
                      <a:pPr eaLnBrk="0" latinLnBrk="0" algn="ctr"/>
                      <a:r>
                        <a:rPr sz="1400" b="0" lang="ko-KR" altLang="en-US">
                          <a:solidFill>
                            <a:srgbClr val="000000"/>
                          </a:solidFill>
                          <a:latin typeface="나눔스퀘어 Bold"/>
                          <a:ea typeface="나눔스퀘어 Bold"/>
                        </a:rPr>
                        <a:t>0 / 5</a:t>
                      </a:r>
                    </a:p>
                  </a:txBody>
                  <a:tcPr marL="64008" marR="64008" marT="27432" marB="27432" anchor="ctr">
                    <a:lnL w="0">
                      <a:noFill/>
                    </a:lnL>
                    <a:lnR w="0">
                      <a:noFill/>
                    </a:lnR>
                    <a:lnT w="0">
                      <a:noFill/>
                    </a:lnT>
                    <a:lnB w="19050">
                      <a:solidFill>
                        <a:srgbClr val="000000"/>
                      </a:solidFill>
                    </a:lnB>
                    <a:solidFill>
                      <a:srgbClr val="F2F2F2"/>
                    </a:solidFill>
                  </a:tcPr>
                </a:tc>
              </a:tr>
            </a:tbl>
          </a:graphicData>
        </a:graphic>
      </p:graphicFrame>
      <p:pic>
        <p:nvPicPr>
          <p:cNvPr id="20" name="Picture 19" descr="image.png"/>
          <p:cNvPicPr>
            <a:picLocks noChangeAspect="1"/>
          </p:cNvPicPr>
          <p:nvPr/>
        </p:nvPicPr>
        <p:blipFill>
          <a:blip r:embed="rId3"/>
          <a:stretch>
            <a:fillRect/>
          </a:stretch>
        </p:blipFill>
        <p:spPr>
          <a:xfrm>
            <a:off x="6263640" y="1965960"/>
            <a:ext cx="5074920" cy="2114550"/>
          </a:xfrm>
          <a:prstGeom prst="rect">
            <a:avLst/>
          </a:prstGeom>
        </p:spPr>
      </p:pic>
      <p:sp>
        <p:nvSpPr>
          <p:cNvPr id="21" name="TextBox 20"/>
          <p:cNvSpPr txBox="1"/>
          <p:nvPr/>
        </p:nvSpPr>
        <p:spPr>
          <a:xfrm>
            <a:off x="6263640" y="4206240"/>
            <a:ext cx="5074920" cy="1005840"/>
          </a:xfrm>
          <a:prstGeom prst="rect">
            <a:avLst/>
          </a:prstGeom>
          <a:noFill/>
        </p:spPr>
        <p:txBody>
          <a:bodyPr wrap="square" anchor="t" lIns="45720" rIns="45720">
            <a:noAutofit/>
          </a:bodyPr>
          <a:lstStyle/>
          <a:p>
            <a:pPr eaLnBrk="0" latinLnBrk="0" algn="l">
              <a:spcAft>
                <a:spcPts val="400"/>
              </a:spcAft>
            </a:pPr>
            <a:r>
              <a:rPr sz="1250" b="0" lang="ko-KR" altLang="en-US">
                <a:solidFill>
                  <a:srgbClr val="595959"/>
                </a:solidFill>
                <a:latin typeface="나눔스퀘어"/>
                <a:ea typeface="나눔스퀘어"/>
              </a:rPr>
              <a:t>시작점 점수 = 사건별 lane 가중합을 시작 프레임에서 측정</a:t>
            </a:r>
          </a:p>
          <a:p>
            <a:pPr eaLnBrk="0" latinLnBrk="0" algn="l">
              <a:spcAft>
                <a:spcPts val="400"/>
              </a:spcAft>
            </a:pPr>
            <a:r>
              <a:rPr sz="1250" b="0" lang="ko-KR" altLang="en-US">
                <a:solidFill>
                  <a:srgbClr val="595959"/>
                </a:solidFill>
                <a:latin typeface="나눔스퀘어"/>
                <a:ea typeface="나눔스퀘어"/>
              </a:rPr>
              <a:t>선택 점수 = 0.45 lane peak + 0.30 trigger + 0.20 구간 평균 + 0.05 motion 상관</a:t>
            </a:r>
          </a:p>
        </p:txBody>
      </p:sp>
      <p:sp>
        <p:nvSpPr>
          <p:cNvPr id="22" name="TextBox 21"/>
          <p:cNvSpPr txBox="1"/>
          <p:nvPr/>
        </p:nvSpPr>
        <p:spPr>
          <a:xfrm>
            <a:off x="830275" y="5440680"/>
            <a:ext cx="10522915" cy="640080"/>
          </a:xfrm>
          <a:prstGeom prst="rect">
            <a:avLst/>
          </a:prstGeom>
          <a:noFill/>
        </p:spPr>
        <p:txBody>
          <a:bodyPr wrap="square" anchor="t" lIns="45720" rIns="45720">
            <a:noAutofit/>
          </a:bodyPr>
          <a:lstStyle/>
          <a:p>
            <a:pPr eaLnBrk="0" latinLnBrk="0" algn="l">
              <a:spcAft>
                <a:spcPts val="400"/>
              </a:spcAft>
            </a:pPr>
            <a:r>
              <a:rPr sz="1400" b="0" lang="ko-KR" altLang="en-US">
                <a:solidFill>
                  <a:srgbClr val="000000"/>
                </a:solidFill>
                <a:latin typeface="나눔스퀘어 Bold"/>
                <a:ea typeface="나눔스퀘어 Bold"/>
              </a:rPr>
              <a:t>내부 진단  </a:t>
            </a:r>
            <a:r>
              <a:rPr sz="1400" b="0" lang="ko-KR" altLang="en-US">
                <a:solidFill>
                  <a:srgbClr val="000000"/>
                </a:solidFill>
                <a:latin typeface="나눔스퀘어"/>
                <a:ea typeface="나눔스퀘어"/>
              </a:rPr>
              <a:t>귀는 이동 조건이 더 높음, 사건 5개뿐 → 사람이 음악과 맞다고 느끼는지는 평가 계획 ①에서 확인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현재 결과: E237 음악 기반 사건 편성</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그림 자리: E237 30초 영상: 정면·측면·후면 동기화 + 하단 타임라인 재생 헤드, 오디오 포함"/>
          <p:cNvSpPr/>
          <p:nvPr/>
        </p:nvSpPr>
        <p:spPr>
          <a:xfrm>
            <a:off x="830275" y="1481328"/>
            <a:ext cx="6858000" cy="3858768"/>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E237 30초 영상: 정면·측면·후면 동기화 + 하단 타임라인 재생 헤드, 오디오 포함</a:t>
            </a:r>
          </a:p>
        </p:txBody>
      </p:sp>
      <p:sp>
        <p:nvSpPr>
          <p:cNvPr id="19" name="TextBox 18"/>
          <p:cNvSpPr txBox="1"/>
          <p:nvPr/>
        </p:nvSpPr>
        <p:spPr>
          <a:xfrm>
            <a:off x="830275" y="5440680"/>
            <a:ext cx="6858000" cy="548640"/>
          </a:xfrm>
          <a:prstGeom prst="rect">
            <a:avLst/>
          </a:prstGeom>
          <a:noFill/>
        </p:spPr>
        <p:txBody>
          <a:bodyPr wrap="square" anchor="t" lIns="45720" rIns="45720">
            <a:noAutofit/>
          </a:bodyPr>
          <a:lstStyle/>
          <a:p>
            <a:pPr eaLnBrk="0" latinLnBrk="0" algn="l">
              <a:spcAft>
                <a:spcPts val="400"/>
              </a:spcAft>
            </a:pPr>
            <a:r>
              <a:rPr sz="1150" b="0" lang="ko-KR" altLang="en-US">
                <a:solidFill>
                  <a:srgbClr val="595959"/>
                </a:solidFill>
                <a:latin typeface="나눔스퀘어"/>
                <a:ea typeface="나눔스퀘어"/>
              </a:rPr>
              <a:t>새로 생성: 전면 · 코 · 눈  /  검수 후 유지: 귀 · 입 · 후면  (시간표 전체: 부록 I)</a:t>
            </a:r>
          </a:p>
        </p:txBody>
      </p:sp>
      <p:sp>
        <p:nvSpPr>
          <p:cNvPr id="20" name="TextBox 19"/>
          <p:cNvSpPr txBox="1"/>
          <p:nvPr/>
        </p:nvSpPr>
        <p:spPr>
          <a:xfrm>
            <a:off x="7909560" y="1481328"/>
            <a:ext cx="3429000" cy="4663440"/>
          </a:xfrm>
          <a:prstGeom prst="rect">
            <a:avLst/>
          </a:prstGeom>
          <a:noFill/>
        </p:spPr>
        <p:txBody>
          <a:bodyPr wrap="square" anchor="t" lIns="45720" rIns="45720">
            <a:noAutofit/>
          </a:bodyPr>
          <a:lstStyle/>
          <a:p>
            <a:pPr eaLnBrk="0" latinLnBrk="0" algn="l">
              <a:lnSpc>
                <a:spcPct val="115000"/>
              </a:lnSpc>
              <a:spcAft>
                <a:spcPts val="200"/>
              </a:spcAft>
            </a:pPr>
            <a:r>
              <a:rPr sz="1400" b="0" lang="ko-KR" altLang="en-US">
                <a:solidFill>
                  <a:srgbClr val="000000"/>
                </a:solidFill>
                <a:latin typeface="나눔스퀘어 Bold"/>
                <a:ea typeface="나눔스퀘어 Bold"/>
              </a:rPr>
              <a:t>사건 편성</a:t>
            </a:r>
          </a:p>
          <a:p>
            <a:pPr eaLnBrk="0" latinLnBrk="0" algn="l" marL="283464" indent="-283464">
              <a:lnSpc>
                <a:spcPct val="115000"/>
              </a:lnSpc>
              <a:spcAft>
                <a:spcPts val="100"/>
              </a:spcAft>
              <a:buFont typeface="Arial"/>
              <a:buChar char="•"/>
            </a:pPr>
            <a:r>
              <a:rPr sz="1250" b="0" lang="ko-KR" altLang="en-US">
                <a:solidFill>
                  <a:srgbClr val="000000"/>
                </a:solidFill>
                <a:latin typeface="나눔스퀘어"/>
                <a:ea typeface="나눔스퀘어"/>
              </a:rPr>
              <a:t>전면 2.5초 → 코 5.2초 (1.3초 겹침)</a:t>
            </a:r>
          </a:p>
          <a:p>
            <a:pPr eaLnBrk="0" latinLnBrk="0" algn="l" marL="283464" indent="-283464">
              <a:lnSpc>
                <a:spcPct val="115000"/>
              </a:lnSpc>
              <a:spcAft>
                <a:spcPts val="100"/>
              </a:spcAft>
              <a:buFont typeface="Arial"/>
              <a:buChar char="•"/>
            </a:pPr>
            <a:r>
              <a:rPr sz="1250" b="0" lang="ko-KR" altLang="en-US">
                <a:solidFill>
                  <a:srgbClr val="000000"/>
                </a:solidFill>
                <a:latin typeface="나눔스퀘어"/>
                <a:ea typeface="나눔스퀘어"/>
              </a:rPr>
              <a:t>12초: 임계값 미달, 사건 없음</a:t>
            </a:r>
          </a:p>
          <a:p>
            <a:pPr eaLnBrk="0" latinLnBrk="0" algn="l" marL="283464" indent="-283464">
              <a:lnSpc>
                <a:spcPct val="115000"/>
              </a:lnSpc>
              <a:spcAft>
                <a:spcPts val="100"/>
              </a:spcAft>
              <a:buFont typeface="Arial"/>
              <a:buChar char="•"/>
            </a:pPr>
            <a:r>
              <a:rPr sz="1250" b="0" lang="ko-KR" altLang="en-US">
                <a:solidFill>
                  <a:srgbClr val="000000"/>
                </a:solidFill>
                <a:latin typeface="나눔스퀘어"/>
                <a:ea typeface="나눔스퀘어"/>
              </a:rPr>
              <a:t>귀 · 눈 15.9초 동시 시작, 입 20.4초</a:t>
            </a:r>
          </a:p>
          <a:p>
            <a:pPr eaLnBrk="0" latinLnBrk="0" algn="l" marL="283464" indent="-283464">
              <a:lnSpc>
                <a:spcPct val="115000"/>
              </a:lnSpc>
              <a:spcAft>
                <a:spcPts val="1000"/>
              </a:spcAft>
              <a:buFont typeface="Arial"/>
              <a:buChar char="•"/>
            </a:pPr>
            <a:r>
              <a:rPr sz="1250" b="0" lang="ko-KR" altLang="en-US">
                <a:solidFill>
                  <a:srgbClr val="000000"/>
                </a:solidFill>
                <a:latin typeface="나눔스퀘어"/>
                <a:ea typeface="나눔스퀘어"/>
              </a:rPr>
              <a:t>후면 24.0초 (bass · reservoir)</a:t>
            </a:r>
          </a:p>
          <a:p>
            <a:pPr eaLnBrk="0" latinLnBrk="0" algn="l">
              <a:lnSpc>
                <a:spcPct val="115000"/>
              </a:lnSpc>
              <a:spcAft>
                <a:spcPts val="200"/>
              </a:spcAft>
            </a:pPr>
            <a:r>
              <a:rPr sz="1400" b="0" lang="ko-KR" altLang="en-US">
                <a:solidFill>
                  <a:srgbClr val="000000"/>
                </a:solidFill>
                <a:latin typeface="나눔스퀘어 Bold"/>
                <a:ea typeface="나눔스퀘어 Bold"/>
              </a:rPr>
              <a:t>기술 결과</a:t>
            </a:r>
          </a:p>
          <a:p>
            <a:pPr eaLnBrk="0" latinLnBrk="0" algn="l" marL="283464" indent="-283464">
              <a:lnSpc>
                <a:spcPct val="115000"/>
              </a:lnSpc>
              <a:spcAft>
                <a:spcPts val="100"/>
              </a:spcAft>
              <a:buFont typeface="Arial"/>
              <a:buChar char="•"/>
            </a:pPr>
            <a:r>
              <a:rPr sz="1250" b="0" lang="ko-KR" altLang="en-US">
                <a:solidFill>
                  <a:srgbClr val="000000"/>
                </a:solidFill>
                <a:latin typeface="나눔스퀘어"/>
                <a:ea typeface="나눔스퀘어"/>
              </a:rPr>
              <a:t>1024², 24 fps, 720 frame + AAC</a:t>
            </a:r>
          </a:p>
          <a:p>
            <a:pPr eaLnBrk="0" latinLnBrk="0" algn="l" marL="283464" indent="-283464">
              <a:lnSpc>
                <a:spcPct val="115000"/>
              </a:lnSpc>
              <a:spcAft>
                <a:spcPts val="100"/>
              </a:spcAft>
              <a:buFont typeface="Arial"/>
              <a:buChar char="•"/>
            </a:pPr>
            <a:r>
              <a:rPr sz="1250" b="0" lang="ko-KR" altLang="en-US">
                <a:solidFill>
                  <a:srgbClr val="000000"/>
                </a:solidFill>
                <a:latin typeface="나눔스퀘어"/>
                <a:ea typeface="나눔스퀘어"/>
              </a:rPr>
              <a:t>형상 · 기본 텍스처 유지, owner 겹침 0</a:t>
            </a:r>
          </a:p>
          <a:p>
            <a:pPr eaLnBrk="0" latinLnBrk="0" algn="l" marL="283464" indent="-283464">
              <a:lnSpc>
                <a:spcPct val="115000"/>
              </a:lnSpc>
              <a:spcAft>
                <a:spcPts val="1000"/>
              </a:spcAft>
              <a:buFont typeface="Arial"/>
              <a:buChar char="•"/>
            </a:pPr>
            <a:r>
              <a:rPr sz="1250" b="0" lang="ko-KR" altLang="en-US">
                <a:solidFill>
                  <a:srgbClr val="000000"/>
                </a:solidFill>
                <a:latin typeface="나눔스퀘어"/>
                <a:ea typeface="나눔스퀘어"/>
              </a:rPr>
              <a:t>dissolve · 보간 · loop 없음, Unity 재생 확인</a:t>
            </a:r>
          </a:p>
          <a:p>
            <a:pPr eaLnBrk="0" latinLnBrk="0" algn="l">
              <a:lnSpc>
                <a:spcPct val="115000"/>
              </a:lnSpc>
              <a:spcAft>
                <a:spcPts val="200"/>
              </a:spcAft>
            </a:pPr>
            <a:r>
              <a:rPr sz="1400" b="0" lang="ko-KR" altLang="en-US">
                <a:solidFill>
                  <a:srgbClr val="000000"/>
                </a:solidFill>
                <a:latin typeface="나눔스퀘어 Bold"/>
                <a:ea typeface="나눔스퀘어 Bold"/>
              </a:rPr>
              <a:t>남은 문제</a:t>
            </a:r>
          </a:p>
          <a:p>
            <a:pPr eaLnBrk="0" latinLnBrk="0" algn="l" marL="283464" indent="-283464">
              <a:lnSpc>
                <a:spcPct val="115000"/>
              </a:lnSpc>
              <a:spcAft>
                <a:spcPts val="100"/>
              </a:spcAft>
              <a:buFont typeface="Arial"/>
              <a:buChar char="•"/>
            </a:pPr>
            <a:r>
              <a:rPr sz="1250" b="0" lang="ko-KR" altLang="en-US">
                <a:solidFill>
                  <a:srgbClr val="595959"/>
                </a:solidFill>
                <a:latin typeface="나눔스퀘어"/>
                <a:ea typeface="나눔스퀘어"/>
              </a:rPr>
              <a:t>사건 강도 불균형 (owner 평균 변화 전면 20.0 · 눈 8.3 · 코 3.3 /255)</a:t>
            </a:r>
          </a:p>
          <a:p>
            <a:pPr eaLnBrk="0" latinLnBrk="0" algn="l" marL="283464" indent="-283464">
              <a:lnSpc>
                <a:spcPct val="115000"/>
              </a:lnSpc>
              <a:spcAft>
                <a:spcPts val="100"/>
              </a:spcAft>
              <a:buFont typeface="Arial"/>
              <a:buChar char="•"/>
            </a:pPr>
            <a:r>
              <a:rPr sz="1250" b="0" lang="ko-KR" altLang="en-US">
                <a:solidFill>
                  <a:srgbClr val="595959"/>
                </a:solidFill>
                <a:latin typeface="나눔스퀘어"/>
                <a:ea typeface="나눔스퀘어"/>
              </a:rPr>
              <a:t>한 곡 · 한 메시</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2">
            <a:extLst>
              <a:ext uri="{FF2B5EF4-FFF2-40B4-BE49-F238E27FC236}">
                <a16:creationId xmlns:a16="http://schemas.microsoft.com/office/drawing/2014/main" id="{7A766687-7BDF-4558-BA26-4442E769D259}"/>
              </a:ext>
            </a:extLst>
          </p:cNvPr>
          <p:cNvSpPr>
            <a:spLocks noGrp="1"/>
          </p:cNvSpPr>
          <p:nvPr/>
        </p:nvSpPr>
        <p:spPr>
          <a:xfrm>
            <a:off x="-8965" y="-8754"/>
            <a:ext cx="12299577" cy="6947436"/>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0" latinLnBrk="0">
              <a:buNone/>
            </a:pPr>
            <a:endParaRPr lang="ko-KR" altLang="en-US"/>
          </a:p>
        </p:txBody>
      </p:sp>
      <p:sp>
        <p:nvSpPr>
          <p:cNvPr id="2" name="Title 1">
            <a:extLst>
              <a:ext uri="{FF2B5EF4-FFF2-40B4-BE49-F238E27FC236}">
                <a16:creationId xmlns:a16="http://schemas.microsoft.com/office/drawing/2014/main" id="{BF2B3434-464D-4456-AC49-88976286940A}"/>
              </a:ext>
            </a:extLst>
          </p:cNvPr>
          <p:cNvSpPr>
            <a:spLocks noGrp="1"/>
          </p:cNvSpPr>
          <p:nvPr>
            <p:ph type="title"/>
          </p:nvPr>
        </p:nvSpPr>
        <p:spPr>
          <a:xfrm>
            <a:off x="830424" y="2528211"/>
            <a:ext cx="10515600" cy="1325563"/>
          </a:xfrm>
        </p:spPr>
        <p:txBody>
          <a:bodyPr/>
          <a:lstStyle/>
          <a:p>
            <a:pPr algn="ctr" eaLnBrk="0" latinLnBrk="0">
              <a:buNone/>
            </a:pPr>
            <a:r>
              <a:rPr sz="6000" b="0" lang="ko-KR" altLang="en-US">
                <a:solidFill>
                  <a:srgbClr val="FFFFFF"/>
                </a:solidFill>
                <a:latin typeface="나눔스퀘어 ExtraBold"/>
                <a:ea typeface="나눔스퀘어 ExtraBold"/>
                <a:cs typeface="나눔스퀘어 ExtraBold"/>
              </a:rPr>
              <a:t>Conclusion</a:t>
            </a:r>
          </a:p>
        </p:txBody>
      </p:sp>
      <p:sp>
        <p:nvSpPr>
          <p:cNvPr id="16" name="직선 연결선 14">
            <a:extLst>
              <a:ext uri="{FF2B5EF4-FFF2-40B4-BE49-F238E27FC236}">
                <a16:creationId xmlns:a16="http://schemas.microsoft.com/office/drawing/2014/main" id="{7D1E8744-9A3F-47DF-8380-1963A78377B8}"/>
              </a:ext>
            </a:extLst>
          </p:cNvPr>
          <p:cNvSpPr>
            <a:spLocks noGrp="1"/>
          </p:cNvSpPr>
          <p:nvPr/>
        </p:nvSpPr>
        <p:spPr>
          <a:xfrm>
            <a:off x="2201148" y="4108193"/>
            <a:ext cx="7789701"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sp>
      <p:pic>
        <p:nvPicPr>
          <p:cNvPr id="21" name="Picture 16"/>
          <p:cNvPicPr>
            <a:picLocks noChangeAspect="1"/>
          </p:cNvPicPr>
          <p:nvPr/>
        </p:nvPicPr>
        <p:blipFill>
          <a:blip r:embed="rId3"/>
          <a:stretch>
            <a:fillRect/>
          </a:stretch>
        </p:blipFill>
        <p:spPr>
          <a:xfrm>
            <a:off x="1" y="6372808"/>
            <a:ext cx="1122886" cy="485191"/>
          </a:xfrm>
          <a:prstGeom prst="rect">
            <a:avLst/>
          </a:prstGeom>
        </p:spPr>
      </p:pic>
    </p:spTree>
    <p:extLst>
      <p:ext uri="{BB962C8B-B14F-4D97-AF65-F5344CB8AC3E}">
        <p14:creationId xmlns:p14="http://schemas.microsoft.com/office/powerpoint/2010/main" val="184955714"/>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평가 계획 ① 사람의 지각 평가</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10522915" cy="365760"/>
          </a:xfrm>
          <a:prstGeom prst="rect">
            <a:avLst/>
          </a:prstGeom>
          <a:noFill/>
        </p:spPr>
        <p:txBody>
          <a:bodyPr wrap="square" anchor="t" lIns="45720" rIns="45720">
            <a:noAutofit/>
          </a:bodyPr>
          <a:lstStyle/>
          <a:p>
            <a:pPr eaLnBrk="0" latinLnBrk="0" algn="l">
              <a:spcAft>
                <a:spcPts val="400"/>
              </a:spcAft>
            </a:pPr>
            <a:r>
              <a:rPr sz="1600" b="0" lang="ko-KR" altLang="en-US">
                <a:solidFill>
                  <a:srgbClr val="000000"/>
                </a:solidFill>
                <a:latin typeface="나눔스퀘어 Bold"/>
                <a:ea typeface="나눔스퀘어 Bold"/>
              </a:rPr>
              <a:t>목표: 자동 진단(정렬 점수, owner 침범 0 등)이 사람에게도 의미 있게 보이는지 확인</a:t>
            </a:r>
          </a:p>
        </p:txBody>
      </p:sp>
      <p:graphicFrame>
        <p:nvGraphicFramePr>
          <p:cNvPr id="19" name="Table 18"/>
          <p:cNvGraphicFramePr>
            <a:graphicFrameLocks noGrp="1"/>
          </p:cNvGraphicFramePr>
          <p:nvPr/>
        </p:nvGraphicFramePr>
        <p:xfrm>
          <a:off x="830275" y="1965960"/>
          <a:ext cx="10515600" cy="3840480"/>
        </p:xfrm>
        <a:graphic>
          <a:graphicData uri="http://schemas.openxmlformats.org/drawingml/2006/table">
            <a:tbl>
              <a:tblPr firstRow="1" bandRow="0">
                <a:tableStyleId>{2D5ABB26-0587-4C30-8999-92F81FD0307C}</a:tableStyleId>
              </a:tblPr>
              <a:tblGrid>
                <a:gridCol w="2057400"/>
                <a:gridCol w="8458200"/>
              </a:tblGrid>
              <a:tr h="548640">
                <a:tc>
                  <a:txBody>
                    <a:bodyPr wrap="square"/>
                    <a:lstStyle/>
                    <a:p>
                      <a:pPr eaLnBrk="0" latinLnBrk="0" algn="l"/>
                      <a:r>
                        <a:rPr sz="1300" b="0" lang="ko-KR" altLang="en-US">
                          <a:solidFill>
                            <a:srgbClr val="000000"/>
                          </a:solidFill>
                          <a:latin typeface="나눔스퀘어 Bold"/>
                          <a:ea typeface="나눔스퀘어 Bold"/>
                        </a:rPr>
                        <a:t>항목</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300" b="0" lang="ko-KR" altLang="en-US">
                          <a:solidFill>
                            <a:srgbClr val="000000"/>
                          </a:solidFill>
                          <a:latin typeface="나눔스퀘어 Bold"/>
                          <a:ea typeface="나눔스퀘어 Bold"/>
                        </a:rPr>
                        <a:t>내용</a:t>
                      </a:r>
                    </a:p>
                  </a:txBody>
                  <a:tcPr marL="64008" marR="64008" marT="27432" marB="27432" anchor="ctr">
                    <a:lnL w="0">
                      <a:noFill/>
                    </a:lnL>
                    <a:lnR w="0">
                      <a:noFill/>
                    </a:lnR>
                    <a:lnT w="19050">
                      <a:solidFill>
                        <a:srgbClr val="000000"/>
                      </a:solidFill>
                    </a:lnT>
                    <a:lnB w="12700">
                      <a:solidFill>
                        <a:srgbClr val="000000"/>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비교 조건: 오디오</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정렬(E237) · +7초 이동 · 음악 무관 고정 schedule · onset만 쓰는 trigger · 정규화 없는 raw score</a:t>
                      </a:r>
                    </a:p>
                  </a:txBody>
                  <a:tcPr marL="64008" marR="64008" marT="27432" marB="27432" anchor="ctr">
                    <a:lnL w="0">
                      <a:noFill/>
                    </a:lnL>
                    <a:lnR w="0">
                      <a:noFill/>
                    </a:lnR>
                    <a:lnT w="0">
                      <a:noFill/>
                    </a:lnT>
                    <a:lnB w="6350">
                      <a:solidFill>
                        <a:srgbClr val="D9D9D9"/>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비교 조건: 공간</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MSR + 배타 owner · owner 제거 · triangle/binary mask · 전면 또는 box mask 합성</a:t>
                      </a:r>
                    </a:p>
                  </a:txBody>
                  <a:tcPr marL="64008" marR="64008" marT="27432" marB="27432" anchor="ctr">
                    <a:lnL w="0">
                      <a:noFill/>
                    </a:lnL>
                    <a:lnR w="0">
                      <a:noFill/>
                    </a:lnR>
                    <a:lnT w="0">
                      <a:noFill/>
                    </a:lnT>
                    <a:lnB w="6350">
                      <a:solidFill>
                        <a:srgbClr val="D9D9D9"/>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질문 (1–7점)</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음악–영상 연결, 부위 특이성, 물체 정체성, 구조 사건 가독성, 기괴함·artifact, 프로젝션 콘텐츠다움 (미적 선호는 따로)</a:t>
                      </a:r>
                    </a:p>
                  </a:txBody>
                  <a:tcPr marL="64008" marR="64008" marT="27432" marB="27432" anchor="ctr">
                    <a:lnL w="0">
                      <a:noFill/>
                    </a:lnL>
                    <a:lnR w="0">
                      <a:noFill/>
                    </a:lnR>
                    <a:lnT w="0">
                      <a:noFill/>
                    </a:lnT>
                    <a:lnB w="6350">
                      <a:solidFill>
                        <a:srgbClr val="D9D9D9"/>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설계</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within-subject, 조건명 숨김, 무작위 순서, A/B 쌍대 선호 + 이유, 같은 길이·에너지 budget의 다각도 3D 영상</a:t>
                      </a:r>
                    </a:p>
                  </a:txBody>
                  <a:tcPr marL="64008" marR="64008" marT="27432" marB="27432" anchor="ctr">
                    <a:lnL w="0">
                      <a:noFill/>
                    </a:lnL>
                    <a:lnR w="0">
                      <a:noFill/>
                    </a:lnR>
                    <a:lnT w="0">
                      <a:noFill/>
                    </a:lnT>
                    <a:lnB w="6350">
                      <a:solidFill>
                        <a:srgbClr val="D9D9D9"/>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인원·분석</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pilot 효과 크기로 N 결정 (기존 설계 최소 12명), Friedman → Wilcoxon signed-rank + Holm, 효과 크기 보고</a:t>
                      </a:r>
                    </a:p>
                  </a:txBody>
                  <a:tcPr marL="64008" marR="64008" marT="27432" marB="27432" anchor="ctr">
                    <a:lnL w="0">
                      <a:noFill/>
                    </a:lnL>
                    <a:lnR w="0">
                      <a:noFill/>
                    </a:lnR>
                    <a:lnT w="0">
                      <a:noFill/>
                    </a:lnT>
                    <a:lnB w="6350">
                      <a:solidFill>
                        <a:srgbClr val="D9D9D9"/>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준비 상태</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l"/>
                      <a:r>
                        <a:rPr sz="1300" b="0" lang="ko-KR" altLang="en-US">
                          <a:solidFill>
                            <a:srgbClr val="000000"/>
                          </a:solidFill>
                          <a:latin typeface="나눔스퀘어"/>
                          <a:ea typeface="나눔스퀘어"/>
                        </a:rPr>
                        <a:t>설계: E116·E155 작성(미실시) / 자극: E231 정렬·이동·무음 있음, 비교 조건 영상은 새로 제작</a:t>
                      </a:r>
                    </a:p>
                  </a:txBody>
                  <a:tcPr marL="64008" marR="64008" marT="27432" marB="27432" anchor="ctr">
                    <a:lnL w="0">
                      <a:noFill/>
                    </a:lnL>
                    <a:lnR w="0">
                      <a:noFill/>
                    </a:lnR>
                    <a:lnT w="0">
                      <a:noFill/>
                    </a:lnT>
                    <a:lnB w="19050">
                      <a:solidFill>
                        <a:srgbClr val="000000"/>
                      </a:solidFill>
                    </a:lnB>
                    <a:no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평가 계획 ② 저작 · 일반화 · 실물</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graphicFrame>
        <p:nvGraphicFramePr>
          <p:cNvPr id="18" name="Table 17"/>
          <p:cNvGraphicFramePr>
            <a:graphicFrameLocks noGrp="1"/>
          </p:cNvGraphicFramePr>
          <p:nvPr/>
        </p:nvGraphicFramePr>
        <p:xfrm>
          <a:off x="830275" y="1600200"/>
          <a:ext cx="10515600" cy="4206240"/>
        </p:xfrm>
        <a:graphic>
          <a:graphicData uri="http://schemas.openxmlformats.org/drawingml/2006/table">
            <a:tbl>
              <a:tblPr firstRow="1" bandRow="0">
                <a:tableStyleId>{2D5ABB26-0587-4C30-8999-92F81FD0307C}</a:tableStyleId>
              </a:tblPr>
              <a:tblGrid>
                <a:gridCol w="1554480"/>
                <a:gridCol w="3291840"/>
                <a:gridCol w="3246120"/>
                <a:gridCol w="2423160"/>
              </a:tblGrid>
              <a:tr h="841248">
                <a:tc>
                  <a:txBody>
                    <a:bodyPr wrap="square"/>
                    <a:lstStyle/>
                    <a:p>
                      <a:pPr eaLnBrk="0" latinLnBrk="0" algn="l"/>
                      <a:r>
                        <a:rPr sz="1250" b="0" lang="ko-KR" altLang="en-US">
                          <a:solidFill>
                            <a:srgbClr val="000000"/>
                          </a:solidFill>
                          <a:latin typeface="나눔스퀘어 Bold"/>
                          <a:ea typeface="나눔스퀘어 Bold"/>
                        </a:rPr>
                        <a:t>평가</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250" b="0" lang="ko-KR" altLang="en-US">
                          <a:solidFill>
                            <a:srgbClr val="000000"/>
                          </a:solidFill>
                          <a:latin typeface="나눔스퀘어 Bold"/>
                          <a:ea typeface="나눔스퀘어 Bold"/>
                        </a:rPr>
                        <a:t>비교</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250" b="0" lang="ko-KR" altLang="en-US">
                          <a:solidFill>
                            <a:srgbClr val="000000"/>
                          </a:solidFill>
                          <a:latin typeface="나눔스퀘어 Bold"/>
                          <a:ea typeface="나눔스퀘어 Bold"/>
                        </a:rPr>
                        <a:t>측정</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250" b="0" lang="ko-KR" altLang="en-US">
                          <a:solidFill>
                            <a:srgbClr val="000000"/>
                          </a:solidFill>
                          <a:latin typeface="나눔스퀘어 Bold"/>
                          <a:ea typeface="나눔스퀘어 Bold"/>
                        </a:rPr>
                        <a:t>전제 · 상태</a:t>
                      </a:r>
                    </a:p>
                  </a:txBody>
                  <a:tcPr marL="64008" marR="64008" marT="27432" marB="27432" anchor="ctr">
                    <a:lnL w="0">
                      <a:noFill/>
                    </a:lnL>
                    <a:lnR w="0">
                      <a:noFill/>
                    </a:lnR>
                    <a:lnT w="19050">
                      <a:solidFill>
                        <a:srgbClr val="000000"/>
                      </a:solidFill>
                    </a:lnT>
                    <a:lnB w="12700">
                      <a:solidFill>
                        <a:srgbClr val="000000"/>
                      </a:solidFill>
                    </a:lnB>
                    <a:noFill/>
                  </a:tcPr>
                </a:tc>
              </a:tr>
              <a:tr h="841248">
                <a:tc>
                  <a:txBody>
                    <a:bodyPr wrap="square"/>
                    <a:lstStyle/>
                    <a:p>
                      <a:pPr eaLnBrk="0" latinLnBrk="0" algn="l"/>
                      <a:r>
                        <a:rPr sz="1250" b="0" lang="ko-KR" altLang="en-US">
                          <a:solidFill>
                            <a:srgbClr val="000000"/>
                          </a:solidFill>
                          <a:latin typeface="나눔스퀘어 Bold"/>
                          <a:ea typeface="나눔스퀘어 Bold"/>
                        </a:rPr>
                        <a:t>저작 유용성</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수동 polygon/UV mask · hard mask · 제안 MSRG 편집기 (Latin square)</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완료 시간, 클릭·병합·분할·재생성 수, 수정 시간, 의도 일치, NASA-TLX, 조작감</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편집기 구현됨 (자유 분할 미구현), 참여자 모집</a:t>
                      </a:r>
                    </a:p>
                  </a:txBody>
                  <a:tcPr marL="64008" marR="64008" marT="27432" marB="27432" anchor="ctr">
                    <a:lnL w="0">
                      <a:noFill/>
                    </a:lnL>
                    <a:lnR w="0">
                      <a:noFill/>
                    </a:lnR>
                    <a:lnT w="0">
                      <a:noFill/>
                    </a:lnT>
                    <a:lnB w="6350">
                      <a:solidFill>
                        <a:srgbClr val="D9D9D9"/>
                      </a:solidFill>
                    </a:lnB>
                    <a:noFill/>
                  </a:tcPr>
                </a:tc>
              </a:tr>
              <a:tr h="841248">
                <a:tc>
                  <a:txBody>
                    <a:bodyPr wrap="square"/>
                    <a:lstStyle/>
                    <a:p>
                      <a:pPr eaLnBrk="0" latinLnBrk="0" algn="l"/>
                      <a:r>
                        <a:rPr sz="1250" b="0" lang="ko-KR" altLang="en-US">
                          <a:solidFill>
                            <a:srgbClr val="000000"/>
                          </a:solidFill>
                          <a:latin typeface="나눔스퀘어 Bold"/>
                          <a:ea typeface="나눔스퀘어 Bold"/>
                        </a:rPr>
                        <a:t>생성 일반화</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음악 3곡(리듬·지속음·구조 변화) × 메시 3종 이상(얼굴형·비대칭 유기체·비생물 기하형)</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사건 선택 적합성, owner 침범, seam, 다각도 가독성, 성공·실패 모두 보고</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현재 생성은 TheRock만</a:t>
                      </a:r>
                    </a:p>
                  </a:txBody>
                  <a:tcPr marL="64008" marR="64008" marT="27432" marB="27432" anchor="ctr">
                    <a:lnL w="0">
                      <a:noFill/>
                    </a:lnL>
                    <a:lnR w="0">
                      <a:noFill/>
                    </a:lnR>
                    <a:lnT w="0">
                      <a:noFill/>
                    </a:lnT>
                    <a:lnB w="6350">
                      <a:solidFill>
                        <a:srgbClr val="D9D9D9"/>
                      </a:solidFill>
                    </a:lnB>
                    <a:noFill/>
                  </a:tcPr>
                </a:tc>
              </a:tr>
              <a:tr h="841248">
                <a:tc>
                  <a:txBody>
                    <a:bodyPr wrap="square"/>
                    <a:lstStyle/>
                    <a:p>
                      <a:pPr eaLnBrk="0" latinLnBrk="0" algn="l"/>
                      <a:r>
                        <a:rPr sz="1250" b="0" lang="ko-KR" altLang="en-US">
                          <a:solidFill>
                            <a:srgbClr val="000000"/>
                          </a:solidFill>
                          <a:latin typeface="나눔스퀘어 Bold"/>
                          <a:ea typeface="나눔스퀘어 Bold"/>
                        </a:rPr>
                        <a:t>MSR 정확도</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PartField-only · geometry-only · semantic-only · fused MSR, 6–8 메시</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recall@IoU, boundary F-score, 시점 간 일관성, 수락·수정·거부 비율</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작가 2–3명이 기준 영역 작성</a:t>
                      </a:r>
                    </a:p>
                  </a:txBody>
                  <a:tcPr marL="64008" marR="64008" marT="27432" marB="27432" anchor="ctr">
                    <a:lnL w="0">
                      <a:noFill/>
                    </a:lnL>
                    <a:lnR w="0">
                      <a:noFill/>
                    </a:lnR>
                    <a:lnT w="0">
                      <a:noFill/>
                    </a:lnT>
                    <a:lnB w="6350">
                      <a:solidFill>
                        <a:srgbClr val="D9D9D9"/>
                      </a:solidFill>
                    </a:lnB>
                    <a:noFill/>
                  </a:tcPr>
                </a:tc>
              </a:tr>
              <a:tr h="841248">
                <a:tc>
                  <a:txBody>
                    <a:bodyPr wrap="square"/>
                    <a:lstStyle/>
                    <a:p>
                      <a:pPr eaLnBrk="0" latinLnBrk="0" algn="l"/>
                      <a:r>
                        <a:rPr sz="1250" b="0" lang="ko-KR" altLang="en-US">
                          <a:solidFill>
                            <a:srgbClr val="000000"/>
                          </a:solidFill>
                          <a:latin typeface="나눔스퀘어 Bold"/>
                          <a:ea typeface="나눔스퀘어 Bold"/>
                        </a:rPr>
                        <a:t>실물 투사</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l"/>
                      <a:r>
                        <a:rPr sz="1250" b="0" lang="ko-KR" altLang="en-US">
                          <a:solidFill>
                            <a:srgbClr val="000000"/>
                          </a:solidFill>
                          <a:latin typeface="나눔스퀘어"/>
                          <a:ea typeface="나눔스퀘어"/>
                        </a:rPr>
                        <a:t>보정 점 6 · 12 · 18개, 정면·사선·후면</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l"/>
                      <a:r>
                        <a:rPr sz="1250" b="0" lang="ko-KR" altLang="en-US">
                          <a:solidFill>
                            <a:srgbClr val="000000"/>
                          </a:solidFill>
                          <a:latin typeface="나눔스퀘어"/>
                          <a:ea typeface="나눔스퀘어"/>
                        </a:rPr>
                        <a:t>재투영 RMSE, 보정 외 지점 mm 오차, 밝기·색 편차, 가림</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l"/>
                      <a:r>
                        <a:rPr sz="1250" b="0" lang="ko-KR" altLang="en-US">
                          <a:solidFill>
                            <a:srgbClr val="000000"/>
                          </a:solidFill>
                          <a:latin typeface="나눔스퀘어"/>
                          <a:ea typeface="나눔스퀘어"/>
                        </a:rPr>
                        <a:t>Unity 재생 검증 완료 (E238), 장비 측정 예정</a:t>
                      </a:r>
                    </a:p>
                  </a:txBody>
                  <a:tcPr marL="64008" marR="64008" marT="27432" marB="27432" anchor="ctr">
                    <a:lnL w="0">
                      <a:noFill/>
                    </a:lnL>
                    <a:lnR w="0">
                      <a:noFill/>
                    </a:lnR>
                    <a:lnT w="0">
                      <a:noFill/>
                    </a:lnT>
                    <a:lnB w="19050">
                      <a:solidFill>
                        <a:srgbClr val="000000"/>
                      </a:solidFill>
                    </a:lnB>
                    <a:noFill/>
                  </a:tcPr>
                </a:tc>
              </a:tr>
            </a:tbl>
          </a:graphicData>
        </a:graphic>
      </p:graphicFrame>
      <p:sp>
        <p:nvSpPr>
          <p:cNvPr id="19" name="TextBox 18"/>
          <p:cNvSpPr txBox="1"/>
          <p:nvPr/>
        </p:nvSpPr>
        <p:spPr>
          <a:xfrm>
            <a:off x="830275" y="5943600"/>
            <a:ext cx="10522915" cy="274320"/>
          </a:xfrm>
          <a:prstGeom prst="rect">
            <a:avLst/>
          </a:prstGeom>
          <a:noFill/>
        </p:spPr>
        <p:txBody>
          <a:bodyPr wrap="square" anchor="t" lIns="45720" rIns="45720">
            <a:noAutofit/>
          </a:bodyPr>
          <a:lstStyle/>
          <a:p>
            <a:pPr eaLnBrk="0" latinLnBrk="0" algn="l">
              <a:spcAft>
                <a:spcPts val="400"/>
              </a:spcAft>
            </a:pPr>
            <a:r>
              <a:rPr sz="1200" b="0" lang="ko-KR" altLang="en-US">
                <a:solidFill>
                  <a:srgbClr val="595959"/>
                </a:solidFill>
                <a:latin typeface="나눔스퀘어"/>
                <a:ea typeface="나눔스퀘어"/>
              </a:rPr>
              <a:t>진행 순서: 지각 평가 pilot → 비교 자극 제작 → 본 평가 → 일반화 → 저작 평가 (일정은 한계와 향후 계획 장)</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3F2B-4F02-490A-9509-F1B5143A85F1}"/>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연구의 연장선: 실물 투사</a:t>
            </a:r>
          </a:p>
        </p:txBody>
      </p:sp>
      <p:sp>
        <p:nvSpPr>
          <p:cNvPr id="16" name="직선 연결선 14">
            <a:extLst>
              <a:ext uri="{FF2B5EF4-FFF2-40B4-BE49-F238E27FC236}">
                <a16:creationId xmlns:a16="http://schemas.microsoft.com/office/drawing/2014/main" id="{2E9BA4C9-4C4B-4E4B-85AA-0A0821AB1B1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C0F3AC4B-5780-4709-8FDA-D3914B086195}"/>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Rounded Rectangle 17">
            <a:extLst>
              <a:ext uri="{FF2B5EF4-FFF2-40B4-BE49-F238E27FC236}">
                <a16:creationId xmlns:a16="http://schemas.microsoft.com/office/drawing/2014/main" id="{9E73EB8C-1BD8-42FF-A62B-DE285281A6B4}"/>
              </a:ext>
            </a:extLst>
          </p:cNvPr>
          <p:cNvSpPr>
            <a:spLocks noGrp="1"/>
          </p:cNvSpPr>
          <p:nvPr/>
        </p:nvSpPr>
        <p:spPr>
          <a:xfrm>
            <a:off x="830275" y="1600200"/>
            <a:ext cx="3291840" cy="2697480"/>
          </a:xfrm>
          <a:prstGeom prst="roundRect">
            <a:avLst>
              <a:gd name="adj" fmla="val 12000"/>
            </a:avLst>
          </a:prstGeom>
          <a:solidFill>
            <a:srgbClr val="FFFFFF"/>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anchor="t">
            <a:noAutofit/>
          </a:bodyPr>
          <a:lstStyle/>
          <a:p>
            <a:pPr algn="l" eaLnBrk="0" latinLnBrk="0">
              <a:spcAft>
                <a:spcPts val="200"/>
              </a:spcAft>
              <a:buNone/>
            </a:pPr>
            <a:r>
              <a:rPr sz="1200" b="0" lang="ko-KR" altLang="en-US">
                <a:solidFill>
                  <a:srgbClr val="595959"/>
                </a:solidFill>
                <a:latin typeface="나눔스퀘어"/>
                <a:ea typeface="나눔스퀘어"/>
                <a:cs typeface="나눔스퀘어"/>
              </a:rPr>
              <a:t>이전 연구</a:t>
            </a:r>
          </a:p>
          <a:p>
            <a:pPr algn="l" eaLnBrk="0" latinLnBrk="0">
              <a:spcAft>
                <a:spcPts val="800"/>
              </a:spcAft>
              <a:buNone/>
            </a:pPr>
            <a:r>
              <a:rPr sz="1600" b="0" lang="ko-KR" altLang="en-US">
                <a:solidFill>
                  <a:srgbClr val="000000"/>
                </a:solidFill>
                <a:latin typeface="나눔스퀘어 Bold"/>
                <a:ea typeface="나눔스퀘어 Bold"/>
                <a:cs typeface="나눔스퀘어 Bold"/>
              </a:rPr>
              <a:t>Mesh Saliency 기반 정점 추천</a:t>
            </a:r>
          </a:p>
          <a:p>
            <a:pPr marL="283464" indent="-283464" algn="l" eaLnBrk="0" latinLnBrk="0">
              <a:spcAft>
                <a:spcPts val="400"/>
              </a:spcAft>
              <a:buFont typeface="Arial"/>
              <a:buChar char="•"/>
            </a:pPr>
            <a:r>
              <a:rPr sz="1300" b="0" lang="ko-KR" altLang="en-US">
                <a:solidFill>
                  <a:srgbClr val="000000"/>
                </a:solidFill>
                <a:latin typeface="나눔스퀘어"/>
                <a:ea typeface="나눔스퀘어"/>
                <a:cs typeface="나눔스퀘어"/>
              </a:rPr>
              <a:t>saliency 4종 비교 + Multiplicative FPS</a:t>
            </a:r>
          </a:p>
          <a:p>
            <a:pPr marL="283464" indent="-283464" algn="l" eaLnBrk="0" latinLnBrk="0">
              <a:spcAft>
                <a:spcPts val="400"/>
              </a:spcAft>
              <a:buFont typeface="Arial"/>
              <a:buChar char="•"/>
            </a:pPr>
            <a:r>
              <a:rPr sz="1300" b="0" lang="ko-KR" altLang="en-US">
                <a:solidFill>
                  <a:srgbClr val="000000"/>
                </a:solidFill>
                <a:latin typeface="나눔스퀘어"/>
                <a:ea typeface="나눔스퀘어"/>
                <a:cs typeface="나눔스퀘어"/>
              </a:rPr>
              <a:t>사용자 16명: 텍스처+형상 방법이 추천도 5.12로 최고</a:t>
            </a:r>
          </a:p>
          <a:p>
            <a:pPr marL="283464" indent="-283464" algn="l" eaLnBrk="0" latinLnBrk="0">
              <a:spcAft>
                <a:spcPts val="400"/>
              </a:spcAft>
              <a:buFont typeface="Arial"/>
              <a:buChar char="•"/>
            </a:pPr>
            <a:r>
              <a:rPr sz="1300" b="0" lang="ko-KR" altLang="en-US">
                <a:solidFill>
                  <a:srgbClr val="000000"/>
                </a:solidFill>
                <a:latin typeface="나눔스퀘어"/>
                <a:ea typeface="나눔스퀘어"/>
                <a:cs typeface="나눔스퀘어"/>
              </a:rPr>
              <a:t>남긴 과제: DLT 적용과 재투영 오차</a:t>
            </a:r>
          </a:p>
        </p:txBody>
      </p:sp>
      <p:sp>
        <p:nvSpPr>
          <p:cNvPr id="19" name="Connector 18">
            <a:extLst>
              <a:ext uri="{FF2B5EF4-FFF2-40B4-BE49-F238E27FC236}">
                <a16:creationId xmlns:a16="http://schemas.microsoft.com/office/drawing/2014/main" id="{BFC364C9-5587-4438-B8EA-2EFA3916CFCA}"/>
              </a:ext>
            </a:extLst>
          </p:cNvPr>
          <p:cNvSpPr>
            <a:spLocks noGrp="1"/>
          </p:cNvSpPr>
          <p:nvPr/>
        </p:nvSpPr>
        <p:spPr>
          <a:xfrm>
            <a:off x="4149547" y="2948940"/>
            <a:ext cx="265176"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sp>
      <p:sp>
        <p:nvSpPr>
          <p:cNvPr id="20" name="Rounded Rectangle 19">
            <a:extLst>
              <a:ext uri="{FF2B5EF4-FFF2-40B4-BE49-F238E27FC236}">
                <a16:creationId xmlns:a16="http://schemas.microsoft.com/office/drawing/2014/main" id="{B886BD2B-8FC5-4546-82D0-0482790872F7}"/>
              </a:ext>
            </a:extLst>
          </p:cNvPr>
          <p:cNvSpPr>
            <a:spLocks noGrp="1"/>
          </p:cNvSpPr>
          <p:nvPr/>
        </p:nvSpPr>
        <p:spPr>
          <a:xfrm>
            <a:off x="4442155" y="1600200"/>
            <a:ext cx="3291840" cy="2697480"/>
          </a:xfrm>
          <a:prstGeom prst="roundRect">
            <a:avLst>
              <a:gd name="adj" fmla="val 12000"/>
            </a:avLst>
          </a:prstGeom>
          <a:solidFill>
            <a:srgbClr val="FFFFFF"/>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anchor="t">
            <a:noAutofit/>
          </a:bodyPr>
          <a:lstStyle/>
          <a:p>
            <a:pPr algn="l" eaLnBrk="0" latinLnBrk="0">
              <a:spcAft>
                <a:spcPts val="200"/>
              </a:spcAft>
              <a:buNone/>
            </a:pPr>
            <a:r>
              <a:rPr sz="1200" b="0" lang="ko-KR" altLang="en-US">
                <a:solidFill>
                  <a:srgbClr val="595959"/>
                </a:solidFill>
                <a:latin typeface="나눔스퀘어"/>
                <a:ea typeface="나눔스퀘어"/>
                <a:cs typeface="나눔스퀘어"/>
              </a:rPr>
              <a:t>확장</a:t>
            </a:r>
          </a:p>
          <a:p>
            <a:pPr algn="l" eaLnBrk="0" latinLnBrk="0">
              <a:spcAft>
                <a:spcPts val="800"/>
              </a:spcAft>
              <a:buNone/>
            </a:pPr>
            <a:r>
              <a:rPr sz="1600" b="0" lang="ko-KR" altLang="en-US">
                <a:solidFill>
                  <a:srgbClr val="000000"/>
                </a:solidFill>
                <a:latin typeface="나눔스퀘어 Bold"/>
                <a:ea typeface="나눔스퀘어 Bold"/>
                <a:cs typeface="나눔스퀘어 Bold"/>
              </a:rPr>
              <a:t>카메라 없는 DLT 보정 도구</a:t>
            </a:r>
          </a:p>
          <a:p>
            <a:pPr marL="283464" indent="-283464" algn="l" eaLnBrk="0" latinLnBrk="0">
              <a:spcAft>
                <a:spcPts val="400"/>
              </a:spcAft>
              <a:buFont typeface="Arial"/>
              <a:buChar char="•"/>
            </a:pPr>
            <a:r>
              <a:rPr sz="1300" b="0" lang="ko-KR" altLang="en-US">
                <a:solidFill>
                  <a:srgbClr val="000000"/>
                </a:solidFill>
                <a:latin typeface="나눔스퀘어"/>
                <a:ea typeface="나눔스퀘어"/>
                <a:cs typeface="나눔스퀘어"/>
              </a:rPr>
              <a:t>추천 정점을 대응점으로 바로 사용 (Portalés et al., 2020)</a:t>
            </a:r>
          </a:p>
          <a:p>
            <a:pPr marL="283464" indent="-283464" algn="l" eaLnBrk="0" latinLnBrk="0">
              <a:spcAft>
                <a:spcPts val="400"/>
              </a:spcAft>
              <a:buFont typeface="Arial"/>
              <a:buChar char="•"/>
            </a:pPr>
            <a:r>
              <a:rPr sz="1300" b="0" lang="ko-KR" altLang="en-US">
                <a:solidFill>
                  <a:srgbClr val="000000"/>
                </a:solidFill>
                <a:latin typeface="나눔스퀘어"/>
                <a:ea typeface="나눔스퀘어"/>
                <a:cs typeface="나눔스퀘어"/>
              </a:rPr>
              <a:t>가상 프로젝터, 손떨림 ±1px 재투영 오차</a:t>
            </a:r>
          </a:p>
          <a:p>
            <a:pPr marL="283464" indent="-283464" algn="l" eaLnBrk="0" latinLnBrk="0">
              <a:spcAft>
                <a:spcPts val="400"/>
              </a:spcAft>
              <a:buFont typeface="Arial"/>
              <a:buChar char="•"/>
            </a:pPr>
            <a:r>
              <a:rPr sz="1300" b="0" lang="ko-KR" altLang="en-US">
                <a:solidFill>
                  <a:srgbClr val="000000"/>
                </a:solidFill>
                <a:latin typeface="나눔스퀘어"/>
                <a:ea typeface="나눔스퀘어"/>
                <a:cs typeface="나눔스퀘어"/>
              </a:rPr>
              <a:t>6점 0.99px · 10점 0.71px · 20점 0.46px</a:t>
            </a:r>
          </a:p>
        </p:txBody>
      </p:sp>
      <p:sp>
        <p:nvSpPr>
          <p:cNvPr id="21" name="Connector 20">
            <a:extLst>
              <a:ext uri="{FF2B5EF4-FFF2-40B4-BE49-F238E27FC236}">
                <a16:creationId xmlns:a16="http://schemas.microsoft.com/office/drawing/2014/main" id="{5D9A5364-08A0-4E86-B5CB-DD72E27A57A0}"/>
              </a:ext>
            </a:extLst>
          </p:cNvPr>
          <p:cNvSpPr>
            <a:spLocks noGrp="1"/>
          </p:cNvSpPr>
          <p:nvPr/>
        </p:nvSpPr>
        <p:spPr>
          <a:xfrm>
            <a:off x="7761427" y="2948940"/>
            <a:ext cx="265176"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sp>
      <p:sp>
        <p:nvSpPr>
          <p:cNvPr id="22" name="Rounded Rectangle 21">
            <a:extLst>
              <a:ext uri="{FF2B5EF4-FFF2-40B4-BE49-F238E27FC236}">
                <a16:creationId xmlns:a16="http://schemas.microsoft.com/office/drawing/2014/main" id="{E63D8BB6-B633-44F4-9564-550CC50489CF}"/>
              </a:ext>
            </a:extLst>
          </p:cNvPr>
          <p:cNvSpPr>
            <a:spLocks noGrp="1"/>
          </p:cNvSpPr>
          <p:nvPr/>
        </p:nvSpPr>
        <p:spPr>
          <a:xfrm>
            <a:off x="8054035" y="1600200"/>
            <a:ext cx="3291840" cy="2697480"/>
          </a:xfrm>
          <a:prstGeom prst="roundRect">
            <a:avLst>
              <a:gd name="adj" fmla="val 12000"/>
            </a:avLst>
          </a:prstGeom>
          <a:solidFill>
            <a:srgbClr val="000000"/>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anchor="t">
            <a:noAutofit/>
          </a:bodyPr>
          <a:lstStyle/>
          <a:p>
            <a:pPr algn="l" eaLnBrk="0" latinLnBrk="0">
              <a:spcAft>
                <a:spcPts val="200"/>
              </a:spcAft>
              <a:buNone/>
            </a:pPr>
            <a:r>
              <a:rPr sz="1200" b="0" lang="ko-KR" altLang="en-US">
                <a:solidFill>
                  <a:srgbClr val="A6A6A6"/>
                </a:solidFill>
                <a:latin typeface="나눔스퀘어"/>
                <a:ea typeface="나눔스퀘어"/>
                <a:cs typeface="나눔스퀘어"/>
              </a:rPr>
              <a:t>본 연구와의 연결</a:t>
            </a:r>
          </a:p>
          <a:p>
            <a:pPr algn="l" eaLnBrk="0" latinLnBrk="0">
              <a:spcAft>
                <a:spcPts val="800"/>
              </a:spcAft>
              <a:buNone/>
            </a:pPr>
            <a:r>
              <a:rPr sz="1600" b="0" lang="ko-KR" altLang="en-US">
                <a:solidFill>
                  <a:srgbClr val="FFFFFF"/>
                </a:solidFill>
                <a:latin typeface="나눔스퀘어 Bold"/>
                <a:ea typeface="나눔스퀘어 Bold"/>
                <a:cs typeface="나눔스퀘어 Bold"/>
              </a:rPr>
              <a:t>canonical UV → 실물</a:t>
            </a:r>
          </a:p>
          <a:p>
            <a:pPr marL="283464" indent="-283464" algn="l" eaLnBrk="0" latinLnBrk="0">
              <a:spcAft>
                <a:spcPts val="400"/>
              </a:spcAft>
              <a:buFont typeface="Arial"/>
              <a:buChar char="•"/>
            </a:pPr>
            <a:r>
              <a:rPr sz="1300" b="0" lang="ko-KR" altLang="en-US">
                <a:solidFill>
                  <a:srgbClr val="FFFFFF"/>
                </a:solidFill>
                <a:latin typeface="나눔스퀘어"/>
                <a:ea typeface="나눔스퀘어"/>
                <a:cs typeface="나눔스퀘어"/>
              </a:rPr>
              <a:t>콘텐츠가 UV 공간에 있어 프로젝터가 바뀌어도 보정(파라미터 11개)만 다시</a:t>
            </a:r>
          </a:p>
          <a:p>
            <a:pPr marL="283464" indent="-283464" algn="l" eaLnBrk="0" latinLnBrk="0">
              <a:spcAft>
                <a:spcPts val="400"/>
              </a:spcAft>
              <a:buFont typeface="Arial"/>
              <a:buChar char="•"/>
            </a:pPr>
            <a:r>
              <a:rPr sz="1300" b="0" lang="ko-KR" altLang="en-US">
                <a:solidFill>
                  <a:srgbClr val="FFFFFF"/>
                </a:solidFill>
                <a:latin typeface="나눔스퀘어"/>
                <a:ea typeface="나눔스퀘어"/>
                <a:cs typeface="나눔스퀘어"/>
              </a:rPr>
              <a:t>같은 TheRock 메시 사용</a:t>
            </a:r>
          </a:p>
        </p:txBody>
      </p:sp>
      <p:sp>
        <p:nvSpPr>
          <p:cNvPr id="23" name="그림 자리: Unity 보정 화면 캡처 (추천점과 마커)">
            <a:extLst>
              <a:ext uri="{FF2B5EF4-FFF2-40B4-BE49-F238E27FC236}">
                <a16:creationId xmlns:a16="http://schemas.microsoft.com/office/drawing/2014/main" id="{C3A267DF-A3AB-474B-92CC-581D126F1EB3}"/>
              </a:ext>
            </a:extLst>
          </p:cNvPr>
          <p:cNvSpPr>
            <a:spLocks noGrp="1"/>
          </p:cNvSpPr>
          <p:nvPr/>
        </p:nvSpPr>
        <p:spPr>
          <a:xfrm>
            <a:off x="830275" y="4480560"/>
            <a:ext cx="6309360" cy="1600200"/>
          </a:xfrm>
          <a:prstGeom prst="roundRect">
            <a:avLst>
              <a:gd name="adj" fmla="val 2000"/>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100" b="0" lang="ko-KR" altLang="en-US">
                <a:solidFill>
                  <a:srgbClr val="595959"/>
                </a:solidFill>
                <a:latin typeface="나눔스퀘어 Bold"/>
                <a:ea typeface="나눔스퀘어 Bold"/>
                <a:cs typeface="나눔스퀘어 Bold"/>
              </a:rPr>
              <a:t>[그림]</a:t>
            </a:r>
          </a:p>
          <a:p>
            <a:pPr algn="ctr" eaLnBrk="0" latinLnBrk="0">
              <a:spcAft>
                <a:spcPts val="200"/>
              </a:spcAft>
              <a:buNone/>
            </a:pPr>
            <a:r>
              <a:rPr sz="1100" b="0" lang="ko-KR" altLang="en-US">
                <a:solidFill>
                  <a:srgbClr val="595959"/>
                </a:solidFill>
                <a:latin typeface="나눔스퀘어"/>
                <a:ea typeface="나눔스퀘어"/>
                <a:cs typeface="나눔스퀘어"/>
              </a:rPr>
              <a:t>Unity 보정 화면 캡처 (추천점과 마커)</a:t>
            </a:r>
          </a:p>
        </p:txBody>
      </p:sp>
      <p:sp>
        <p:nvSpPr>
          <p:cNvPr id="24" name="TextBox 23">
            <a:extLst>
              <a:ext uri="{FF2B5EF4-FFF2-40B4-BE49-F238E27FC236}">
                <a16:creationId xmlns:a16="http://schemas.microsoft.com/office/drawing/2014/main" id="{3AECB2FD-4849-43B3-8F68-54B285F15B8B}"/>
              </a:ext>
            </a:extLst>
          </p:cNvPr>
          <p:cNvSpPr>
            <a:spLocks noGrp="1"/>
          </p:cNvSpPr>
          <p:nvPr/>
        </p:nvSpPr>
        <p:spPr>
          <a:xfrm>
            <a:off x="7406640" y="4526280"/>
            <a:ext cx="3931920" cy="1463040"/>
          </a:xfrm>
          <a:prstGeom prst="rect">
            <a:avLst/>
          </a:prstGeom>
          <a:noFill/>
        </p:spPr>
        <p:txBody>
          <a:bodyPr wrap="square" lIns="45720" rIns="45720" anchor="t">
            <a:noAutofit/>
          </a:bodyPr>
          <a:lstStyle/>
          <a:p>
            <a:pPr algn="l" eaLnBrk="0" latinLnBrk="0">
              <a:spcAft>
                <a:spcPts val="600"/>
              </a:spcAft>
              <a:buNone/>
            </a:pPr>
            <a:r>
              <a:rPr sz="1600" b="0" lang="ko-KR" altLang="en-US">
                <a:solidFill>
                  <a:srgbClr val="000000"/>
                </a:solidFill>
                <a:latin typeface="나눔스퀘어 Bold"/>
                <a:ea typeface="나눔스퀘어 Bold"/>
                <a:cs typeface="나눔스퀘어 Bold"/>
              </a:rPr>
              <a:t>실물 프로젝터 시험 예정</a:t>
            </a:r>
          </a:p>
          <a:p>
            <a:pPr algn="l" eaLnBrk="0" latinLnBrk="0">
              <a:spcAft>
                <a:spcPts val="400"/>
              </a:spcAft>
              <a:buNone/>
            </a:pPr>
            <a:r>
              <a:rPr sz="1300" b="0" lang="ko-KR" altLang="en-US">
                <a:solidFill>
                  <a:srgbClr val="595959"/>
                </a:solidFill>
                <a:latin typeface="나눔스퀘어"/>
                <a:ea typeface="나눔스퀘어"/>
                <a:cs typeface="나눔스퀘어"/>
              </a:rPr>
              <a:t>E237 영상을 Unity 메시에 적용해 재생 검증(E238). 렌즈 왜곡, 밝기 보정은 범위 밖</a:t>
            </a:r>
          </a:p>
        </p:txBody>
      </p:sp>
    </p:spTree>
    <p:extLst>
      <p:ext uri="{BB962C8B-B14F-4D97-AF65-F5344CB8AC3E}">
        <p14:creationId xmlns:p14="http://schemas.microsoft.com/office/powerpoint/2010/main" val="583657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AAA44-72B3-4D31-BC9F-CE720CD7CA45}"/>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한계점과 향후 계획</a:t>
            </a:r>
          </a:p>
        </p:txBody>
      </p:sp>
      <p:sp>
        <p:nvSpPr>
          <p:cNvPr id="16" name="직선 연결선 14">
            <a:extLst>
              <a:ext uri="{FF2B5EF4-FFF2-40B4-BE49-F238E27FC236}">
                <a16:creationId xmlns:a16="http://schemas.microsoft.com/office/drawing/2014/main" id="{CE7C716C-61A7-4388-9AAE-B2AE3C42BD3F}"/>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855B12F9-3D72-4625-8E9B-5559F9B37B2F}"/>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graphicFrame>
        <p:nvGraphicFramePr>
          <p:cNvPr id="24" name="Table 18"/>
          <p:cNvGraphicFramePr/>
          <p:nvPr/>
        </p:nvGraphicFramePr>
        <p:xfrm>
          <a:off x="4846320" y="1600200"/>
          <a:ext cx="6492240" cy="4279392"/>
        </p:xfrm>
        <a:graphic>
          <a:graphicData uri="http://schemas.openxmlformats.org/drawingml/2006/table">
            <a:tbl>
              <a:tblPr firstRow="1">
                <a:tableStyleId>{2D5ABB26-0587-4C30-8999-92F81FD0307C}</a:tableStyleId>
              </a:tblPr>
              <a:tblGrid>
                <a:gridCol w="7315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713232">
                <a:tc>
                  <a:txBody>
                    <a:bodyPr/>
                    <a:lstStyle/>
                    <a:p>
                      <a:pPr algn="ctr" eaLnBrk="0" latinLnBrk="0">
                        <a:buNone/>
                      </a:pPr>
                      <a:r>
                        <a:rPr sz="1400" b="0" lang="ko-KR" altLang="en-US">
                          <a:solidFill>
                            <a:srgbClr val="000000"/>
                          </a:solidFill>
                          <a:latin typeface="나눔스퀘어 Bold"/>
                          <a:ea typeface="나눔스퀘어 Bold"/>
                          <a:cs typeface="나눔스퀘어 Bold"/>
                        </a:rPr>
                        <a:t>순서</a:t>
                      </a:r>
                    </a:p>
                  </a:txBody>
                  <a:tcPr marL="73152" marR="73152" marT="27432" marB="27432" anchor="ctr">
                    <a:lnL w="0">
                      <a:noFill/>
                    </a:lnL>
                    <a:lnR w="0">
                      <a:noFill/>
                    </a:lnR>
                    <a:lnT w="19050">
                      <a:solidFill>
                        <a:srgbClr val="000000"/>
                      </a:solidFill>
                    </a:lnT>
                    <a:lnB w="12700">
                      <a:solidFill>
                        <a:srgbClr val="000000"/>
                      </a:solidFill>
                    </a:lnB>
                    <a:noFill/>
                  </a:tcPr>
                </a:tc>
                <a:tc>
                  <a:txBody>
                    <a:bodyPr/>
                    <a:lstStyle/>
                    <a:p>
                      <a:pPr algn="l" eaLnBrk="0" latinLnBrk="0">
                        <a:buNone/>
                      </a:pPr>
                      <a:r>
                        <a:rPr sz="1400" b="0" lang="ko-KR" altLang="en-US">
                          <a:solidFill>
                            <a:srgbClr val="000000"/>
                          </a:solidFill>
                          <a:latin typeface="나눔스퀘어 Bold"/>
                          <a:ea typeface="나눔스퀘어 Bold"/>
                          <a:cs typeface="나눔스퀘어 Bold"/>
                        </a:rPr>
                        <a:t>향후 계획</a:t>
                      </a:r>
                    </a:p>
                  </a:txBody>
                  <a:tcPr marL="73152" marR="73152" marT="27432" marB="27432" anchor="ctr">
                    <a:lnL w="0">
                      <a:noFill/>
                    </a:lnL>
                    <a:lnR w="0">
                      <a:noFill/>
                    </a:lnR>
                    <a:lnT w="19050">
                      <a:solidFill>
                        <a:srgbClr val="000000"/>
                      </a:solidFill>
                    </a:lnT>
                    <a:lnB w="12700">
                      <a:solidFill>
                        <a:srgbClr val="000000"/>
                      </a:solidFill>
                    </a:lnB>
                    <a:noFill/>
                  </a:tcPr>
                </a:tc>
                <a:tc>
                  <a:txBody>
                    <a:bodyPr/>
                    <a:lstStyle/>
                    <a:p>
                      <a:pPr algn="ctr" eaLnBrk="0" latinLnBrk="0">
                        <a:buNone/>
                      </a:pPr>
                      <a:r>
                        <a:rPr sz="1400" b="0" lang="ko-KR" altLang="en-US">
                          <a:solidFill>
                            <a:srgbClr val="000000"/>
                          </a:solidFill>
                          <a:latin typeface="나눔스퀘어 Bold"/>
                          <a:ea typeface="나눔스퀘어 Bold"/>
                          <a:cs typeface="나눔스퀘어 Bold"/>
                        </a:rPr>
                        <a:t>일정</a:t>
                      </a:r>
                    </a:p>
                  </a:txBody>
                  <a:tcPr marL="73152" marR="73152" marT="27432" marB="27432" anchor="ctr">
                    <a:lnL w="0">
                      <a:noFill/>
                    </a:lnL>
                    <a:lnR w="0">
                      <a:noFill/>
                    </a:lnR>
                    <a:lnT w="19050">
                      <a:solidFill>
                        <a:srgbClr val="000000"/>
                      </a:solidFill>
                    </a:lnT>
                    <a:lnB w="12700">
                      <a:solidFill>
                        <a:srgbClr val="000000"/>
                      </a:solidFill>
                    </a:lnB>
                    <a:noFill/>
                  </a:tcPr>
                </a:tc>
                <a:extLst>
                  <a:ext uri="{0D108BD9-81ED-4DB2-BD59-A6C34878D82A}">
                    <a16:rowId xmlns:a16="http://schemas.microsoft.com/office/drawing/2014/main" val="10000"/>
                  </a:ext>
                </a:extLst>
              </a:tr>
              <a:tr h="713232">
                <a:tc>
                  <a:txBody>
                    <a:bodyPr/>
                    <a:lstStyle/>
                    <a:p>
                      <a:pPr algn="ctr" eaLnBrk="0" latinLnBrk="0">
                        <a:buNone/>
                      </a:pPr>
                      <a:r>
                        <a:rPr sz="1400" b="0" lang="ko-KR" altLang="en-US">
                          <a:solidFill>
                            <a:srgbClr val="000000"/>
                          </a:solidFill>
                          <a:latin typeface="나눔스퀘어"/>
                          <a:ea typeface="나눔스퀘어"/>
                          <a:cs typeface="나눔스퀘어"/>
                        </a:rPr>
                        <a:t>1</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tc>
                  <a:txBody>
                    <a:bodyPr/>
                    <a:lstStyle/>
                    <a:p>
                      <a:pPr algn="l" eaLnBrk="0" latinLnBrk="0">
                        <a:buNone/>
                      </a:pPr>
                      <a:r>
                        <a:rPr sz="1400" b="0" lang="ko-KR" altLang="en-US">
                          <a:solidFill>
                            <a:srgbClr val="000000"/>
                          </a:solidFill>
                          <a:latin typeface="나눔스퀘어"/>
                          <a:ea typeface="나눔스퀘어"/>
                          <a:cs typeface="나눔스퀘어"/>
                        </a:rPr>
                        <a:t>오디오로 사건 내부 속도·강도·세부 움직임 제어, 반복·회복 가능한 사건</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1차 발표 후</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1"/>
                  </a:ext>
                </a:extLst>
              </a:tr>
              <a:tr h="713232">
                <a:tc>
                  <a:txBody>
                    <a:bodyPr/>
                    <a:lstStyle/>
                    <a:p>
                      <a:pPr algn="ctr" eaLnBrk="0" latinLnBrk="0">
                        <a:buNone/>
                      </a:pPr>
                      <a:r>
                        <a:rPr sz="1400" b="0" lang="ko-KR" altLang="en-US">
                          <a:solidFill>
                            <a:srgbClr val="000000"/>
                          </a:solidFill>
                          <a:latin typeface="나눔스퀘어"/>
                          <a:ea typeface="나눔스퀘어"/>
                          <a:cs typeface="나눔스퀘어"/>
                        </a:rPr>
                        <a:t>2</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400" b="0" lang="ko-KR" altLang="en-US">
                          <a:solidFill>
                            <a:srgbClr val="000000"/>
                          </a:solidFill>
                          <a:latin typeface="나눔스퀘어"/>
                          <a:ea typeface="나눔스퀘어"/>
                          <a:cs typeface="나눔스퀘어"/>
                        </a:rPr>
                        <a:t>정렬·시간 이동·고정 schedule·역할 섞기 조건의 지각 평가 (평가 계획 ①)</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오디오 통합 후</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2"/>
                  </a:ext>
                </a:extLst>
              </a:tr>
              <a:tr h="713232">
                <a:tc>
                  <a:txBody>
                    <a:bodyPr/>
                    <a:lstStyle/>
                    <a:p>
                      <a:pPr algn="ctr" eaLnBrk="0" latinLnBrk="0">
                        <a:buNone/>
                      </a:pPr>
                      <a:r>
                        <a:rPr sz="1400" b="0" lang="ko-KR" altLang="en-US">
                          <a:solidFill>
                            <a:srgbClr val="000000"/>
                          </a:solidFill>
                          <a:latin typeface="나눔스퀘어"/>
                          <a:ea typeface="나눔스퀘어"/>
                          <a:cs typeface="나눔스퀘어"/>
                        </a:rPr>
                        <a:t>3</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400" b="0" lang="ko-KR" altLang="en-US">
                          <a:solidFill>
                            <a:srgbClr val="000000"/>
                          </a:solidFill>
                          <a:latin typeface="나눔스퀘어"/>
                          <a:ea typeface="나눔스퀘어"/>
                          <a:cs typeface="나눔스퀘어"/>
                        </a:rPr>
                        <a:t>음악 3곡 × 메시 3종 이상 일반화 검증</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중기</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3"/>
                  </a:ext>
                </a:extLst>
              </a:tr>
              <a:tr h="713232">
                <a:tc>
                  <a:txBody>
                    <a:bodyPr/>
                    <a:lstStyle/>
                    <a:p>
                      <a:pPr algn="ctr" eaLnBrk="0" latinLnBrk="0">
                        <a:buNone/>
                      </a:pPr>
                      <a:r>
                        <a:rPr sz="1400" b="0" lang="ko-KR" altLang="en-US">
                          <a:solidFill>
                            <a:srgbClr val="000000"/>
                          </a:solidFill>
                          <a:latin typeface="나눔스퀘어"/>
                          <a:ea typeface="나눔스퀘어"/>
                          <a:cs typeface="나눔스퀘어"/>
                        </a:rPr>
                        <a:t>4</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400" b="0" lang="ko-KR" altLang="en-US">
                          <a:solidFill>
                            <a:srgbClr val="000000"/>
                          </a:solidFill>
                          <a:latin typeface="나눔스퀘어"/>
                          <a:ea typeface="나눔스퀘어"/>
                          <a:cs typeface="나눔스퀘어"/>
                        </a:rPr>
                        <a:t>영역 편집 UI 보완(자유 분할)과 저작 유용성 평가</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중기</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4"/>
                  </a:ext>
                </a:extLst>
              </a:tr>
              <a:tr h="713232">
                <a:tc>
                  <a:txBody>
                    <a:bodyPr/>
                    <a:lstStyle/>
                    <a:p>
                      <a:pPr algn="ctr" eaLnBrk="0" latinLnBrk="0">
                        <a:buNone/>
                      </a:pPr>
                      <a:r>
                        <a:rPr sz="1400" b="0" lang="ko-KR" altLang="en-US">
                          <a:solidFill>
                            <a:srgbClr val="000000"/>
                          </a:solidFill>
                          <a:latin typeface="나눔스퀘어"/>
                          <a:ea typeface="나눔스퀘어"/>
                          <a:cs typeface="나눔스퀘어"/>
                        </a:rPr>
                        <a:t>5</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tc>
                  <a:txBody>
                    <a:bodyPr/>
                    <a:lstStyle/>
                    <a:p>
                      <a:pPr algn="l" eaLnBrk="0" latinLnBrk="0">
                        <a:buNone/>
                      </a:pPr>
                      <a:r>
                        <a:rPr sz="1400" b="0" lang="ko-KR" altLang="en-US">
                          <a:solidFill>
                            <a:srgbClr val="000000"/>
                          </a:solidFill>
                          <a:latin typeface="나눔스퀘어"/>
                          <a:ea typeface="나눔스퀘어"/>
                          <a:cs typeface="나눔스퀘어"/>
                        </a:rPr>
                        <a:t>DLT 보정 및 실물 프로젝터 투사 측정</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tc>
                  <a:txBody>
                    <a:bodyPr/>
                    <a:lstStyle/>
                    <a:p>
                      <a:pPr algn="ctr" eaLnBrk="0" latinLnBrk="0">
                        <a:buNone/>
                      </a:pPr>
                      <a:r>
                        <a:rPr sz="1400" b="0" lang="ko-KR" altLang="en-US">
                          <a:solidFill>
                            <a:srgbClr val="000000"/>
                          </a:solidFill>
                          <a:latin typeface="나눔스퀘어"/>
                          <a:ea typeface="나눔스퀘어"/>
                          <a:cs typeface="나눔스퀘어"/>
                        </a:rPr>
                        <a:t>최종 발표 전</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5"/>
                  </a:ext>
                </a:extLst>
              </a:tr>
            </a:tbl>
          </a:graphicData>
        </a:graphic>
      </p:graphicFrame>
      <p:sp>
        <p:nvSpPr>
          <p:cNvPr id="25" name="TextBox 24"/>
          <p:cNvSpPr txBox="1"/>
          <p:nvPr/>
        </p:nvSpPr>
        <p:spPr>
          <a:xfrm>
            <a:off x="830275" y="1481328"/>
            <a:ext cx="3840480" cy="4480560"/>
          </a:xfrm>
          <a:prstGeom prst="rect">
            <a:avLst/>
          </a:prstGeom>
          <a:noFill/>
        </p:spPr>
        <p:txBody>
          <a:bodyPr wrap="square" anchor="t" lIns="45720" rIns="45720">
            <a:noAutofit/>
          </a:bodyPr>
          <a:lstStyle/>
          <a:p>
            <a:pPr eaLnBrk="0" latinLnBrk="0" algn="l">
              <a:lnSpc>
                <a:spcPct val="130000"/>
              </a:lnSpc>
              <a:spcAft>
                <a:spcPts val="400"/>
              </a:spcAft>
            </a:pPr>
            <a:r>
              <a:rPr sz="1600" b="0" lang="ko-KR" altLang="en-US">
                <a:solidFill>
                  <a:srgbClr val="000000"/>
                </a:solidFill>
                <a:latin typeface="나눔스퀘어 Bold"/>
                <a:ea typeface="나눔스퀘어 Bold"/>
              </a:rPr>
              <a:t>한계점</a:t>
            </a:r>
          </a:p>
          <a:p>
            <a:pPr eaLnBrk="0" latinLnBrk="0" algn="l" marL="283464" indent="-283464">
              <a:lnSpc>
                <a:spcPct val="130000"/>
              </a:lnSpc>
              <a:spcAft>
                <a:spcPts val="300"/>
              </a:spcAft>
              <a:buFont typeface="Arial"/>
              <a:buChar char="•"/>
            </a:pPr>
            <a:r>
              <a:rPr sz="1400" b="0" lang="ko-KR" altLang="en-US">
                <a:solidFill>
                  <a:srgbClr val="000000"/>
                </a:solidFill>
                <a:latin typeface="나눔스퀘어"/>
                <a:ea typeface="나눔스퀘어"/>
              </a:rPr>
              <a:t>사건 강도 불균형(전면·눈·코·입), owner당 비가역 사건 1개</a:t>
            </a:r>
          </a:p>
          <a:p>
            <a:pPr eaLnBrk="0" latinLnBrk="0" algn="l" marL="283464" indent="-283464">
              <a:lnSpc>
                <a:spcPct val="130000"/>
              </a:lnSpc>
              <a:spcAft>
                <a:spcPts val="300"/>
              </a:spcAft>
              <a:buFont typeface="Arial"/>
              <a:buChar char="•"/>
            </a:pPr>
            <a:r>
              <a:rPr sz="1400" b="0" lang="ko-KR" altLang="en-US">
                <a:solidFill>
                  <a:srgbClr val="000000"/>
                </a:solidFill>
                <a:latin typeface="나눔스퀘어"/>
                <a:ea typeface="나눔스퀘어"/>
              </a:rPr>
              <a:t>생성 모델이 raw audio를 직접 받지 않음, 한 곡에서만 확인</a:t>
            </a:r>
          </a:p>
          <a:p>
            <a:pPr eaLnBrk="0" latinLnBrk="0" algn="l" marL="283464" indent="-283464">
              <a:lnSpc>
                <a:spcPct val="130000"/>
              </a:lnSpc>
              <a:spcAft>
                <a:spcPts val="300"/>
              </a:spcAft>
              <a:buFont typeface="Arial"/>
              <a:buChar char="•"/>
            </a:pPr>
            <a:r>
              <a:rPr sz="1400" b="0" lang="ko-KR" altLang="en-US">
                <a:solidFill>
                  <a:srgbClr val="000000"/>
                </a:solidFill>
                <a:latin typeface="나눔스퀘어"/>
                <a:ea typeface="나눔스퀘어"/>
              </a:rPr>
              <a:t>TheRock 한 메시, 사람 평가 미실시</a:t>
            </a:r>
          </a:p>
          <a:p>
            <a:pPr eaLnBrk="0" latinLnBrk="0" algn="l" marL="283464" indent="-283464">
              <a:lnSpc>
                <a:spcPct val="130000"/>
              </a:lnSpc>
              <a:spcAft>
                <a:spcPts val="300"/>
              </a:spcAft>
              <a:buFont typeface="Arial"/>
              <a:buChar char="•"/>
            </a:pPr>
            <a:r>
              <a:rPr sz="1400" b="0" lang="ko-KR" altLang="en-US">
                <a:solidFill>
                  <a:srgbClr val="000000"/>
                </a:solidFill>
                <a:latin typeface="나눔스퀘어"/>
                <a:ea typeface="나눔스퀘어"/>
              </a:rPr>
              <a:t>실물 투사 오차 미측정</a:t>
            </a:r>
          </a:p>
        </p:txBody>
      </p:sp>
    </p:spTree>
    <p:extLst>
      <p:ext uri="{BB962C8B-B14F-4D97-AF65-F5344CB8AC3E}">
        <p14:creationId xmlns:p14="http://schemas.microsoft.com/office/powerpoint/2010/main" val="2005117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4EBA3-C7F4-4267-A1B3-0F93E5488E93}"/>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결론</a:t>
            </a:r>
          </a:p>
        </p:txBody>
      </p:sp>
      <p:sp>
        <p:nvSpPr>
          <p:cNvPr id="16" name="직선 연결선 14">
            <a:extLst>
              <a:ext uri="{FF2B5EF4-FFF2-40B4-BE49-F238E27FC236}">
                <a16:creationId xmlns:a16="http://schemas.microsoft.com/office/drawing/2014/main" id="{25B80C9B-7A9F-4162-BB9D-CC046991050D}"/>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85ABF7D5-F917-4B20-8F20-D9168A55E317}"/>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10522915" cy="4206240"/>
          </a:xfrm>
          <a:prstGeom prst="rect">
            <a:avLst/>
          </a:prstGeom>
          <a:noFill/>
        </p:spPr>
        <p:txBody>
          <a:bodyPr wrap="square" anchor="t" lIns="45720" rIns="45720">
            <a:noAutofit/>
          </a:bodyPr>
          <a:lstStyle/>
          <a:p>
            <a:pPr eaLnBrk="0" latinLnBrk="0" algn="l" marL="283464" indent="-283464">
              <a:lnSpc>
                <a:spcPct val="150000"/>
              </a:lnSpc>
              <a:spcAft>
                <a:spcPts val="400"/>
              </a:spcAft>
              <a:buFont typeface="Arial"/>
              <a:buChar char="•"/>
            </a:pPr>
            <a:r>
              <a:rPr sz="1700" b="0" lang="ko-KR" altLang="en-US">
                <a:solidFill>
                  <a:srgbClr val="000000"/>
                </a:solidFill>
                <a:latin typeface="나눔스퀘어"/>
                <a:ea typeface="나눔스퀘어"/>
              </a:rPr>
              <a:t>물체의 의미 있는 표면 영역(MSR)을 저작 단위로, 음악 특징으로 영역별 사건을 편성해, 모든 시점이 공유하는 UV 영상으로</a:t>
            </a:r>
          </a:p>
          <a:p>
            <a:pPr eaLnBrk="0" latinLnBrk="0" algn="l" marL="283464" indent="-283464">
              <a:lnSpc>
                <a:spcPct val="150000"/>
              </a:lnSpc>
              <a:spcAft>
                <a:spcPts val="400"/>
              </a:spcAft>
              <a:buFont typeface="Arial"/>
              <a:buChar char="•"/>
            </a:pPr>
            <a:r>
              <a:rPr sz="1700" b="0" lang="ko-KR" altLang="en-US">
                <a:solidFill>
                  <a:srgbClr val="000000"/>
                </a:solidFill>
                <a:latin typeface="나눔스퀘어 Bold"/>
                <a:ea typeface="나눔스퀘어 Bold"/>
              </a:rPr>
              <a:t>완료  </a:t>
            </a:r>
            <a:r>
              <a:rPr sz="1700" b="0" lang="ko-KR" altLang="en-US">
                <a:solidFill>
                  <a:srgbClr val="000000"/>
                </a:solidFill>
                <a:latin typeface="나눔스퀘어"/>
                <a:ea typeface="나눔스퀘어"/>
              </a:rPr>
              <a:t>MSR 제안·편집, 역할 그래프 반응, canonical UV 통합, 음악 기반 사건 편성(E237), Unity 재생(E238)</a:t>
            </a:r>
          </a:p>
          <a:p>
            <a:pPr eaLnBrk="0" latinLnBrk="0" algn="l" marL="283464" indent="-283464">
              <a:lnSpc>
                <a:spcPct val="150000"/>
              </a:lnSpc>
              <a:spcAft>
                <a:spcPts val="400"/>
              </a:spcAft>
              <a:buFont typeface="Arial"/>
              <a:buChar char="•"/>
            </a:pPr>
            <a:r>
              <a:rPr sz="1700" b="0" lang="ko-KR" altLang="en-US">
                <a:solidFill>
                  <a:srgbClr val="000000"/>
                </a:solidFill>
                <a:latin typeface="나눔스퀘어 Bold"/>
                <a:ea typeface="나눔스퀘어 Bold"/>
              </a:rPr>
              <a:t>남은 것  </a:t>
            </a:r>
            <a:r>
              <a:rPr sz="1700" b="0" lang="ko-KR" altLang="en-US">
                <a:solidFill>
                  <a:srgbClr val="000000"/>
                </a:solidFill>
                <a:latin typeface="나눔스퀘어"/>
                <a:ea typeface="나눔스퀘어"/>
              </a:rPr>
              <a:t>사건 내부 움직임, 사람의 지각 평가, 다른 음악·메시 일반화, 저작 평가</a:t>
            </a:r>
          </a:p>
          <a:p>
            <a:pPr eaLnBrk="0" latinLnBrk="0" algn="l" marL="283464" indent="-283464">
              <a:lnSpc>
                <a:spcPct val="150000"/>
              </a:lnSpc>
              <a:spcAft>
                <a:spcPts val="400"/>
              </a:spcAft>
              <a:buFont typeface="Arial"/>
              <a:buChar char="•"/>
            </a:pPr>
            <a:r>
              <a:rPr sz="1700" b="0" lang="ko-KR" altLang="en-US">
                <a:solidFill>
                  <a:srgbClr val="000000"/>
                </a:solidFill>
                <a:latin typeface="나눔스퀘어 Bold"/>
                <a:ea typeface="나눔스퀘어 Bold"/>
              </a:rPr>
              <a:t>최종 검증  </a:t>
            </a:r>
            <a:r>
              <a:rPr sz="1700" b="0" lang="ko-KR" altLang="en-US">
                <a:solidFill>
                  <a:srgbClr val="000000"/>
                </a:solidFill>
                <a:latin typeface="나눔스퀘어"/>
                <a:ea typeface="나눔스퀘어"/>
              </a:rPr>
              <a:t>saliency 추천 정점 → DLT 보정 → 같은 물체에 실물 투사</a:t>
            </a:r>
          </a:p>
        </p:txBody>
      </p:sp>
    </p:spTree>
    <p:extLst>
      <p:ext uri="{BB962C8B-B14F-4D97-AF65-F5344CB8AC3E}">
        <p14:creationId xmlns:p14="http://schemas.microsoft.com/office/powerpoint/2010/main" val="146946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8009E-C087-4ADD-889A-E46F7EC2F6A1}"/>
              </a:ext>
            </a:extLst>
          </p:cNvPr>
          <p:cNvSpPr>
            <a:spLocks noGrp="1"/>
          </p:cNvSpPr>
          <p:nvPr>
            <p:ph type="ctrTitle"/>
          </p:nvPr>
        </p:nvSpPr>
        <p:spPr>
          <a:xfrm>
            <a:off x="832104" y="1993392"/>
            <a:ext cx="10168128" cy="2386584"/>
          </a:xfrm>
        </p:spPr>
        <p:txBody>
          <a:bodyPr/>
          <a:lstStyle/>
          <a:p>
            <a:pPr algn="l" eaLnBrk="0" latinLnBrk="0">
              <a:lnSpc>
                <a:spcPct val="110000"/>
              </a:lnSpc>
              <a:buNone/>
            </a:pPr>
            <a:r>
              <a:rPr sz="2800" b="0" lang="ko-KR" altLang="en-US">
                <a:solidFill>
                  <a:srgbClr val="000000"/>
                </a:solidFill>
                <a:latin typeface="나눔스퀘어 ExtraBold"/>
                <a:ea typeface="나눔스퀘어 ExtraBold"/>
                <a:cs typeface="나눔스퀘어 ExtraBold"/>
              </a:rPr>
              <a:t>감사합니다</a:t>
            </a:r>
          </a:p>
        </p:txBody>
      </p:sp>
      <p:sp>
        <p:nvSpPr>
          <p:cNvPr id="3" name="TextBox 2">
            <a:extLst>
              <a:ext uri="{FF2B5EF4-FFF2-40B4-BE49-F238E27FC236}">
                <a16:creationId xmlns:a16="http://schemas.microsoft.com/office/drawing/2014/main" id="{9F5A9C68-913E-49A5-B656-AF2DEB89D8CC}"/>
              </a:ext>
            </a:extLst>
          </p:cNvPr>
          <p:cNvSpPr>
            <a:spLocks noGrp="1"/>
          </p:cNvSpPr>
          <p:nvPr/>
        </p:nvSpPr>
        <p:spPr>
          <a:xfrm>
            <a:off x="832104" y="4443984"/>
            <a:ext cx="10515600" cy="1463040"/>
          </a:xfrm>
          <a:prstGeom prst="rect">
            <a:avLst/>
          </a:prstGeom>
          <a:noFill/>
        </p:spPr>
        <p:txBody>
          <a:bodyPr wrap="square" lIns="45720" rIns="45720" anchor="t">
            <a:noAutofit/>
          </a:bodyPr>
          <a:lstStyle/>
          <a:p>
            <a:pPr algn="l" eaLnBrk="0" latinLnBrk="0">
              <a:spcAft>
                <a:spcPts val="200"/>
              </a:spcAft>
              <a:buNone/>
            </a:pPr>
            <a:r>
              <a:rPr sz="1600" b="0" lang="ko-KR" altLang="en-US">
                <a:solidFill>
                  <a:srgbClr val="595959"/>
                </a:solidFill>
                <a:latin typeface="나눔스퀘어"/>
                <a:ea typeface="나눔스퀘어"/>
                <a:cs typeface="나눔스퀘어"/>
              </a:rPr>
              <a:t>의미 있는 표면 영역 그래프와 연속 UV 상태를 이용한 오디오 반응형 프로젝션 매핑 콘텐츠 저작</a:t>
            </a:r>
          </a:p>
        </p:txBody>
      </p:sp>
      <p:sp>
        <p:nvSpPr>
          <p:cNvPr id="4" name="TextBox 3">
            <a:extLst>
              <a:ext uri="{FF2B5EF4-FFF2-40B4-BE49-F238E27FC236}">
                <a16:creationId xmlns:a16="http://schemas.microsoft.com/office/drawing/2014/main" id="{549F6ECF-BCF5-4ECD-9568-4B4ACF61A1DB}"/>
              </a:ext>
            </a:extLst>
          </p:cNvPr>
          <p:cNvSpPr>
            <a:spLocks noGrp="1"/>
          </p:cNvSpPr>
          <p:nvPr/>
        </p:nvSpPr>
        <p:spPr>
          <a:xfrm>
            <a:off x="9418320" y="6428232"/>
            <a:ext cx="2651760" cy="365760"/>
          </a:xfrm>
          <a:prstGeom prst="rect">
            <a:avLst/>
          </a:prstGeom>
          <a:noFill/>
        </p:spPr>
        <p:txBody>
          <a:bodyPr wrap="square" lIns="18288" tIns="18288" rIns="18288" bIns="18288" anchor="t">
            <a:noAutofit/>
          </a:bodyPr>
          <a:lstStyle/>
          <a:p>
            <a:pPr algn="r" eaLnBrk="0" latinLnBrk="0">
              <a:spcAft>
                <a:spcPts val="400"/>
              </a:spcAft>
              <a:buNone/>
            </a:pPr>
            <a:r>
              <a:rPr sz="1400" b="0" lang="ko-KR" altLang="en-US">
                <a:solidFill>
                  <a:srgbClr val="000000"/>
                </a:solidFill>
                <a:latin typeface="나눔스퀘어"/>
                <a:ea typeface="나눔스퀘어"/>
                <a:cs typeface="나눔스퀘어"/>
              </a:rPr>
              <a:t>발표자: 강민수</a:t>
            </a:r>
          </a:p>
        </p:txBody>
      </p:sp>
      <p:sp>
        <p:nvSpPr>
          <p:cNvPr id="6" name="직선 연결선 4">
            <a:extLst>
              <a:ext uri="{FF2B5EF4-FFF2-40B4-BE49-F238E27FC236}">
                <a16:creationId xmlns:a16="http://schemas.microsoft.com/office/drawing/2014/main" id="{7942E19D-C851-43F0-AECA-19C6DF0F9F94}"/>
              </a:ext>
            </a:extLst>
          </p:cNvPr>
          <p:cNvSpPr>
            <a:spLocks noGrp="1"/>
          </p:cNvSpPr>
          <p:nvPr/>
        </p:nvSpPr>
        <p:spPr>
          <a:xfrm>
            <a:off x="-38100" y="6278306"/>
            <a:ext cx="122586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1" name="타원 3">
            <a:extLst>
              <a:ext uri="{FF2B5EF4-FFF2-40B4-BE49-F238E27FC236}">
                <a16:creationId xmlns:a16="http://schemas.microsoft.com/office/drawing/2014/main" id="{5AC504A9-A502-49C6-86F4-D65145531595}"/>
              </a:ext>
            </a:extLst>
          </p:cNvPr>
          <p:cNvSpPr>
            <a:spLocks noGrp="1"/>
          </p:cNvSpPr>
          <p:nvPr/>
        </p:nvSpPr>
        <p:spPr>
          <a:xfrm>
            <a:off x="9079380" y="-1491154"/>
            <a:ext cx="4141694" cy="4141694"/>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0" latinLnBrk="0">
              <a:buNone/>
            </a:pPr>
            <a:endParaRPr lang="ko-KR" altLang="en-US"/>
          </a:p>
        </p:txBody>
      </p:sp>
      <p:sp>
        <p:nvSpPr>
          <p:cNvPr id="12" name="타원 6">
            <a:extLst>
              <a:ext uri="{FF2B5EF4-FFF2-40B4-BE49-F238E27FC236}">
                <a16:creationId xmlns:a16="http://schemas.microsoft.com/office/drawing/2014/main" id="{05EF5CCF-F68E-4ADE-AD49-568E8992F2F2}"/>
              </a:ext>
            </a:extLst>
          </p:cNvPr>
          <p:cNvSpPr>
            <a:spLocks noGrp="1"/>
          </p:cNvSpPr>
          <p:nvPr/>
        </p:nvSpPr>
        <p:spPr>
          <a:xfrm>
            <a:off x="9403616" y="-1166918"/>
            <a:ext cx="3493221" cy="349322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0" latinLnBrk="0">
              <a:buNone/>
            </a:pPr>
            <a:endParaRPr lang="ko-KR" altLang="en-US"/>
          </a:p>
        </p:txBody>
      </p:sp>
    </p:spTree>
    <p:extLst>
      <p:ext uri="{BB962C8B-B14F-4D97-AF65-F5344CB8AC3E}">
        <p14:creationId xmlns:p14="http://schemas.microsoft.com/office/powerpoint/2010/main" val="2327403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2">
            <a:extLst>
              <a:ext uri="{FF2B5EF4-FFF2-40B4-BE49-F238E27FC236}">
                <a16:creationId xmlns:a16="http://schemas.microsoft.com/office/drawing/2014/main" id="{11E848F9-BEEE-4E3F-8C50-156B1C3570C2}"/>
              </a:ext>
            </a:extLst>
          </p:cNvPr>
          <p:cNvSpPr>
            <a:spLocks noGrp="1"/>
          </p:cNvSpPr>
          <p:nvPr/>
        </p:nvSpPr>
        <p:spPr>
          <a:xfrm>
            <a:off x="-8965" y="-8754"/>
            <a:ext cx="12299577" cy="6947436"/>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0" latinLnBrk="0">
              <a:buNone/>
            </a:pPr>
            <a:endParaRPr lang="ko-KR" altLang="en-US"/>
          </a:p>
        </p:txBody>
      </p:sp>
      <p:sp>
        <p:nvSpPr>
          <p:cNvPr id="2" name="Title 1">
            <a:extLst>
              <a:ext uri="{FF2B5EF4-FFF2-40B4-BE49-F238E27FC236}">
                <a16:creationId xmlns:a16="http://schemas.microsoft.com/office/drawing/2014/main" id="{FE68B23B-91A6-47B6-879B-8E4DE6E6F98C}"/>
              </a:ext>
            </a:extLst>
          </p:cNvPr>
          <p:cNvSpPr>
            <a:spLocks noGrp="1"/>
          </p:cNvSpPr>
          <p:nvPr>
            <p:ph type="title"/>
          </p:nvPr>
        </p:nvSpPr>
        <p:spPr>
          <a:xfrm>
            <a:off x="830424" y="2528211"/>
            <a:ext cx="10515600" cy="1325563"/>
          </a:xfrm>
        </p:spPr>
        <p:txBody>
          <a:bodyPr/>
          <a:lstStyle/>
          <a:p>
            <a:pPr algn="ctr" eaLnBrk="0" latinLnBrk="0">
              <a:buNone/>
            </a:pPr>
            <a:r>
              <a:rPr sz="6000" b="0" lang="ko-KR" altLang="en-US">
                <a:solidFill>
                  <a:srgbClr val="FFFFFF"/>
                </a:solidFill>
                <a:latin typeface="나눔스퀘어 ExtraBold"/>
                <a:ea typeface="나눔스퀘어 ExtraBold"/>
                <a:cs typeface="나눔스퀘어 ExtraBold"/>
              </a:rPr>
              <a:t>Appendix</a:t>
            </a:r>
          </a:p>
        </p:txBody>
      </p:sp>
      <p:sp>
        <p:nvSpPr>
          <p:cNvPr id="16" name="직선 연결선 14">
            <a:extLst>
              <a:ext uri="{FF2B5EF4-FFF2-40B4-BE49-F238E27FC236}">
                <a16:creationId xmlns:a16="http://schemas.microsoft.com/office/drawing/2014/main" id="{E5619C43-2694-408F-8A68-BA620419538C}"/>
              </a:ext>
            </a:extLst>
          </p:cNvPr>
          <p:cNvSpPr>
            <a:spLocks noGrp="1"/>
          </p:cNvSpPr>
          <p:nvPr/>
        </p:nvSpPr>
        <p:spPr>
          <a:xfrm>
            <a:off x="2201148" y="4108193"/>
            <a:ext cx="7789701"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sp>
      <p:pic>
        <p:nvPicPr>
          <p:cNvPr id="21" name="Picture 16"/>
          <p:cNvPicPr>
            <a:picLocks noChangeAspect="1"/>
          </p:cNvPicPr>
          <p:nvPr/>
        </p:nvPicPr>
        <p:blipFill>
          <a:blip r:embed="rId3"/>
          <a:stretch>
            <a:fillRect/>
          </a:stretch>
        </p:blipFill>
        <p:spPr>
          <a:xfrm>
            <a:off x="1" y="6372808"/>
            <a:ext cx="1122886" cy="485191"/>
          </a:xfrm>
          <a:prstGeom prst="rect">
            <a:avLst/>
          </a:prstGeom>
        </p:spPr>
      </p:pic>
    </p:spTree>
    <p:extLst>
      <p:ext uri="{BB962C8B-B14F-4D97-AF65-F5344CB8AC3E}">
        <p14:creationId xmlns:p14="http://schemas.microsoft.com/office/powerpoint/2010/main" val="448031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521E4-B97B-4714-9260-B3BB02FCA260}"/>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부록 A. 주장 범위</a:t>
            </a:r>
          </a:p>
        </p:txBody>
      </p:sp>
      <p:sp>
        <p:nvSpPr>
          <p:cNvPr id="16" name="직선 연결선 14">
            <a:extLst>
              <a:ext uri="{FF2B5EF4-FFF2-40B4-BE49-F238E27FC236}">
                <a16:creationId xmlns:a16="http://schemas.microsoft.com/office/drawing/2014/main" id="{F5F347A7-E939-471C-8BCF-1C9713EE85F5}"/>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p>
            <a:pPr eaLnBrk="0" latinLnBrk="0"/>
          </a:p>
        </p:txBody>
      </p:sp>
      <p:sp>
        <p:nvSpPr>
          <p:cNvPr id="17" name="직선 연결선 7">
            <a:extLst>
              <a:ext uri="{FF2B5EF4-FFF2-40B4-BE49-F238E27FC236}">
                <a16:creationId xmlns:a16="http://schemas.microsoft.com/office/drawing/2014/main" id="{D96691EB-6298-4A8D-A2D1-65248B7E637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p>
            <a:pPr eaLnBrk="0" latinLnBrk="0"/>
          </a:p>
        </p:txBody>
      </p:sp>
      <p:sp>
        <p:nvSpPr>
          <p:cNvPr id="18" name="TextBox 17"/>
          <p:cNvSpPr txBox="1"/>
          <p:nvPr/>
        </p:nvSpPr>
        <p:spPr>
          <a:xfrm>
            <a:off x="830275" y="1481328"/>
            <a:ext cx="5120640" cy="4663440"/>
          </a:xfrm>
          <a:prstGeom prst="rect">
            <a:avLst/>
          </a:prstGeom>
          <a:noFill/>
        </p:spPr>
        <p:txBody>
          <a:bodyPr wrap="square" anchor="t" lIns="45720" rIns="45720">
            <a:noAutofit/>
          </a:bodyPr>
          <a:lstStyle/>
          <a:p>
            <a:pPr eaLnBrk="0" latinLnBrk="0" algn="l">
              <a:lnSpc>
                <a:spcPct val="125000"/>
              </a:lnSpc>
              <a:spcAft>
                <a:spcPts val="300"/>
              </a:spcAft>
            </a:pPr>
            <a:r>
              <a:rPr sz="1600" b="0" lang="ko-KR" altLang="en-US">
                <a:solidFill>
                  <a:srgbClr val="000000"/>
                </a:solidFill>
                <a:latin typeface="나눔스퀘어 Bold"/>
                <a:ea typeface="나눔스퀘어 Bold"/>
              </a:rPr>
              <a:t>말할 수 있는 것</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같은 후보 상한과 집합 연산에서 MSR 제안은 미사용 메시 16개에서 평균 선택 용량이 더 높았다 (oracle 상한)</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고정된 오디오-역할 정책에서 Full MSRG는 두 개발 메시에서 구별되는 영역별 시간 반응을 만들었다</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UV 통합은 seam 차이를 크게 줄이고 coverage 1.0, 보호 영역 변화 0을 만들었다</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E231: 사건 시작점이 측정된 오디오 특징과 정렬 (5/5, +7초 이동 0/5)</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E237: 한 곡·한 메시에서 음악 특징으로 사건 종류·시작·빈 구간·동시 시작을 정한 30초 결과</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E237 영상의 Unity 재생 (E238)</a:t>
            </a:r>
          </a:p>
        </p:txBody>
      </p:sp>
      <p:sp>
        <p:nvSpPr>
          <p:cNvPr id="19" name="TextBox 18"/>
          <p:cNvSpPr txBox="1"/>
          <p:nvPr/>
        </p:nvSpPr>
        <p:spPr>
          <a:xfrm>
            <a:off x="6225235" y="1481328"/>
            <a:ext cx="5120640" cy="4663440"/>
          </a:xfrm>
          <a:prstGeom prst="rect">
            <a:avLst/>
          </a:prstGeom>
          <a:noFill/>
        </p:spPr>
        <p:txBody>
          <a:bodyPr wrap="square" anchor="t" lIns="45720" rIns="45720">
            <a:noAutofit/>
          </a:bodyPr>
          <a:lstStyle/>
          <a:p>
            <a:pPr eaLnBrk="0" latinLnBrk="0" algn="l">
              <a:lnSpc>
                <a:spcPct val="125000"/>
              </a:lnSpc>
              <a:spcAft>
                <a:spcPts val="300"/>
              </a:spcAft>
            </a:pPr>
            <a:r>
              <a:rPr sz="1600" b="0" lang="ko-KR" altLang="en-US">
                <a:solidFill>
                  <a:srgbClr val="000000"/>
                </a:solidFill>
                <a:latin typeface="나눔스퀘어 Bold"/>
                <a:ea typeface="나눔스퀘어 Bold"/>
              </a:rPr>
              <a:t>아직 말할 수 없는 것</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임의의 메시나 오디오에서 동작하거나 완전 자동 생성된다</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MSR이 의미의 정답을 자동으로 찾는다</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오디오가 생성 모델 내부 latent나 사건 내부 움직임을 직접 제어한다</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사람이 오디오와 사건의 인과를 지각한다</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제안 흐름이 작가의 시간과 부담을 줄였다</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기존 방법보다 미학적으로 우수하다</a:t>
            </a:r>
          </a:p>
          <a:p>
            <a:pPr eaLnBrk="0" latinLnBrk="0" algn="l" marL="283464" indent="-283464">
              <a:lnSpc>
                <a:spcPct val="125000"/>
              </a:lnSpc>
              <a:spcAft>
                <a:spcPts val="300"/>
              </a:spcAft>
              <a:buFont typeface="Arial"/>
              <a:buChar char="•"/>
            </a:pPr>
            <a:r>
              <a:rPr sz="1300" b="0" lang="ko-KR" altLang="en-US">
                <a:solidFill>
                  <a:srgbClr val="000000"/>
                </a:solidFill>
                <a:latin typeface="나눔스퀘어"/>
                <a:ea typeface="나눔스퀘어"/>
              </a:rPr>
              <a:t>실물 프로젝터에서 바로 쓸 수 있다, 완전히 agentic하다</a:t>
            </a:r>
          </a:p>
        </p:txBody>
      </p:sp>
    </p:spTree>
    <p:extLst>
      <p:ext uri="{BB962C8B-B14F-4D97-AF65-F5344CB8AC3E}">
        <p14:creationId xmlns:p14="http://schemas.microsoft.com/office/powerpoint/2010/main" val="1826487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6F601-ABF6-4DAE-B094-F7E607A1C2B3}"/>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부록 B. 실패에서 만든 원칙</a:t>
            </a:r>
          </a:p>
        </p:txBody>
      </p:sp>
      <p:sp>
        <p:nvSpPr>
          <p:cNvPr id="16" name="직선 연결선 14">
            <a:extLst>
              <a:ext uri="{FF2B5EF4-FFF2-40B4-BE49-F238E27FC236}">
                <a16:creationId xmlns:a16="http://schemas.microsoft.com/office/drawing/2014/main" id="{05E463A0-AD05-4098-9C67-17EB3F087F79}"/>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14628984-AACF-46D5-8277-3AE5EED3D2FC}"/>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graphicFrame>
        <p:nvGraphicFramePr>
          <p:cNvPr id="22" name="Table 17"/>
          <p:cNvGraphicFramePr/>
          <p:nvPr/>
        </p:nvGraphicFramePr>
        <p:xfrm>
          <a:off x="830275" y="1600200"/>
          <a:ext cx="10515600" cy="4389120"/>
        </p:xfrm>
        <a:graphic>
          <a:graphicData uri="http://schemas.openxmlformats.org/drawingml/2006/table">
            <a:tbl>
              <a:tblPr firstRow="1">
                <a:tableStyleId>{2D5ABB26-0587-4C30-8999-92F81FD0307C}</a:tableStyleId>
              </a:tblPr>
              <a:tblGrid>
                <a:gridCol w="237744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548640">
                <a:tc>
                  <a:txBody>
                    <a:bodyPr/>
                    <a:lstStyle/>
                    <a:p>
                      <a:pPr algn="l" eaLnBrk="0" latinLnBrk="0">
                        <a:buNone/>
                      </a:pPr>
                      <a:r>
                        <a:rPr sz="1300" b="0" lang="ko-KR" altLang="en-US">
                          <a:solidFill>
                            <a:srgbClr val="000000"/>
                          </a:solidFill>
                          <a:latin typeface="나눔스퀘어 Bold"/>
                          <a:ea typeface="나눔스퀘어 Bold"/>
                          <a:cs typeface="나눔스퀘어 Bold"/>
                        </a:rPr>
                        <a:t>실패</a:t>
                      </a:r>
                    </a:p>
                  </a:txBody>
                  <a:tcPr marL="73152" marR="73152" marT="27432" marB="27432" anchor="ctr">
                    <a:lnL w="0">
                      <a:noFill/>
                    </a:lnL>
                    <a:lnR w="0">
                      <a:noFill/>
                    </a:lnR>
                    <a:lnT w="19050">
                      <a:solidFill>
                        <a:srgbClr val="000000"/>
                      </a:solidFill>
                    </a:lnT>
                    <a:lnB w="12700">
                      <a:solidFill>
                        <a:srgbClr val="000000"/>
                      </a:solidFill>
                    </a:lnB>
                    <a:noFill/>
                  </a:tcPr>
                </a:tc>
                <a:tc>
                  <a:txBody>
                    <a:bodyPr/>
                    <a:lstStyle/>
                    <a:p>
                      <a:pPr algn="l" eaLnBrk="0" latinLnBrk="0">
                        <a:buNone/>
                      </a:pPr>
                      <a:r>
                        <a:rPr sz="1300" b="0" lang="ko-KR" altLang="en-US">
                          <a:solidFill>
                            <a:srgbClr val="000000"/>
                          </a:solidFill>
                          <a:latin typeface="나눔스퀘어 Bold"/>
                          <a:ea typeface="나눔스퀘어 Bold"/>
                          <a:cs typeface="나눔스퀘어 Bold"/>
                        </a:rPr>
                        <a:t>확인한 문제</a:t>
                      </a:r>
                    </a:p>
                  </a:txBody>
                  <a:tcPr marL="73152" marR="73152" marT="27432" marB="27432" anchor="ctr">
                    <a:lnL w="0">
                      <a:noFill/>
                    </a:lnL>
                    <a:lnR w="0">
                      <a:noFill/>
                    </a:lnR>
                    <a:lnT w="19050">
                      <a:solidFill>
                        <a:srgbClr val="000000"/>
                      </a:solidFill>
                    </a:lnT>
                    <a:lnB w="12700">
                      <a:solidFill>
                        <a:srgbClr val="000000"/>
                      </a:solidFill>
                    </a:lnB>
                    <a:noFill/>
                  </a:tcPr>
                </a:tc>
                <a:tc>
                  <a:txBody>
                    <a:bodyPr/>
                    <a:lstStyle/>
                    <a:p>
                      <a:pPr algn="l" eaLnBrk="0" latinLnBrk="0">
                        <a:buNone/>
                      </a:pPr>
                      <a:r>
                        <a:rPr sz="1300" b="0" lang="ko-KR" altLang="en-US">
                          <a:solidFill>
                            <a:srgbClr val="000000"/>
                          </a:solidFill>
                          <a:latin typeface="나눔스퀘어 Bold"/>
                          <a:ea typeface="나눔스퀘어 Bold"/>
                          <a:cs typeface="나눔스퀘어 Bold"/>
                        </a:rPr>
                        <a:t>방법에 반영한 원칙</a:t>
                      </a:r>
                    </a:p>
                  </a:txBody>
                  <a:tcPr marL="73152" marR="73152" marT="27432" marB="27432" anchor="ctr">
                    <a:lnL w="0">
                      <a:noFill/>
                    </a:lnL>
                    <a:lnR w="0">
                      <a:noFill/>
                    </a:lnR>
                    <a:lnT w="19050">
                      <a:solidFill>
                        <a:srgbClr val="000000"/>
                      </a:solidFill>
                    </a:lnT>
                    <a:lnB w="12700">
                      <a:solidFill>
                        <a:srgbClr val="000000"/>
                      </a:solidFill>
                    </a:lnB>
                    <a:noFill/>
                  </a:tcPr>
                </a:tc>
                <a:extLst>
                  <a:ext uri="{0D108BD9-81ED-4DB2-BD59-A6C34878D82A}">
                    <a16:rowId xmlns:a16="http://schemas.microsoft.com/office/drawing/2014/main" val="10000"/>
                  </a:ext>
                </a:extLst>
              </a:tr>
              <a:tr h="548640">
                <a:tc>
                  <a:txBody>
                    <a:bodyPr/>
                    <a:lstStyle/>
                    <a:p>
                      <a:pPr algn="l" eaLnBrk="0" latinLnBrk="0">
                        <a:buNone/>
                      </a:pPr>
                      <a:r>
                        <a:rPr sz="1300" b="0" lang="ko-KR" altLang="en-US">
                          <a:solidFill>
                            <a:srgbClr val="000000"/>
                          </a:solidFill>
                          <a:latin typeface="나눔스퀘어 Bold"/>
                          <a:ea typeface="나눔스퀘어 Bold"/>
                          <a:cs typeface="나눔스퀘어 Bold"/>
                        </a:rPr>
                        <a:t>전신 저해상도 생성</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사건 영역의 유효 해상도가 작고 보호 부위까지 재합성</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기준 텍스처 유지, 국소 영역만 생성</a:t>
                      </a:r>
                    </a:p>
                  </a:txBody>
                  <a:tcPr marL="73152" marR="73152" marT="27432" marB="27432" anchor="ctr">
                    <a:lnL w="0">
                      <a:noFill/>
                    </a:lnL>
                    <a:lnR w="0">
                      <a:noFill/>
                    </a:lnR>
                    <a:lnT w="12700" cap="flat" cmpd="sng" algn="ctr">
                      <a:solidFill>
                        <a:srgbClr val="000000"/>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1"/>
                  </a:ext>
                </a:extLst>
              </a:tr>
              <a:tr h="548640">
                <a:tc>
                  <a:txBody>
                    <a:bodyPr/>
                    <a:lstStyle/>
                    <a:p>
                      <a:pPr algn="l" eaLnBrk="0" latinLnBrk="0">
                        <a:buNone/>
                      </a:pPr>
                      <a:r>
                        <a:rPr sz="1300" b="0" lang="ko-KR" altLang="en-US">
                          <a:solidFill>
                            <a:srgbClr val="000000"/>
                          </a:solidFill>
                          <a:latin typeface="나눔스퀘어 Bold"/>
                          <a:ea typeface="나눔스퀘어 Bold"/>
                          <a:cs typeface="나눔스퀘어 Bold"/>
                        </a:rPr>
                        <a:t>geometry animation</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강한 사건이지만 고정 물체 투사 조건 위반</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vertex, topology, 실루엣을 모든 프레임에서 고정</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2"/>
                  </a:ext>
                </a:extLst>
              </a:tr>
              <a:tr h="548640">
                <a:tc>
                  <a:txBody>
                    <a:bodyPr/>
                    <a:lstStyle/>
                    <a:p>
                      <a:pPr algn="l" eaLnBrk="0" latinLnBrk="0">
                        <a:buNone/>
                      </a:pPr>
                      <a:r>
                        <a:rPr sz="1300" b="0" lang="ko-KR" altLang="en-US">
                          <a:solidFill>
                            <a:srgbClr val="000000"/>
                          </a:solidFill>
                          <a:latin typeface="나눔스퀘어 Bold"/>
                          <a:ea typeface="나눔스퀘어 Bold"/>
                          <a:cs typeface="나눔스퀘어 Bold"/>
                        </a:rPr>
                        <a:t>decal, alpha reveal</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기술 gate는 통과하지만 살아 있는 사건으로 보이지 않음</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사건성 gate와 사용자 거부권을 필수 조건으로</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3"/>
                  </a:ext>
                </a:extLst>
              </a:tr>
              <a:tr h="548640">
                <a:tc>
                  <a:txBody>
                    <a:bodyPr/>
                    <a:lstStyle/>
                    <a:p>
                      <a:pPr algn="l" eaLnBrk="0" latinLnBrk="0">
                        <a:buNone/>
                      </a:pPr>
                      <a:r>
                        <a:rPr sz="1300" b="0" lang="ko-KR" altLang="en-US">
                          <a:solidFill>
                            <a:srgbClr val="000000"/>
                          </a:solidFill>
                          <a:latin typeface="나눔스퀘어 Bold"/>
                          <a:ea typeface="나눔스퀘어 Bold"/>
                          <a:cs typeface="나눔스퀘어 Bold"/>
                        </a:rPr>
                        <a:t>시점별 독립 생성</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같은 표면 특징이 시점마다 달라짐</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canonical UV, barycentric 등록, soft fusion</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4"/>
                  </a:ext>
                </a:extLst>
              </a:tr>
              <a:tr h="548640">
                <a:tc>
                  <a:txBody>
                    <a:bodyPr/>
                    <a:lstStyle/>
                    <a:p>
                      <a:pPr algn="l" eaLnBrk="0" latinLnBrk="0">
                        <a:buNone/>
                      </a:pPr>
                      <a:r>
                        <a:rPr sz="1300" b="0" lang="ko-KR" altLang="en-US">
                          <a:solidFill>
                            <a:srgbClr val="000000"/>
                          </a:solidFill>
                          <a:latin typeface="나눔스퀘어 Bold"/>
                          <a:ea typeface="나눔스퀘어 Bold"/>
                          <a:cs typeface="나눔스퀘어 Bold"/>
                        </a:rPr>
                        <a:t>hard triangle owner</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low poly 면이 특징과 주변을 함께 포함</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다각도 mask를 연속 UV confidence로 융합</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5"/>
                  </a:ext>
                </a:extLst>
              </a:tr>
              <a:tr h="548640">
                <a:tc>
                  <a:txBody>
                    <a:bodyPr/>
                    <a:lstStyle/>
                    <a:p>
                      <a:pPr algn="l" eaLnBrk="0" latinLnBrk="0">
                        <a:buNone/>
                      </a:pPr>
                      <a:r>
                        <a:rPr sz="1300" b="0" lang="ko-KR" altLang="en-US">
                          <a:solidFill>
                            <a:srgbClr val="000000"/>
                          </a:solidFill>
                          <a:latin typeface="나눔스퀘어 Bold"/>
                          <a:ea typeface="나눔스퀘어 Bold"/>
                          <a:cs typeface="나눔스퀘어 Bold"/>
                        </a:rPr>
                        <a:t>30초 늘이기 합성</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프레임 반복, 영역 겹침, 재질 collage</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구간별 새로 생성, 배타 소유권, 실제 프레임 이어 붙이기</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6350">
                      <a:solidFill>
                        <a:srgbClr val="D9D9D9"/>
                      </a:solidFill>
                    </a:lnB>
                    <a:noFill/>
                  </a:tcPr>
                </a:tc>
                <a:extLst>
                  <a:ext uri="{0D108BD9-81ED-4DB2-BD59-A6C34878D82A}">
                    <a16:rowId xmlns:a16="http://schemas.microsoft.com/office/drawing/2014/main" val="10006"/>
                  </a:ext>
                </a:extLst>
              </a:tr>
              <a:tr h="548640">
                <a:tc>
                  <a:txBody>
                    <a:bodyPr/>
                    <a:lstStyle/>
                    <a:p>
                      <a:pPr algn="l" eaLnBrk="0" latinLnBrk="0">
                        <a:buNone/>
                      </a:pPr>
                      <a:r>
                        <a:rPr sz="1300" b="0" lang="ko-KR" altLang="en-US">
                          <a:solidFill>
                            <a:srgbClr val="000000"/>
                          </a:solidFill>
                          <a:latin typeface="나눔스퀘어 Bold"/>
                          <a:ea typeface="나눔스퀘어 Bold"/>
                          <a:cs typeface="나눔스퀘어 Bold"/>
                        </a:rPr>
                        <a:t>자동 PASS 후 사용자 기각</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수치가 작품성과 사건성을 대신하지 못함</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tc>
                  <a:txBody>
                    <a:bodyPr/>
                    <a:lstStyle/>
                    <a:p>
                      <a:pPr algn="l" eaLnBrk="0" latinLnBrk="0">
                        <a:buNone/>
                      </a:pPr>
                      <a:r>
                        <a:rPr sz="1300" b="0" lang="ko-KR" altLang="en-US">
                          <a:solidFill>
                            <a:srgbClr val="000000"/>
                          </a:solidFill>
                          <a:latin typeface="나눔스퀘어"/>
                          <a:ea typeface="나눔스퀘어"/>
                          <a:cs typeface="나눔스퀘어"/>
                        </a:rPr>
                        <a:t>기술·인과·콘텐츠·사용자 승인 4단계 판정</a:t>
                      </a:r>
                    </a:p>
                  </a:txBody>
                  <a:tcPr marL="73152" marR="73152" marT="27432" marB="27432" anchor="ctr">
                    <a:lnL w="0">
                      <a:noFill/>
                    </a:lnL>
                    <a:lnR w="0">
                      <a:noFill/>
                    </a:lnR>
                    <a:lnT w="6350" cap="flat" cmpd="sng" algn="ctr">
                      <a:solidFill>
                        <a:srgbClr val="D9D9D9"/>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03908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E9940-176B-4733-BDA9-B3878789F080}"/>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부록 C. 예상 질문</a:t>
            </a:r>
          </a:p>
        </p:txBody>
      </p:sp>
      <p:sp>
        <p:nvSpPr>
          <p:cNvPr id="16" name="직선 연결선 14">
            <a:extLst>
              <a:ext uri="{FF2B5EF4-FFF2-40B4-BE49-F238E27FC236}">
                <a16:creationId xmlns:a16="http://schemas.microsoft.com/office/drawing/2014/main" id="{39B04ACE-52BB-459A-B039-2DC425334136}"/>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E6C6CF4F-5306-44F2-ABEE-BAECCF85F176}"/>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10522915" cy="4663440"/>
          </a:xfrm>
          <a:prstGeom prst="rect">
            <a:avLst/>
          </a:prstGeom>
          <a:noFill/>
        </p:spPr>
        <p:txBody>
          <a:bodyPr wrap="square" anchor="t" lIns="45720" rIns="45720">
            <a:noAutofit/>
          </a:bodyPr>
          <a:lstStyle/>
          <a:p>
            <a:pPr eaLnBrk="0" latinLnBrk="0" algn="l">
              <a:lnSpc>
                <a:spcPct val="155000"/>
              </a:lnSpc>
              <a:spcAft>
                <a:spcPts val="0"/>
              </a:spcAft>
            </a:pPr>
            <a:r>
              <a:rPr sz="1600" b="0" lang="ko-KR" altLang="en-US">
                <a:solidFill>
                  <a:srgbClr val="000000"/>
                </a:solidFill>
                <a:latin typeface="나눔스퀘어 ExtraBold"/>
                <a:ea typeface="나눔스퀘어 ExtraBold"/>
              </a:rPr>
              <a:t>Q1.  </a:t>
            </a:r>
            <a:r>
              <a:rPr sz="1600" b="0" lang="ko-KR" altLang="en-US">
                <a:solidFill>
                  <a:srgbClr val="000000"/>
                </a:solidFill>
                <a:latin typeface="나눔스퀘어"/>
                <a:ea typeface="나눔스퀘어"/>
              </a:rPr>
              <a:t>MSR은 semantic segmentation과 무엇이 다른가?</a:t>
            </a:r>
          </a:p>
          <a:p>
            <a:pPr eaLnBrk="0" latinLnBrk="0" algn="l">
              <a:lnSpc>
                <a:spcPct val="155000"/>
              </a:lnSpc>
              <a:spcAft>
                <a:spcPts val="0"/>
              </a:spcAft>
            </a:pPr>
            <a:r>
              <a:rPr sz="1600" b="0" lang="ko-KR" altLang="en-US">
                <a:solidFill>
                  <a:srgbClr val="000000"/>
                </a:solidFill>
                <a:latin typeface="나눔스퀘어 ExtraBold"/>
                <a:ea typeface="나눔스퀘어 ExtraBold"/>
              </a:rPr>
              <a:t>Q2.  </a:t>
            </a:r>
            <a:r>
              <a:rPr sz="1600" b="0" lang="ko-KR" altLang="en-US">
                <a:solidFill>
                  <a:srgbClr val="000000"/>
                </a:solidFill>
                <a:latin typeface="나눔스퀘어"/>
                <a:ea typeface="나눔스퀘어"/>
              </a:rPr>
              <a:t>PartField와 SAM2를 조합한 것만으로 novelty가 충분한가?</a:t>
            </a:r>
          </a:p>
          <a:p>
            <a:pPr eaLnBrk="0" latinLnBrk="0" algn="l">
              <a:lnSpc>
                <a:spcPct val="155000"/>
              </a:lnSpc>
              <a:spcAft>
                <a:spcPts val="0"/>
              </a:spcAft>
            </a:pPr>
            <a:r>
              <a:rPr sz="1600" b="0" lang="ko-KR" altLang="en-US">
                <a:solidFill>
                  <a:srgbClr val="000000"/>
                </a:solidFill>
                <a:latin typeface="나눔스퀘어 ExtraBold"/>
                <a:ea typeface="나눔스퀘어 ExtraBold"/>
              </a:rPr>
              <a:t>Q3.  </a:t>
            </a:r>
            <a:r>
              <a:rPr sz="1600" b="0" lang="ko-KR" altLang="en-US">
                <a:solidFill>
                  <a:srgbClr val="000000"/>
                </a:solidFill>
                <a:latin typeface="나눔스퀘어"/>
                <a:ea typeface="나눔스퀘어"/>
              </a:rPr>
              <a:t>Full MSRG가 더 예쁘다는 뜻인가?</a:t>
            </a:r>
          </a:p>
          <a:p>
            <a:pPr eaLnBrk="0" latinLnBrk="0" algn="l">
              <a:lnSpc>
                <a:spcPct val="155000"/>
              </a:lnSpc>
              <a:spcAft>
                <a:spcPts val="0"/>
              </a:spcAft>
            </a:pPr>
            <a:r>
              <a:rPr sz="1600" b="0" lang="ko-KR" altLang="en-US">
                <a:solidFill>
                  <a:srgbClr val="000000"/>
                </a:solidFill>
                <a:latin typeface="나눔스퀘어 ExtraBold"/>
                <a:ea typeface="나눔스퀘어 ExtraBold"/>
              </a:rPr>
              <a:t>Q4.  </a:t>
            </a:r>
            <a:r>
              <a:rPr sz="1600" b="0" lang="ko-KR" altLang="en-US">
                <a:solidFill>
                  <a:srgbClr val="000000"/>
                </a:solidFill>
                <a:latin typeface="나눔스퀘어"/>
                <a:ea typeface="나눔스퀘어"/>
              </a:rPr>
              <a:t>정렬 점수가 높으면 오디오 인과성이 증명되는가?</a:t>
            </a:r>
          </a:p>
          <a:p>
            <a:pPr eaLnBrk="0" latinLnBrk="0" algn="l">
              <a:lnSpc>
                <a:spcPct val="155000"/>
              </a:lnSpc>
              <a:spcAft>
                <a:spcPts val="0"/>
              </a:spcAft>
            </a:pPr>
            <a:r>
              <a:rPr sz="1600" b="0" lang="ko-KR" altLang="en-US">
                <a:solidFill>
                  <a:srgbClr val="000000"/>
                </a:solidFill>
                <a:latin typeface="나눔스퀘어 ExtraBold"/>
                <a:ea typeface="나눔스퀘어 ExtraBold"/>
              </a:rPr>
              <a:t>Q5.  </a:t>
            </a:r>
            <a:r>
              <a:rPr sz="1600" b="0" lang="ko-KR" altLang="en-US">
                <a:solidFill>
                  <a:srgbClr val="000000"/>
                </a:solidFill>
                <a:latin typeface="나눔스퀘어"/>
                <a:ea typeface="나눔스퀘어"/>
              </a:rPr>
              <a:t>오디오는 현재 어디까지 연결되었는가?</a:t>
            </a:r>
          </a:p>
          <a:p>
            <a:pPr eaLnBrk="0" latinLnBrk="0" algn="l">
              <a:lnSpc>
                <a:spcPct val="155000"/>
              </a:lnSpc>
              <a:spcAft>
                <a:spcPts val="0"/>
              </a:spcAft>
            </a:pPr>
            <a:r>
              <a:rPr sz="1600" b="0" lang="ko-KR" altLang="en-US">
                <a:solidFill>
                  <a:srgbClr val="000000"/>
                </a:solidFill>
                <a:latin typeface="나눔스퀘어 ExtraBold"/>
                <a:ea typeface="나눔스퀘어 ExtraBold"/>
              </a:rPr>
              <a:t>Q6.  </a:t>
            </a:r>
            <a:r>
              <a:rPr sz="1600" b="0" lang="ko-KR" altLang="en-US">
                <a:solidFill>
                  <a:srgbClr val="000000"/>
                </a:solidFill>
                <a:latin typeface="나눔스퀘어"/>
                <a:ea typeface="나눔스퀘어"/>
              </a:rPr>
              <a:t>실제 프로젝터에서 검증했는가?</a:t>
            </a:r>
          </a:p>
          <a:p>
            <a:pPr eaLnBrk="0" latinLnBrk="0" algn="l">
              <a:lnSpc>
                <a:spcPct val="155000"/>
              </a:lnSpc>
              <a:spcAft>
                <a:spcPts val="0"/>
              </a:spcAft>
            </a:pPr>
            <a:r>
              <a:rPr sz="1600" b="0" lang="ko-KR" altLang="en-US">
                <a:solidFill>
                  <a:srgbClr val="000000"/>
                </a:solidFill>
                <a:latin typeface="나눔스퀘어 ExtraBold"/>
                <a:ea typeface="나눔스퀘어 ExtraBold"/>
              </a:rPr>
              <a:t>Q7.  </a:t>
            </a:r>
            <a:r>
              <a:rPr sz="1600" b="0" lang="ko-KR" altLang="en-US">
                <a:solidFill>
                  <a:srgbClr val="000000"/>
                </a:solidFill>
                <a:latin typeface="나눔스퀘어"/>
                <a:ea typeface="나눔스퀘어"/>
              </a:rPr>
              <a:t>oracle 선택 용량이 자동 분할 정확도인가?</a:t>
            </a:r>
          </a:p>
          <a:p>
            <a:pPr eaLnBrk="0" latinLnBrk="0" algn="l">
              <a:lnSpc>
                <a:spcPct val="155000"/>
              </a:lnSpc>
              <a:spcAft>
                <a:spcPts val="400"/>
              </a:spcAft>
            </a:pPr>
            <a:r>
              <a:rPr sz="1300" b="0" lang="ko-KR" altLang="en-US">
                <a:solidFill>
                  <a:srgbClr val="595959"/>
                </a:solidFill>
                <a:latin typeface="나눔스퀘어"/>
                <a:ea typeface="나눔스퀘어"/>
              </a:rPr>
              <a:t>답변은 이 장의 슬라이드 노트에 있습니다.</a:t>
            </a:r>
          </a:p>
        </p:txBody>
      </p:sp>
    </p:spTree>
    <p:extLst>
      <p:ext uri="{BB962C8B-B14F-4D97-AF65-F5344CB8AC3E}">
        <p14:creationId xmlns:p14="http://schemas.microsoft.com/office/powerpoint/2010/main" val="853719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E6405-DE8B-482E-BB8C-9EC1A7F0E806}"/>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부록 D. 카메라 없는 DLT 보정</a:t>
            </a:r>
          </a:p>
        </p:txBody>
      </p:sp>
      <p:sp>
        <p:nvSpPr>
          <p:cNvPr id="16" name="직선 연결선 14">
            <a:extLst>
              <a:ext uri="{FF2B5EF4-FFF2-40B4-BE49-F238E27FC236}">
                <a16:creationId xmlns:a16="http://schemas.microsoft.com/office/drawing/2014/main" id="{F7A7E31E-308E-4349-840B-5A5A87909131}"/>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E371EA94-63A8-47DE-B169-8775D1F05CB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a:extLst>
              <a:ext uri="{FF2B5EF4-FFF2-40B4-BE49-F238E27FC236}">
                <a16:creationId xmlns:a16="http://schemas.microsoft.com/office/drawing/2014/main" id="{8BC306B2-D947-4A93-8D0B-AD058BB50850}"/>
              </a:ext>
            </a:extLst>
          </p:cNvPr>
          <p:cNvSpPr>
            <a:spLocks noGrp="1"/>
          </p:cNvSpPr>
          <p:nvPr/>
        </p:nvSpPr>
        <p:spPr>
          <a:xfrm>
            <a:off x="830275" y="1481328"/>
            <a:ext cx="5486400" cy="4572000"/>
          </a:xfrm>
          <a:prstGeom prst="rect">
            <a:avLst/>
          </a:prstGeom>
          <a:noFill/>
        </p:spPr>
        <p:txBody>
          <a:bodyPr wrap="square" lIns="45720" rIns="45720" anchor="t">
            <a:noAutofit/>
          </a:bodyPr>
          <a:lstStyle/>
          <a:p>
            <a:pPr algn="l" eaLnBrk="0" latinLnBrk="0">
              <a:lnSpc>
                <a:spcPct val="135000"/>
              </a:lnSpc>
              <a:spcAft>
                <a:spcPts val="0"/>
              </a:spcAft>
              <a:buNone/>
            </a:pPr>
            <a:r>
              <a:rPr sz="1600" b="0" lang="ko-KR" altLang="en-US">
                <a:solidFill>
                  <a:srgbClr val="000000"/>
                </a:solidFill>
                <a:latin typeface="나눔스퀘어 Bold"/>
                <a:ea typeface="나눔스퀘어 Bold"/>
                <a:cs typeface="나눔스퀘어 Bold"/>
              </a:rPr>
              <a:t>흐름</a:t>
            </a:r>
          </a:p>
          <a:p>
            <a:pPr marL="283464" indent="-283464" algn="l" eaLnBrk="0" latinLnBrk="0">
              <a:lnSpc>
                <a:spcPct val="135000"/>
              </a:lnSpc>
              <a:spcAft>
                <a:spcPts val="0"/>
              </a:spcAft>
              <a:buFont typeface="Arial"/>
              <a:buChar char="•"/>
            </a:pPr>
            <a:r>
              <a:rPr sz="1400" b="0" lang="ko-KR" altLang="en-US">
                <a:solidFill>
                  <a:srgbClr val="000000"/>
                </a:solidFill>
                <a:latin typeface="나눔스퀘어"/>
                <a:ea typeface="나눔스퀘어"/>
                <a:cs typeface="나눔스퀘어"/>
              </a:rPr>
              <a:t>saliency 추천점 → 프로젝터 화면 마커를 실물에 맞춤</a:t>
            </a:r>
          </a:p>
          <a:p>
            <a:pPr marL="283464" indent="-283464" algn="l" eaLnBrk="0" latinLnBrk="0">
              <a:lnSpc>
                <a:spcPct val="135000"/>
              </a:lnSpc>
              <a:spcAft>
                <a:spcPts val="0"/>
              </a:spcAft>
              <a:buFont typeface="Arial"/>
              <a:buChar char="•"/>
            </a:pPr>
            <a:r>
              <a:rPr sz="1400" b="0" lang="ko-KR" altLang="en-US">
                <a:solidFill>
                  <a:srgbClr val="000000"/>
                </a:solidFill>
                <a:latin typeface="나눔스퀘어"/>
                <a:ea typeface="나눔스퀘어"/>
                <a:cs typeface="나눔스퀘어"/>
              </a:rPr>
              <a:t>DLT로 3x4 투영 행렬 (미지수 11개, 최소 6점)</a:t>
            </a:r>
          </a:p>
          <a:p>
            <a:pPr marL="283464" indent="-283464" algn="l" eaLnBrk="0" latinLnBrk="0">
              <a:lnSpc>
                <a:spcPct val="135000"/>
              </a:lnSpc>
              <a:spcAft>
                <a:spcPts val="0"/>
              </a:spcAft>
              <a:buFont typeface="Arial"/>
              <a:buChar char="•"/>
            </a:pPr>
            <a:r>
              <a:rPr sz="1400" b="0" lang="ko-KR" altLang="en-US">
                <a:solidFill>
                  <a:srgbClr val="000000"/>
                </a:solidFill>
                <a:latin typeface="나눔스퀘어"/>
                <a:ea typeface="나눔스퀘어"/>
                <a:cs typeface="나눔스퀘어"/>
              </a:rPr>
              <a:t>Hartley 정규화, RQ 분해 → 위치, 방향, fx, fy, 주점</a:t>
            </a:r>
          </a:p>
          <a:p>
            <a:pPr marL="283464" indent="-283464" algn="l" eaLnBrk="0" latinLnBrk="0">
              <a:lnSpc>
                <a:spcPct val="135000"/>
              </a:lnSpc>
              <a:spcAft>
                <a:spcPts val="0"/>
              </a:spcAft>
              <a:buFont typeface="Arial"/>
              <a:buChar char="•"/>
            </a:pPr>
            <a:r>
              <a:rPr sz="1400" b="0" lang="ko-KR" altLang="en-US">
                <a:solidFill>
                  <a:srgbClr val="000000"/>
                </a:solidFill>
                <a:latin typeface="나눔스퀘어"/>
                <a:ea typeface="나눔스퀘어"/>
                <a:cs typeface="나눔스퀘어"/>
              </a:rPr>
              <a:t>깨진 해 적용 보류, 유독 어긋난 마커 표시</a:t>
            </a:r>
          </a:p>
          <a:p>
            <a:pPr algn="l" eaLnBrk="0" latinLnBrk="0">
              <a:lnSpc>
                <a:spcPct val="135000"/>
              </a:lnSpc>
              <a:spcAft>
                <a:spcPts val="0"/>
              </a:spcAft>
              <a:buNone/>
            </a:pPr>
            <a:r>
              <a:rPr sz="1600" b="0" lang="ko-KR" altLang="en-US">
                <a:solidFill>
                  <a:srgbClr val="000000"/>
                </a:solidFill>
                <a:latin typeface="나눔스퀘어 Bold"/>
                <a:ea typeface="나눔스퀘어 Bold"/>
                <a:cs typeface="나눔스퀘어 Bold"/>
              </a:rPr>
              <a:t>가상 검증</a:t>
            </a:r>
          </a:p>
          <a:p>
            <a:pPr marL="283464" indent="-283464" algn="l" eaLnBrk="0" latinLnBrk="0">
              <a:lnSpc>
                <a:spcPct val="135000"/>
              </a:lnSpc>
              <a:spcAft>
                <a:spcPts val="0"/>
              </a:spcAft>
              <a:buFont typeface="Arial"/>
              <a:buChar char="•"/>
            </a:pPr>
            <a:r>
              <a:rPr sz="1400" b="0" lang="ko-KR" altLang="en-US">
                <a:solidFill>
                  <a:srgbClr val="000000"/>
                </a:solidFill>
                <a:latin typeface="나눔스퀘어"/>
                <a:ea typeface="나눔스퀘어"/>
                <a:cs typeface="나눔스퀘어"/>
              </a:rPr>
              <a:t>오차 없는 대응점: 재투영 258.5px → 0.0001px</a:t>
            </a:r>
          </a:p>
          <a:p>
            <a:pPr marL="283464" indent="-283464" algn="l" eaLnBrk="0" latinLnBrk="0">
              <a:lnSpc>
                <a:spcPct val="135000"/>
              </a:lnSpc>
              <a:spcAft>
                <a:spcPts val="0"/>
              </a:spcAft>
              <a:buFont typeface="Arial"/>
              <a:buChar char="•"/>
            </a:pPr>
            <a:r>
              <a:rPr sz="1400" b="0" lang="ko-KR" altLang="en-US">
                <a:solidFill>
                  <a:srgbClr val="000000"/>
                </a:solidFill>
                <a:latin typeface="나눔스퀘어"/>
                <a:ea typeface="나눔스퀘어"/>
                <a:cs typeface="나눔스퀘어"/>
              </a:rPr>
              <a:t>손떨림 ±1px: 6점 0.99px, 10점 0.71px, 20점 0.46px</a:t>
            </a:r>
          </a:p>
          <a:p>
            <a:pPr marL="283464" indent="-283464" algn="l" eaLnBrk="0" latinLnBrk="0">
              <a:lnSpc>
                <a:spcPct val="135000"/>
              </a:lnSpc>
              <a:spcAft>
                <a:spcPts val="0"/>
              </a:spcAft>
              <a:buFont typeface="Arial"/>
              <a:buChar char="•"/>
            </a:pPr>
            <a:r>
              <a:rPr sz="1400" b="0" lang="ko-KR" altLang="en-US">
                <a:solidFill>
                  <a:srgbClr val="000000"/>
                </a:solidFill>
                <a:latin typeface="나눔스퀘어"/>
                <a:ea typeface="나눔스퀘어"/>
                <a:cs typeface="나눔스퀘어"/>
              </a:rPr>
              <a:t>의심 마커 표시: 틀린 마커 74% 적중, 오경보 0%</a:t>
            </a:r>
          </a:p>
        </p:txBody>
      </p:sp>
      <p:sp>
        <p:nvSpPr>
          <p:cNvPr id="19" name="그림 자리: Unity 조작 화면과 프로젝터 화면 캡처">
            <a:extLst>
              <a:ext uri="{FF2B5EF4-FFF2-40B4-BE49-F238E27FC236}">
                <a16:creationId xmlns:a16="http://schemas.microsoft.com/office/drawing/2014/main" id="{9E48BBCB-17DC-41C3-A202-B68F6265C8AA}"/>
              </a:ext>
            </a:extLst>
          </p:cNvPr>
          <p:cNvSpPr>
            <a:spLocks noGrp="1"/>
          </p:cNvSpPr>
          <p:nvPr/>
        </p:nvSpPr>
        <p:spPr>
          <a:xfrm>
            <a:off x="6583680" y="1600200"/>
            <a:ext cx="4754880" cy="4480560"/>
          </a:xfrm>
          <a:prstGeom prst="roundRect">
            <a:avLst>
              <a:gd name="adj" fmla="val 2000"/>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100" b="0" lang="ko-KR" altLang="en-US">
                <a:solidFill>
                  <a:srgbClr val="595959"/>
                </a:solidFill>
                <a:latin typeface="나눔스퀘어 Bold"/>
                <a:ea typeface="나눔스퀘어 Bold"/>
                <a:cs typeface="나눔스퀘어 Bold"/>
              </a:rPr>
              <a:t>[그림]</a:t>
            </a:r>
          </a:p>
          <a:p>
            <a:pPr algn="ctr" eaLnBrk="0" latinLnBrk="0">
              <a:spcAft>
                <a:spcPts val="200"/>
              </a:spcAft>
              <a:buNone/>
            </a:pPr>
            <a:r>
              <a:rPr sz="1100" b="0" lang="ko-KR" altLang="en-US">
                <a:solidFill>
                  <a:srgbClr val="595959"/>
                </a:solidFill>
                <a:latin typeface="나눔스퀘어"/>
                <a:ea typeface="나눔스퀘어"/>
                <a:cs typeface="나눔스퀘어"/>
              </a:rPr>
              <a:t>Unity 조작 화면과 프로젝터 화면 캡처</a:t>
            </a:r>
          </a:p>
        </p:txBody>
      </p:sp>
    </p:spTree>
    <p:extLst>
      <p:ext uri="{BB962C8B-B14F-4D97-AF65-F5344CB8AC3E}">
        <p14:creationId xmlns:p14="http://schemas.microsoft.com/office/powerpoint/2010/main" val="1530508415"/>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부록 E. 역할 점수와 전달 식</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10522915" cy="4663440"/>
          </a:xfrm>
          <a:prstGeom prst="rect">
            <a:avLst/>
          </a:prstGeom>
          <a:noFill/>
        </p:spPr>
        <p:txBody>
          <a:bodyPr wrap="square" anchor="t" lIns="45720" rIns="45720">
            <a:noAutofit/>
          </a:bodyPr>
          <a:lstStyle/>
          <a:p>
            <a:pPr eaLnBrk="0" latinLnBrk="0" algn="l">
              <a:lnSpc>
                <a:spcPct val="120000"/>
              </a:lnSpc>
              <a:spcAft>
                <a:spcPts val="300"/>
              </a:spcAft>
            </a:pPr>
            <a:r>
              <a:rPr sz="1500" b="0" lang="ko-KR" altLang="en-US">
                <a:solidFill>
                  <a:srgbClr val="000000"/>
                </a:solidFill>
                <a:latin typeface="나눔스퀘어 Bold"/>
                <a:ea typeface="나눔스퀘어 Bold"/>
              </a:rPr>
              <a:t>역할 자동 제안 (영역 descriptor는 robust 정규화)</a:t>
            </a:r>
          </a:p>
          <a:p>
            <a:pPr eaLnBrk="0" latinLnBrk="0" algn="l" marL="283464" indent="-283464">
              <a:lnSpc>
                <a:spcPct val="120000"/>
              </a:lnSpc>
              <a:spcAft>
                <a:spcPts val="200"/>
              </a:spcAft>
              <a:buFont typeface="Arial"/>
              <a:buChar char="•"/>
            </a:pPr>
            <a:r>
              <a:rPr sz="1350" b="0" lang="ko-KR" altLang="en-US">
                <a:solidFill>
                  <a:srgbClr val="000000"/>
                </a:solidFill>
                <a:latin typeface="나눔스퀘어"/>
                <a:ea typeface="나눔스퀘어"/>
              </a:rPr>
              <a:t>source = 0.42 radial + 0.38 salience + 0.20 small,  salience = robust01(0.55 boundary + 0.45 normal variation)</a:t>
            </a:r>
          </a:p>
          <a:p>
            <a:pPr eaLnBrk="0" latinLnBrk="0" algn="l" marL="283464" indent="-283464">
              <a:lnSpc>
                <a:spcPct val="120000"/>
              </a:lnSpc>
              <a:spcAft>
                <a:spcPts val="200"/>
              </a:spcAft>
              <a:buFont typeface="Arial"/>
              <a:buChar char="•"/>
            </a:pPr>
            <a:r>
              <a:rPr sz="1350" b="0" lang="ko-KR" altLang="en-US">
                <a:solidFill>
                  <a:srgbClr val="000000"/>
                </a:solidFill>
                <a:latin typeface="나눔스퀘어"/>
                <a:ea typeface="나눔스퀘어"/>
              </a:rPr>
              <a:t>path = 0.42 degree + 0.33 elongation + 0.25 source→sink route</a:t>
            </a:r>
          </a:p>
          <a:p>
            <a:pPr eaLnBrk="0" latinLnBrk="0" algn="l" marL="283464" indent="-283464">
              <a:lnSpc>
                <a:spcPct val="120000"/>
              </a:lnSpc>
              <a:spcAft>
                <a:spcPts val="200"/>
              </a:spcAft>
              <a:buFont typeface="Arial"/>
              <a:buChar char="•"/>
            </a:pPr>
            <a:r>
              <a:rPr sz="1350" b="0" lang="ko-KR" altLang="en-US">
                <a:solidFill>
                  <a:srgbClr val="000000"/>
                </a:solidFill>
                <a:latin typeface="나눔스퀘어"/>
                <a:ea typeface="나눔스퀘어"/>
              </a:rPr>
              <a:t>barrier = 0.52 boundary + 0.28 open + 0.20 (1 − degree)</a:t>
            </a:r>
          </a:p>
          <a:p>
            <a:pPr eaLnBrk="0" latinLnBrk="0" algn="l" marL="283464" indent="-283464">
              <a:lnSpc>
                <a:spcPct val="120000"/>
              </a:lnSpc>
              <a:spcAft>
                <a:spcPts val="200"/>
              </a:spcAft>
              <a:buFont typeface="Arial"/>
              <a:buChar char="•"/>
            </a:pPr>
            <a:r>
              <a:rPr sz="1350" b="0" lang="ko-KR" altLang="en-US">
                <a:solidFill>
                  <a:srgbClr val="000000"/>
                </a:solidFill>
                <a:latin typeface="나눔스퀘어"/>
                <a:ea typeface="나눔스퀘어"/>
              </a:rPr>
              <a:t>reservoir = 0.58 area + 0.25 centrality + 0.17 (1 − boundary)</a:t>
            </a:r>
          </a:p>
          <a:p>
            <a:pPr eaLnBrk="0" latinLnBrk="0" algn="l" marL="283464" indent="-283464">
              <a:lnSpc>
                <a:spcPct val="120000"/>
              </a:lnSpc>
              <a:spcAft>
                <a:spcPts val="200"/>
              </a:spcAft>
              <a:buFont typeface="Arial"/>
              <a:buChar char="•"/>
            </a:pPr>
            <a:r>
              <a:rPr sz="1350" b="0" lang="ko-KR" altLang="en-US">
                <a:solidFill>
                  <a:srgbClr val="000000"/>
                </a:solidFill>
                <a:latin typeface="나눔스퀘어"/>
                <a:ea typeface="나눔스퀘어"/>
              </a:rPr>
              <a:t>modifier = 0.58 normal variation + 0.25 small + 0.17 boundary</a:t>
            </a:r>
          </a:p>
          <a:p>
            <a:pPr eaLnBrk="0" latinLnBrk="0" algn="l" marL="283464" indent="-283464">
              <a:lnSpc>
                <a:spcPct val="120000"/>
              </a:lnSpc>
              <a:spcAft>
                <a:spcPts val="200"/>
              </a:spcAft>
              <a:buFont typeface="Arial"/>
              <a:buChar char="•"/>
            </a:pPr>
            <a:r>
              <a:rPr sz="1350" b="0" lang="ko-KR" altLang="en-US">
                <a:solidFill>
                  <a:srgbClr val="000000"/>
                </a:solidFill>
                <a:latin typeface="나눔스퀘어"/>
                <a:ea typeface="나눔스퀘어"/>
              </a:rPr>
              <a:t>sink = 0.58 distance from source + 0.24 area + 0.18 (1 − salience)</a:t>
            </a:r>
          </a:p>
          <a:p>
            <a:pPr eaLnBrk="0" latinLnBrk="0" algn="l" marL="283464" indent="-283464">
              <a:lnSpc>
                <a:spcPct val="120000"/>
              </a:lnSpc>
              <a:spcAft>
                <a:spcPts val="1000"/>
              </a:spcAft>
              <a:buFont typeface="Arial"/>
              <a:buChar char="•"/>
            </a:pPr>
            <a:r>
              <a:rPr sz="1350" b="0" lang="ko-KR" altLang="en-US">
                <a:solidFill>
                  <a:srgbClr val="000000"/>
                </a:solidFill>
                <a:latin typeface="나눔스퀘어"/>
                <a:ea typeface="나눔스퀘어"/>
              </a:rPr>
              <a:t>역할 가중치 = softmax(T = 0.22), face field = membership × 영역 역할 가중치</a:t>
            </a:r>
          </a:p>
          <a:p>
            <a:pPr eaLnBrk="0" latinLnBrk="0" algn="l">
              <a:lnSpc>
                <a:spcPct val="120000"/>
              </a:lnSpc>
              <a:spcAft>
                <a:spcPts val="300"/>
              </a:spcAft>
            </a:pPr>
            <a:r>
              <a:rPr sz="1500" b="0" lang="ko-KR" altLang="en-US">
                <a:solidFill>
                  <a:srgbClr val="000000"/>
                </a:solidFill>
                <a:latin typeface="나눔스퀘어 Bold"/>
                <a:ea typeface="나눔스퀘어 Bold"/>
              </a:rPr>
              <a:t>전달과 표면 상태</a:t>
            </a:r>
          </a:p>
          <a:p>
            <a:pPr eaLnBrk="0" latinLnBrk="0" algn="l" marL="283464" indent="-283464">
              <a:lnSpc>
                <a:spcPct val="120000"/>
              </a:lnSpc>
              <a:spcAft>
                <a:spcPts val="200"/>
              </a:spcAft>
              <a:buFont typeface="Arial"/>
              <a:buChar char="•"/>
            </a:pPr>
            <a:r>
              <a:rPr sz="1350" b="0" lang="ko-KR" altLang="en-US">
                <a:solidFill>
                  <a:srgbClr val="000000"/>
                </a:solidFill>
                <a:latin typeface="나눔스퀘어"/>
                <a:ea typeface="나눔스퀘어"/>
              </a:rPr>
              <a:t>path_edge = behavior × [0.15 + 0.85 mean(path)],  barrier_edge = behavior × mean(barrier)</a:t>
            </a:r>
          </a:p>
          <a:p>
            <a:pPr eaLnBrk="0" latinLnBrk="0" algn="l" marL="283464" indent="-283464">
              <a:lnSpc>
                <a:spcPct val="120000"/>
              </a:lnSpc>
              <a:spcAft>
                <a:spcPts val="200"/>
              </a:spcAft>
              <a:buFont typeface="Arial"/>
              <a:buChar char="•"/>
            </a:pPr>
            <a:r>
              <a:rPr sz="1350" b="0" lang="ko-KR" altLang="en-US">
                <a:solidFill>
                  <a:srgbClr val="000000"/>
                </a:solidFill>
                <a:latin typeface="나눔스퀘어"/>
                <a:ea typeface="나눔스퀘어"/>
              </a:rPr>
              <a:t>T = path_edge × (1 − 0.72 barrier_edge), 대각 1, 행 정규화</a:t>
            </a:r>
          </a:p>
          <a:p>
            <a:pPr eaLnBrk="0" latinLnBrk="0" algn="l" marL="283464" indent="-283464">
              <a:lnSpc>
                <a:spcPct val="120000"/>
              </a:lnSpc>
              <a:spcAft>
                <a:spcPts val="200"/>
              </a:spcAft>
              <a:buFont typeface="Arial"/>
              <a:buChar char="•"/>
            </a:pPr>
            <a:r>
              <a:rPr sz="1350" b="0" lang="ko-KR" altLang="en-US">
                <a:solidFill>
                  <a:srgbClr val="000000"/>
                </a:solidFill>
                <a:latin typeface="나눔스퀘어"/>
                <a:ea typeface="나눔스퀘어"/>
              </a:rPr>
              <a:t>state(t+1) = decay · state(t) + source 주입 + 표면 확산 + 영역 전이 − sink 제거</a:t>
            </a:r>
          </a:p>
          <a:p>
            <a:pPr eaLnBrk="0" latinLnBrk="0" algn="l" marL="283464" indent="-283464">
              <a:lnSpc>
                <a:spcPct val="120000"/>
              </a:lnSpc>
              <a:spcAft>
                <a:spcPts val="200"/>
              </a:spcAft>
              <a:buFont typeface="Arial"/>
              <a:buChar char="•"/>
            </a:pPr>
            <a:r>
              <a:rPr sz="1350" b="0" lang="ko-KR" altLang="en-US">
                <a:solidFill>
                  <a:srgbClr val="000000"/>
                </a:solidFill>
                <a:latin typeface="나눔스퀘어"/>
                <a:ea typeface="나눔스퀘어"/>
              </a:rPr>
              <a:t>effective rank D = exp(−Σ p_i ln p_i),  p_i = s_i / Σ s (특이값 비율)</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부록 F. 모델과 실행 설정</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graphicFrame>
        <p:nvGraphicFramePr>
          <p:cNvPr id="18" name="Table 17"/>
          <p:cNvGraphicFramePr>
            <a:graphicFrameLocks noGrp="1"/>
          </p:cNvGraphicFramePr>
          <p:nvPr/>
        </p:nvGraphicFramePr>
        <p:xfrm>
          <a:off x="830275" y="1600200"/>
          <a:ext cx="10515600" cy="3401568"/>
        </p:xfrm>
        <a:graphic>
          <a:graphicData uri="http://schemas.openxmlformats.org/drawingml/2006/table">
            <a:tbl>
              <a:tblPr firstRow="1" bandRow="0">
                <a:tableStyleId>{2D5ABB26-0587-4C30-8999-92F81FD0307C}</a:tableStyleId>
              </a:tblPr>
              <a:tblGrid>
                <a:gridCol w="2103120"/>
                <a:gridCol w="3291840"/>
                <a:gridCol w="3017520"/>
                <a:gridCol w="2103120"/>
              </a:tblGrid>
              <a:tr h="566928">
                <a:tc>
                  <a:txBody>
                    <a:bodyPr wrap="square"/>
                    <a:lstStyle/>
                    <a:p>
                      <a:pPr eaLnBrk="0" latinLnBrk="0" algn="l"/>
                      <a:r>
                        <a:rPr sz="1250" b="0" lang="ko-KR" altLang="en-US">
                          <a:solidFill>
                            <a:srgbClr val="000000"/>
                          </a:solidFill>
                          <a:latin typeface="나눔스퀘어 Bold"/>
                          <a:ea typeface="나눔스퀘어 Bold"/>
                        </a:rPr>
                        <a:t>모델</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250" b="0" lang="ko-KR" altLang="en-US">
                          <a:solidFill>
                            <a:srgbClr val="000000"/>
                          </a:solidFill>
                          <a:latin typeface="나눔스퀘어 Bold"/>
                          <a:ea typeface="나눔스퀘어 Bold"/>
                        </a:rPr>
                        <a:t>checkpoint</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250" b="0" lang="ko-KR" altLang="en-US">
                          <a:solidFill>
                            <a:srgbClr val="000000"/>
                          </a:solidFill>
                          <a:latin typeface="나눔스퀘어 Bold"/>
                          <a:ea typeface="나눔스퀘어 Bold"/>
                        </a:rPr>
                        <a:t>넣는 것</a:t>
                      </a:r>
                    </a:p>
                  </a:txBody>
                  <a:tcPr marL="64008" marR="64008"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250" b="0" lang="ko-KR" altLang="en-US">
                          <a:solidFill>
                            <a:srgbClr val="000000"/>
                          </a:solidFill>
                          <a:latin typeface="나눔스퀘어 Bold"/>
                          <a:ea typeface="나눔스퀘어 Bold"/>
                        </a:rPr>
                        <a:t>받는 것</a:t>
                      </a:r>
                    </a:p>
                  </a:txBody>
                  <a:tcPr marL="64008" marR="64008" marT="27432" marB="27432" anchor="ctr">
                    <a:lnL w="0">
                      <a:noFill/>
                    </a:lnL>
                    <a:lnR w="0">
                      <a:noFill/>
                    </a:lnR>
                    <a:lnT w="19050">
                      <a:solidFill>
                        <a:srgbClr val="000000"/>
                      </a:solidFill>
                    </a:lnT>
                    <a:lnB w="12700">
                      <a:solidFill>
                        <a:srgbClr val="000000"/>
                      </a:solidFill>
                    </a:lnB>
                    <a:noFill/>
                  </a:tcPr>
                </a:tc>
              </a:tr>
              <a:tr h="566928">
                <a:tc>
                  <a:txBody>
                    <a:bodyPr wrap="square"/>
                    <a:lstStyle/>
                    <a:p>
                      <a:pPr eaLnBrk="0" latinLnBrk="0" algn="l"/>
                      <a:r>
                        <a:rPr sz="1250" b="0" lang="ko-KR" altLang="en-US">
                          <a:solidFill>
                            <a:srgbClr val="000000"/>
                          </a:solidFill>
                          <a:latin typeface="나눔스퀘어 Bold"/>
                          <a:ea typeface="나눔스퀘어 Bold"/>
                        </a:rPr>
                        <a:t>PartField</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model_objaverse.ckpt</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정규화 메시</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face별 448-D 특징</a:t>
                      </a:r>
                    </a:p>
                  </a:txBody>
                  <a:tcPr marL="64008" marR="64008" marT="27432" marB="27432" anchor="ctr">
                    <a:lnL w="0">
                      <a:noFill/>
                    </a:lnL>
                    <a:lnR w="0">
                      <a:noFill/>
                    </a:lnR>
                    <a:lnT w="0">
                      <a:noFill/>
                    </a:lnT>
                    <a:lnB w="6350">
                      <a:solidFill>
                        <a:srgbClr val="D9D9D9"/>
                      </a:solidFill>
                    </a:lnB>
                    <a:noFill/>
                  </a:tcPr>
                </a:tc>
              </a:tr>
              <a:tr h="566928">
                <a:tc>
                  <a:txBody>
                    <a:bodyPr wrap="square"/>
                    <a:lstStyle/>
                    <a:p>
                      <a:pPr eaLnBrk="0" latinLnBrk="0" algn="l"/>
                      <a:r>
                        <a:rPr sz="1250" b="0" lang="ko-KR" altLang="en-US">
                          <a:solidFill>
                            <a:srgbClr val="000000"/>
                          </a:solidFill>
                          <a:latin typeface="나눔스퀘어 Bold"/>
                          <a:ea typeface="나눔스퀘어 Bold"/>
                        </a:rPr>
                        <a:t>Grounding DINO</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grounding-dino-tiny</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1024² RGB + 부위어 36개 (box 0.15, text 0.20)</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2D box</a:t>
                      </a:r>
                    </a:p>
                  </a:txBody>
                  <a:tcPr marL="64008" marR="64008" marT="27432" marB="27432" anchor="ctr">
                    <a:lnL w="0">
                      <a:noFill/>
                    </a:lnL>
                    <a:lnR w="0">
                      <a:noFill/>
                    </a:lnR>
                    <a:lnT w="0">
                      <a:noFill/>
                    </a:lnT>
                    <a:lnB w="6350">
                      <a:solidFill>
                        <a:srgbClr val="D9D9D9"/>
                      </a:solidFill>
                    </a:lnB>
                    <a:noFill/>
                  </a:tcPr>
                </a:tc>
              </a:tr>
              <a:tr h="566928">
                <a:tc>
                  <a:txBody>
                    <a:bodyPr wrap="square"/>
                    <a:lstStyle/>
                    <a:p>
                      <a:pPr eaLnBrk="0" latinLnBrk="0" algn="l"/>
                      <a:r>
                        <a:rPr sz="1250" b="0" lang="ko-KR" altLang="en-US">
                          <a:solidFill>
                            <a:srgbClr val="000000"/>
                          </a:solidFill>
                          <a:latin typeface="나눔스퀘어 Bold"/>
                          <a:ea typeface="나눔스퀘어 Bold"/>
                        </a:rPr>
                        <a:t>SAM2</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sam2.1-hiera-small</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box 또는 격자 point</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2D mask → face ID로 3D·UV</a:t>
                      </a:r>
                    </a:p>
                  </a:txBody>
                  <a:tcPr marL="64008" marR="64008" marT="27432" marB="27432" anchor="ctr">
                    <a:lnL w="0">
                      <a:noFill/>
                    </a:lnL>
                    <a:lnR w="0">
                      <a:noFill/>
                    </a:lnR>
                    <a:lnT w="0">
                      <a:noFill/>
                    </a:lnT>
                    <a:lnB w="6350">
                      <a:solidFill>
                        <a:srgbClr val="D9D9D9"/>
                      </a:solidFill>
                    </a:lnB>
                    <a:noFill/>
                  </a:tcPr>
                </a:tc>
              </a:tr>
              <a:tr h="566928">
                <a:tc>
                  <a:txBody>
                    <a:bodyPr wrap="square"/>
                    <a:lstStyle/>
                    <a:p>
                      <a:pPr eaLnBrk="0" latinLnBrk="0" algn="l"/>
                      <a:r>
                        <a:rPr sz="1250" b="0" lang="ko-KR" altLang="en-US">
                          <a:solidFill>
                            <a:srgbClr val="000000"/>
                          </a:solidFill>
                          <a:latin typeface="나눔스퀘어 Bold"/>
                          <a:ea typeface="나눔스퀘어 Bold"/>
                        </a:rPr>
                        <a:t>FLUX.2 [klein] 9B KV</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flux-2-klein-9b-kv-fp8</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고정 렌더 + owner mask + prompt</a:t>
                      </a:r>
                    </a:p>
                  </a:txBody>
                  <a:tcPr marL="64008" marR="64008" marT="27432" marB="27432" anchor="ctr">
                    <a:lnL w="0">
                      <a:noFill/>
                    </a:lnL>
                    <a:lnR w="0">
                      <a:noFill/>
                    </a:lnR>
                    <a:lnT w="0">
                      <a:noFill/>
                    </a:lnT>
                    <a:lnB w="6350">
                      <a:solidFill>
                        <a:srgbClr val="D9D9D9"/>
                      </a:solidFill>
                    </a:lnB>
                    <a:noFill/>
                  </a:tcPr>
                </a:tc>
                <a:tc>
                  <a:txBody>
                    <a:bodyPr wrap="square"/>
                    <a:lstStyle/>
                    <a:p>
                      <a:pPr eaLnBrk="0" latinLnBrk="0" algn="l"/>
                      <a:r>
                        <a:rPr sz="1250" b="0" lang="ko-KR" altLang="en-US">
                          <a:solidFill>
                            <a:srgbClr val="000000"/>
                          </a:solidFill>
                          <a:latin typeface="나눔스퀘어"/>
                          <a:ea typeface="나눔스퀘어"/>
                        </a:rPr>
                        <a:t>peak 상태 1024²</a:t>
                      </a:r>
                    </a:p>
                  </a:txBody>
                  <a:tcPr marL="64008" marR="64008" marT="27432" marB="27432" anchor="ctr">
                    <a:lnL w="0">
                      <a:noFill/>
                    </a:lnL>
                    <a:lnR w="0">
                      <a:noFill/>
                    </a:lnR>
                    <a:lnT w="0">
                      <a:noFill/>
                    </a:lnT>
                    <a:lnB w="6350">
                      <a:solidFill>
                        <a:srgbClr val="D9D9D9"/>
                      </a:solidFill>
                    </a:lnB>
                    <a:noFill/>
                  </a:tcPr>
                </a:tc>
              </a:tr>
              <a:tr h="566928">
                <a:tc>
                  <a:txBody>
                    <a:bodyPr wrap="square"/>
                    <a:lstStyle/>
                    <a:p>
                      <a:pPr eaLnBrk="0" latinLnBrk="0" algn="l"/>
                      <a:r>
                        <a:rPr sz="1250" b="0" lang="ko-KR" altLang="en-US">
                          <a:solidFill>
                            <a:srgbClr val="000000"/>
                          </a:solidFill>
                          <a:latin typeface="나눔스퀘어 Bold"/>
                          <a:ea typeface="나눔스퀘어 Bold"/>
                        </a:rPr>
                        <a:t>LTX-2.3 22B distilled</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l"/>
                      <a:r>
                        <a:rPr sz="1250" b="0" lang="ko-KR" altLang="en-US">
                          <a:solidFill>
                            <a:srgbClr val="000000"/>
                          </a:solidFill>
                          <a:latin typeface="나눔스퀘어"/>
                          <a:ea typeface="나눔스퀘어"/>
                        </a:rPr>
                        <a:t>ltx-2.3-22b-distilled-1.1-int8, ×2 upscaler</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l"/>
                      <a:r>
                        <a:rPr sz="1250" b="0" lang="ko-KR" altLang="en-US">
                          <a:solidFill>
                            <a:srgbClr val="000000"/>
                          </a:solidFill>
                          <a:latin typeface="나눔스퀘어"/>
                          <a:ea typeface="나눔스퀘어"/>
                        </a:rPr>
                        <a:t>keyframe 6개 + prompt</a:t>
                      </a:r>
                    </a:p>
                  </a:txBody>
                  <a:tcPr marL="64008" marR="64008" marT="27432" marB="27432" anchor="ctr">
                    <a:lnL w="0">
                      <a:noFill/>
                    </a:lnL>
                    <a:lnR w="0">
                      <a:noFill/>
                    </a:lnR>
                    <a:lnT w="0">
                      <a:noFill/>
                    </a:lnT>
                    <a:lnB w="19050">
                      <a:solidFill>
                        <a:srgbClr val="000000"/>
                      </a:solidFill>
                    </a:lnB>
                    <a:noFill/>
                  </a:tcPr>
                </a:tc>
                <a:tc>
                  <a:txBody>
                    <a:bodyPr wrap="square"/>
                    <a:lstStyle/>
                    <a:p>
                      <a:pPr eaLnBrk="0" latinLnBrk="0" algn="l"/>
                      <a:r>
                        <a:rPr sz="1250" b="0" lang="ko-KR" altLang="en-US">
                          <a:solidFill>
                            <a:srgbClr val="000000"/>
                          </a:solidFill>
                          <a:latin typeface="나눔스퀘어"/>
                          <a:ea typeface="나눔스퀘어"/>
                        </a:rPr>
                        <a:t>145 frame (768² → 1536²)</a:t>
                      </a:r>
                    </a:p>
                  </a:txBody>
                  <a:tcPr marL="64008" marR="64008" marT="27432" marB="27432" anchor="ctr">
                    <a:lnL w="0">
                      <a:noFill/>
                    </a:lnL>
                    <a:lnR w="0">
                      <a:noFill/>
                    </a:lnR>
                    <a:lnT w="0">
                      <a:noFill/>
                    </a:lnT>
                    <a:lnB w="19050">
                      <a:solidFill>
                        <a:srgbClr val="000000"/>
                      </a:solidFill>
                    </a:lnB>
                    <a:noFill/>
                  </a:tcPr>
                </a:tc>
              </a:tr>
            </a:tbl>
          </a:graphicData>
        </a:graphic>
      </p:graphicFrame>
      <p:sp>
        <p:nvSpPr>
          <p:cNvPr id="19" name="TextBox 18"/>
          <p:cNvSpPr txBox="1"/>
          <p:nvPr/>
        </p:nvSpPr>
        <p:spPr>
          <a:xfrm>
            <a:off x="830275" y="5212080"/>
            <a:ext cx="10522915" cy="914400"/>
          </a:xfrm>
          <a:prstGeom prst="rect">
            <a:avLst/>
          </a:prstGeom>
          <a:noFill/>
        </p:spPr>
        <p:txBody>
          <a:bodyPr wrap="square" anchor="t" lIns="45720" rIns="45720">
            <a:noAutofit/>
          </a:bodyPr>
          <a:lstStyle/>
          <a:p>
            <a:pPr eaLnBrk="0" latinLnBrk="0" algn="l">
              <a:spcAft>
                <a:spcPts val="300"/>
              </a:spcAft>
            </a:pPr>
            <a:r>
              <a:rPr sz="1300" b="0" lang="ko-KR" altLang="en-US">
                <a:solidFill>
                  <a:srgbClr val="595959"/>
                </a:solidFill>
                <a:latin typeface="나눔스퀘어"/>
                <a:ea typeface="나눔스퀘어"/>
              </a:rPr>
              <a:t>실행 환경: NVIDIA RTX 3090, PyTorch 2.11 + CUDA 13.0</a:t>
            </a:r>
          </a:p>
          <a:p>
            <a:pPr eaLnBrk="0" latinLnBrk="0" algn="l">
              <a:spcAft>
                <a:spcPts val="300"/>
              </a:spcAft>
            </a:pPr>
            <a:r>
              <a:rPr sz="1300" b="0" lang="ko-KR" altLang="en-US">
                <a:solidFill>
                  <a:srgbClr val="595959"/>
                </a:solidFill>
                <a:latin typeface="나눔스퀘어"/>
                <a:ea typeface="나눔스퀘어"/>
              </a:rPr>
              <a:t>입력 고정~오디오 준비 6단계 40.2초 · FLUX 후보 4개 97초 · LTX 145 frame 1536² 약 57분 (작품 전체 소요 시간은 미측정)</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부록 G. 참고문헌</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81328"/>
            <a:ext cx="5166360" cy="4709160"/>
          </a:xfrm>
          <a:prstGeom prst="rect">
            <a:avLst/>
          </a:prstGeom>
          <a:noFill/>
        </p:spPr>
        <p:txBody>
          <a:bodyPr wrap="square" anchor="t" lIns="45720" rIns="45720">
            <a:noAutofit/>
          </a:bodyPr>
          <a:lstStyle/>
          <a:p>
            <a:pPr eaLnBrk="0" latinLnBrk="0" algn="l">
              <a:spcAft>
                <a:spcPts val="500"/>
              </a:spcAft>
            </a:pPr>
            <a:r>
              <a:rPr sz="1050" b="0" lang="ko-KR" altLang="en-US">
                <a:solidFill>
                  <a:srgbClr val="000000"/>
                </a:solidFill>
                <a:latin typeface="나눔스퀘어"/>
                <a:ea typeface="나눔스퀘어"/>
              </a:rPr>
              <a:t>[1] Liu, M. et al. PartField: Learning 3D Feature Fields for Part Segmentation and Beyond. ICCV 2025, 9704–9715.</a:t>
            </a:r>
          </a:p>
          <a:p>
            <a:pPr eaLnBrk="0" latinLnBrk="0" algn="l">
              <a:spcAft>
                <a:spcPts val="500"/>
              </a:spcAft>
            </a:pPr>
            <a:r>
              <a:rPr sz="1050" b="0" lang="ko-KR" altLang="en-US">
                <a:solidFill>
                  <a:srgbClr val="000000"/>
                </a:solidFill>
                <a:latin typeface="나눔스퀘어"/>
                <a:ea typeface="나눔스퀘어"/>
              </a:rPr>
              <a:t>[2] Liu, M. et al. PartSLIP: Low-Shot Part Segmentation for 3D Point Clouds via Pretrained Image-Language Models. CVPR 2023, 21736–21746.</a:t>
            </a:r>
          </a:p>
          <a:p>
            <a:pPr eaLnBrk="0" latinLnBrk="0" algn="l">
              <a:spcAft>
                <a:spcPts val="500"/>
              </a:spcAft>
            </a:pPr>
            <a:r>
              <a:rPr sz="1050" b="0" lang="ko-KR" altLang="en-US">
                <a:solidFill>
                  <a:srgbClr val="000000"/>
                </a:solidFill>
                <a:latin typeface="나눔스퀘어"/>
                <a:ea typeface="나눔스퀘어"/>
              </a:rPr>
              <a:t>[3] Liu, S. et al. Grounding DINO: Marrying DINO with Grounded Pre-Training for Open-Set Object Detection. ECCV 2024.</a:t>
            </a:r>
          </a:p>
          <a:p>
            <a:pPr eaLnBrk="0" latinLnBrk="0" algn="l">
              <a:spcAft>
                <a:spcPts val="500"/>
              </a:spcAft>
            </a:pPr>
            <a:r>
              <a:rPr sz="1050" b="0" lang="ko-KR" altLang="en-US">
                <a:solidFill>
                  <a:srgbClr val="000000"/>
                </a:solidFill>
                <a:latin typeface="나눔스퀘어"/>
                <a:ea typeface="나눔스퀘어"/>
              </a:rPr>
              <a:t>[4] Ravi, N. et al. SAM 2: Segment Anything in Images and Videos. ICLR 2025.</a:t>
            </a:r>
          </a:p>
          <a:p>
            <a:pPr eaLnBrk="0" latinLnBrk="0" algn="l">
              <a:spcAft>
                <a:spcPts val="500"/>
              </a:spcAft>
            </a:pPr>
            <a:r>
              <a:rPr sz="1050" b="0" lang="ko-KR" altLang="en-US">
                <a:solidFill>
                  <a:srgbClr val="000000"/>
                </a:solidFill>
                <a:latin typeface="나눔스퀘어"/>
                <a:ea typeface="나눔스퀘어"/>
              </a:rPr>
              <a:t>[5] Black Forest Labs. FLUX.2: Frontier Visual Intelligence. Official release, 2025.</a:t>
            </a:r>
          </a:p>
          <a:p>
            <a:pPr eaLnBrk="0" latinLnBrk="0" algn="l">
              <a:spcAft>
                <a:spcPts val="500"/>
              </a:spcAft>
            </a:pPr>
            <a:r>
              <a:rPr sz="1050" b="0" lang="ko-KR" altLang="en-US">
                <a:solidFill>
                  <a:srgbClr val="000000"/>
                </a:solidFill>
                <a:latin typeface="나눔스퀘어"/>
                <a:ea typeface="나눔스퀘어"/>
              </a:rPr>
              <a:t>[6] HaCohen, Y. et al. LTX-Video: Realtime Video Latent Diffusion. arXiv:2501.00103, 2024.</a:t>
            </a:r>
          </a:p>
          <a:p>
            <a:pPr eaLnBrk="0" latinLnBrk="0" algn="l">
              <a:spcAft>
                <a:spcPts val="500"/>
              </a:spcAft>
            </a:pPr>
            <a:r>
              <a:rPr sz="1050" b="0" lang="ko-KR" altLang="en-US">
                <a:solidFill>
                  <a:srgbClr val="000000"/>
                </a:solidFill>
                <a:latin typeface="나눔스퀘어"/>
                <a:ea typeface="나눔스퀘어"/>
              </a:rPr>
              <a:t>[7] Bao, J., Li, X., Yang, M.-H. Tex4D: Zero-shot 4D Scene Texturing with Video Diffusion Models. arXiv:2410.10821, 2024.</a:t>
            </a:r>
          </a:p>
          <a:p>
            <a:pPr eaLnBrk="0" latinLnBrk="0" algn="l">
              <a:spcAft>
                <a:spcPts val="500"/>
              </a:spcAft>
            </a:pPr>
            <a:r>
              <a:rPr sz="1050" b="0" lang="ko-KR" altLang="en-US">
                <a:solidFill>
                  <a:srgbClr val="000000"/>
                </a:solidFill>
                <a:latin typeface="나눔스퀘어"/>
                <a:ea typeface="나눔스퀘어"/>
              </a:rPr>
              <a:t>[8] Zhang, Y. et al. PixTex: Consistent 3D Texturing via Pixel-Space Multi-View Diffusion. SIGGRAPH Conference Papers 2026, Article 57.</a:t>
            </a:r>
          </a:p>
          <a:p>
            <a:pPr eaLnBrk="0" latinLnBrk="0" algn="l">
              <a:spcAft>
                <a:spcPts val="500"/>
              </a:spcAft>
            </a:pPr>
            <a:r>
              <a:rPr sz="1050" b="0" lang="ko-KR" altLang="en-US">
                <a:solidFill>
                  <a:srgbClr val="000000"/>
                </a:solidFill>
                <a:latin typeface="나눔스퀘어"/>
                <a:ea typeface="나눔스퀘어"/>
              </a:rPr>
              <a:t>[9] Zhang, H. et al. TexPainter: Generative Mesh Texturing with Multi-view Consistency. SIGGRAPH 2024 Conference Papers, Article 6.</a:t>
            </a:r>
          </a:p>
        </p:txBody>
      </p:sp>
      <p:sp>
        <p:nvSpPr>
          <p:cNvPr id="19" name="TextBox 18"/>
          <p:cNvSpPr txBox="1"/>
          <p:nvPr/>
        </p:nvSpPr>
        <p:spPr>
          <a:xfrm>
            <a:off x="6179515" y="1481328"/>
            <a:ext cx="5166360" cy="4709160"/>
          </a:xfrm>
          <a:prstGeom prst="rect">
            <a:avLst/>
          </a:prstGeom>
          <a:noFill/>
        </p:spPr>
        <p:txBody>
          <a:bodyPr wrap="square" anchor="t" lIns="45720" rIns="45720">
            <a:noAutofit/>
          </a:bodyPr>
          <a:lstStyle/>
          <a:p>
            <a:pPr eaLnBrk="0" latinLnBrk="0" algn="l">
              <a:spcAft>
                <a:spcPts val="500"/>
              </a:spcAft>
            </a:pPr>
            <a:r>
              <a:rPr sz="1050" b="0" lang="ko-KR" altLang="en-US">
                <a:solidFill>
                  <a:srgbClr val="000000"/>
                </a:solidFill>
                <a:latin typeface="나눔스퀘어"/>
                <a:ea typeface="나눔스퀘어"/>
              </a:rPr>
              <a:t>[10] Chen, D. Z. et al. Text2Tex: Text-driven Texture Synthesis via Diffusion Models. ICCV 2023, 18558–18568.</a:t>
            </a:r>
          </a:p>
          <a:p>
            <a:pPr eaLnBrk="0" latinLnBrk="0" algn="l">
              <a:spcAft>
                <a:spcPts val="500"/>
              </a:spcAft>
            </a:pPr>
            <a:r>
              <a:rPr sz="1050" b="0" lang="ko-KR" altLang="en-US">
                <a:solidFill>
                  <a:srgbClr val="000000"/>
                </a:solidFill>
                <a:latin typeface="나눔스퀘어"/>
                <a:ea typeface="나눔스퀘어"/>
              </a:rPr>
              <a:t>[11] Cheng, W. et al. MVPaint: Synchronized Multi-View Diffusion for Painting Anything 3D. CVPR 2025, 585–594.</a:t>
            </a:r>
          </a:p>
          <a:p>
            <a:pPr eaLnBrk="0" latinLnBrk="0" algn="l">
              <a:spcAft>
                <a:spcPts val="500"/>
              </a:spcAft>
            </a:pPr>
            <a:r>
              <a:rPr sz="1050" b="0" lang="ko-KR" altLang="en-US">
                <a:solidFill>
                  <a:srgbClr val="000000"/>
                </a:solidFill>
                <a:latin typeface="나눔스퀘어"/>
                <a:ea typeface="나눔스퀘어"/>
              </a:rPr>
              <a:t>[12] Böck, S., Widmer, G. Maximum Filter Vibrato Suppression for Onset Detection. DAFx-13, 2013.</a:t>
            </a:r>
          </a:p>
          <a:p>
            <a:pPr eaLnBrk="0" latinLnBrk="0" algn="l">
              <a:spcAft>
                <a:spcPts val="500"/>
              </a:spcAft>
            </a:pPr>
            <a:r>
              <a:rPr sz="1050" b="0" lang="ko-KR" altLang="en-US">
                <a:solidFill>
                  <a:srgbClr val="000000"/>
                </a:solidFill>
                <a:latin typeface="나눔스퀘어"/>
                <a:ea typeface="나눔스퀘어"/>
              </a:rPr>
              <a:t>[13] FitzGerald, D. Harmonic/Percussive Separation Using Median Filtering. DAFx-10, 2010, 217–220.</a:t>
            </a:r>
          </a:p>
          <a:p>
            <a:pPr eaLnBrk="0" latinLnBrk="0" algn="l">
              <a:spcAft>
                <a:spcPts val="500"/>
              </a:spcAft>
            </a:pPr>
            <a:r>
              <a:rPr sz="1050" b="0" lang="ko-KR" altLang="en-US">
                <a:solidFill>
                  <a:srgbClr val="000000"/>
                </a:solidFill>
                <a:latin typeface="나눔스퀘어"/>
                <a:ea typeface="나눔스퀘어"/>
              </a:rPr>
              <a:t>[14] Raskar, R. et al. Shader Lamps: Animating Real Objects with Image-Based Illumination. EGWR 2001, 89–102.</a:t>
            </a:r>
          </a:p>
          <a:p>
            <a:pPr eaLnBrk="0" latinLnBrk="0" algn="l">
              <a:spcAft>
                <a:spcPts val="500"/>
              </a:spcAft>
            </a:pPr>
            <a:r>
              <a:rPr sz="1050" b="0" lang="ko-KR" altLang="en-US">
                <a:solidFill>
                  <a:srgbClr val="000000"/>
                </a:solidFill>
                <a:latin typeface="나눔스퀘어"/>
                <a:ea typeface="나눔스퀘어"/>
              </a:rPr>
              <a:t>[15] Liu, J., Li, Y., Goel, M. A Semantic-Based Approach to Digital Content Placement for Immersive Environments. The Visual Computer 39, 2023.</a:t>
            </a:r>
          </a:p>
          <a:p>
            <a:pPr eaLnBrk="0" latinLnBrk="0" algn="l">
              <a:spcAft>
                <a:spcPts val="500"/>
              </a:spcAft>
            </a:pPr>
            <a:r>
              <a:rPr sz="1050" b="0" lang="ko-KR" altLang="en-US">
                <a:solidFill>
                  <a:srgbClr val="000000"/>
                </a:solidFill>
                <a:latin typeface="나눔스퀘어"/>
                <a:ea typeface="나눔스퀘어"/>
              </a:rPr>
              <a:t>[16] Portalés, C. et al. An Interactive Cameraless Projector Calibration Method. Virtual Reality 24(1), 2020, 109–121.</a:t>
            </a:r>
          </a:p>
          <a:p>
            <a:pPr eaLnBrk="0" latinLnBrk="0" algn="l">
              <a:spcAft>
                <a:spcPts val="500"/>
              </a:spcAft>
            </a:pPr>
            <a:r>
              <a:rPr sz="1050" b="0" lang="ko-KR" altLang="en-US">
                <a:solidFill>
                  <a:srgbClr val="000000"/>
                </a:solidFill>
                <a:latin typeface="나눔스퀘어"/>
                <a:ea typeface="나눔스퀘어"/>
              </a:rPr>
              <a:t>[17] 김민아, 이정진. 3D 메쉬 모델을 이용한 수동 3D 프로젝션 맵핑 과정 분석. 한국컴퓨터그래픽스학회논문지 29(3), 2023, 1–12.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3A894-3E2B-4367-A27D-935B07F653FE}"/>
              </a:ext>
            </a:extLst>
          </p:cNvPr>
          <p:cNvSpPr>
            <a:spLocks noGrp="1"/>
          </p:cNvSpPr>
          <p:nvPr>
            <p:ph type="title"/>
          </p:nvPr>
        </p:nvSpPr>
        <p:spPr>
          <a:xfrm>
            <a:off x="838200" y="9176"/>
            <a:ext cx="10515600" cy="1325563"/>
          </a:xfrm>
        </p:spPr>
        <p:txBody>
          <a:bodyPr/>
          <a:lstStyle/>
          <a:p>
            <a:pPr algn="l" eaLnBrk="0" latinLnBrk="0">
              <a:buNone/>
            </a:pPr>
            <a:r>
              <a:rPr sz="4000" b="0" lang="ko-KR" altLang="en-US">
                <a:solidFill>
                  <a:srgbClr val="000000"/>
                </a:solidFill>
                <a:latin typeface="나눔스퀘어 ExtraBold"/>
                <a:ea typeface="나눔스퀘어 ExtraBold"/>
                <a:cs typeface="나눔스퀘어 ExtraBold"/>
              </a:rPr>
              <a:t>부록 H. 30초 구성 과정 (E225 → E231)</a:t>
            </a:r>
          </a:p>
        </p:txBody>
      </p:sp>
      <p:sp>
        <p:nvSpPr>
          <p:cNvPr id="16" name="직선 연결선 14">
            <a:extLst>
              <a:ext uri="{FF2B5EF4-FFF2-40B4-BE49-F238E27FC236}">
                <a16:creationId xmlns:a16="http://schemas.microsoft.com/office/drawing/2014/main" id="{8D37AF2A-8004-4B5C-B1A1-1288ECFB8A60}"/>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C460031B-D654-41F0-B43C-B9468F69A9EC}"/>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a:extLst>
              <a:ext uri="{FF2B5EF4-FFF2-40B4-BE49-F238E27FC236}">
                <a16:creationId xmlns:a16="http://schemas.microsoft.com/office/drawing/2014/main" id="{6F15624C-A306-41A6-A59C-2BBED37A1BA1}"/>
              </a:ext>
            </a:extLst>
          </p:cNvPr>
          <p:cNvSpPr>
            <a:spLocks noGrp="1"/>
          </p:cNvSpPr>
          <p:nvPr/>
        </p:nvSpPr>
        <p:spPr>
          <a:xfrm>
            <a:off x="830275" y="1481328"/>
            <a:ext cx="6035040" cy="3291840"/>
          </a:xfrm>
          <a:prstGeom prst="rect">
            <a:avLst/>
          </a:prstGeom>
          <a:noFill/>
        </p:spPr>
        <p:txBody>
          <a:bodyPr wrap="square" lIns="45720" rIns="45720" anchor="t">
            <a:noAutofit/>
          </a:bodyPr>
          <a:lstStyle/>
          <a:p>
            <a:pPr algn="l" eaLnBrk="0" latinLnBrk="0">
              <a:spcAft>
                <a:spcPts val="200"/>
              </a:spcAft>
              <a:buNone/>
            </a:pPr>
            <a:r>
              <a:rPr sz="1600" b="0" lang="ko-KR" altLang="en-US">
                <a:solidFill>
                  <a:srgbClr val="000000"/>
                </a:solidFill>
                <a:latin typeface="나눔스퀘어 Bold"/>
                <a:ea typeface="나눔스퀘어 Bold"/>
                <a:cs typeface="나눔스퀘어 Bold"/>
              </a:rPr>
              <a:t>30초 합성 시도  </a:t>
            </a:r>
            <a:r>
              <a:rPr sz="1600" b="0" lang="ko-KR" altLang="en-US">
                <a:solidFill>
                  <a:srgbClr val="595959"/>
                </a:solidFill>
                <a:latin typeface="나눔스퀘어"/>
                <a:ea typeface="나눔스퀘어"/>
                <a:cs typeface="나눔스퀘어"/>
              </a:rPr>
              <a:t>[기각]</a:t>
            </a:r>
          </a:p>
          <a:p>
            <a:pPr algn="l" eaLnBrk="0" latinLnBrk="0">
              <a:spcAft>
                <a:spcPts val="1200"/>
              </a:spcAft>
              <a:buNone/>
            </a:pPr>
            <a:r>
              <a:rPr sz="1400" b="0" lang="ko-KR" altLang="en-US">
                <a:solidFill>
                  <a:srgbClr val="595959"/>
                </a:solidFill>
                <a:latin typeface="나눔스퀘어"/>
                <a:ea typeface="나눔스퀘어"/>
                <a:cs typeface="나눔스퀘어"/>
              </a:rPr>
              <a:t>짧은 사건을 늘여 출력 프레임 50–71% 반복, 앞 사건이 귀·입 core 침범, 재질 collage</a:t>
            </a:r>
          </a:p>
          <a:p>
            <a:pPr algn="l" eaLnBrk="0" latinLnBrk="0">
              <a:spcAft>
                <a:spcPts val="200"/>
              </a:spcAft>
              <a:buNone/>
            </a:pPr>
            <a:r>
              <a:rPr sz="1600" b="0" lang="ko-KR" altLang="en-US">
                <a:solidFill>
                  <a:srgbClr val="000000"/>
                </a:solidFill>
                <a:latin typeface="나눔스퀘어 Bold"/>
                <a:ea typeface="나눔스퀘어 Bold"/>
                <a:cs typeface="나눔스퀘어 Bold"/>
              </a:rPr>
              <a:t>E230 배타 소유권 + 실제 프레임 연결  [30초 완료]</a:t>
            </a:r>
          </a:p>
          <a:p>
            <a:pPr algn="l" eaLnBrk="0" latinLnBrk="0">
              <a:spcAft>
                <a:spcPts val="1200"/>
              </a:spcAft>
              <a:buNone/>
            </a:pPr>
            <a:r>
              <a:rPr sz="1400" b="0" lang="ko-KR" altLang="en-US">
                <a:solidFill>
                  <a:srgbClr val="595959"/>
                </a:solidFill>
                <a:latin typeface="나눔스퀘어"/>
                <a:ea typeface="나눔스퀘어"/>
                <a:cs typeface="나눔스퀘어"/>
              </a:rPr>
              <a:t>2048², 24fps, 721프레임, 반복·stretch 0, 영역 겹침 0, 보호 영역 변화 0</a:t>
            </a:r>
          </a:p>
          <a:p>
            <a:pPr algn="l" eaLnBrk="0" latinLnBrk="0">
              <a:spcAft>
                <a:spcPts val="200"/>
              </a:spcAft>
              <a:buNone/>
            </a:pPr>
            <a:r>
              <a:rPr sz="1600" b="0" lang="ko-KR" altLang="en-US">
                <a:solidFill>
                  <a:srgbClr val="000000"/>
                </a:solidFill>
                <a:latin typeface="나눔스퀘어 Bold"/>
                <a:ea typeface="나눔스퀘어 Bold"/>
                <a:cs typeface="나눔스퀘어 Bold"/>
              </a:rPr>
              <a:t>E231 음악 구조 기반 사건 배치  [30초 완료]</a:t>
            </a:r>
          </a:p>
          <a:p>
            <a:pPr algn="l" eaLnBrk="0" latinLnBrk="0">
              <a:spcAft>
                <a:spcPts val="400"/>
              </a:spcAft>
              <a:buNone/>
            </a:pPr>
            <a:r>
              <a:rPr sz="1400" b="0" lang="ko-KR" altLang="en-US">
                <a:solidFill>
                  <a:srgbClr val="595959"/>
                </a:solidFill>
                <a:latin typeface="나눔스퀘어"/>
                <a:ea typeface="나눔스퀘어"/>
                <a:cs typeface="나눔스퀘어"/>
              </a:rPr>
              <a:t>정렬 5/5, +7초 이동 0/5, 시작점 점수 0.838 vs 0.210; 내부 움직임은 고정</a:t>
            </a:r>
          </a:p>
        </p:txBody>
      </p:sp>
      <p:sp>
        <p:nvSpPr>
          <p:cNvPr id="19" name="그림 자리: TheRock 결과: 시점(정면·측면) × 시간(0·3·6초)">
            <a:extLst>
              <a:ext uri="{FF2B5EF4-FFF2-40B4-BE49-F238E27FC236}">
                <a16:creationId xmlns:a16="http://schemas.microsoft.com/office/drawing/2014/main" id="{029BD8E7-1747-4832-83D0-30A1CC939EE0}"/>
              </a:ext>
            </a:extLst>
          </p:cNvPr>
          <p:cNvSpPr>
            <a:spLocks noGrp="1"/>
          </p:cNvSpPr>
          <p:nvPr/>
        </p:nvSpPr>
        <p:spPr>
          <a:xfrm>
            <a:off x="7086600" y="1600200"/>
            <a:ext cx="4251960" cy="3108960"/>
          </a:xfrm>
          <a:prstGeom prst="roundRect">
            <a:avLst>
              <a:gd name="adj" fmla="val 2000"/>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wrap="square" tIns="91440" bIns="91440" anchor="ctr">
            <a:noAutofit/>
          </a:bodyPr>
          <a:lstStyle/>
          <a:p>
            <a:pPr algn="ctr" eaLnBrk="0" latinLnBrk="0">
              <a:spcAft>
                <a:spcPts val="200"/>
              </a:spcAft>
              <a:buNone/>
            </a:pPr>
            <a:r>
              <a:rPr sz="1100" b="0" lang="ko-KR" altLang="en-US">
                <a:solidFill>
                  <a:srgbClr val="595959"/>
                </a:solidFill>
                <a:latin typeface="나눔스퀘어 Bold"/>
                <a:ea typeface="나눔스퀘어 Bold"/>
                <a:cs typeface="나눔스퀘어 Bold"/>
              </a:rPr>
              <a:t>[그림]</a:t>
            </a:r>
          </a:p>
          <a:p>
            <a:pPr algn="ctr" eaLnBrk="0" latinLnBrk="0">
              <a:spcAft>
                <a:spcPts val="200"/>
              </a:spcAft>
              <a:buNone/>
            </a:pPr>
            <a:r>
              <a:rPr sz="1100" b="0" lang="ko-KR" altLang="en-US">
                <a:solidFill>
                  <a:srgbClr val="595959"/>
                </a:solidFill>
                <a:latin typeface="나눔스퀘어"/>
                <a:ea typeface="나눔스퀘어"/>
                <a:cs typeface="나눔스퀘어"/>
              </a:rPr>
              <a:t>TheRock 결과: 시점(정면·측면) × 시간(0·3·6초)</a:t>
            </a:r>
          </a:p>
        </p:txBody>
      </p:sp>
      <p:sp>
        <p:nvSpPr>
          <p:cNvPr id="20" name="TextBox 19">
            <a:extLst>
              <a:ext uri="{FF2B5EF4-FFF2-40B4-BE49-F238E27FC236}">
                <a16:creationId xmlns:a16="http://schemas.microsoft.com/office/drawing/2014/main" id="{691C90A6-7C44-4C2C-99C7-F6C38D736767}"/>
              </a:ext>
            </a:extLst>
          </p:cNvPr>
          <p:cNvSpPr>
            <a:spLocks noGrp="1"/>
          </p:cNvSpPr>
          <p:nvPr/>
        </p:nvSpPr>
        <p:spPr>
          <a:xfrm>
            <a:off x="830275" y="4892040"/>
            <a:ext cx="10522915" cy="365760"/>
          </a:xfrm>
          <a:prstGeom prst="rect">
            <a:avLst/>
          </a:prstGeom>
          <a:noFill/>
        </p:spPr>
        <p:txBody>
          <a:bodyPr wrap="square" lIns="45720" rIns="45720" anchor="t">
            <a:noAutofit/>
          </a:bodyPr>
          <a:lstStyle/>
          <a:p>
            <a:pPr algn="l" eaLnBrk="0" latinLnBrk="0">
              <a:spcAft>
                <a:spcPts val="400"/>
              </a:spcAft>
              <a:buNone/>
            </a:pPr>
            <a:r>
              <a:rPr sz="1500" b="0" lang="ko-KR" altLang="en-US">
                <a:solidFill>
                  <a:srgbClr val="000000"/>
                </a:solidFill>
                <a:latin typeface="나눔스퀘어 Bold"/>
                <a:ea typeface="나눔스퀘어 Bold"/>
                <a:cs typeface="나눔스퀘어 Bold"/>
              </a:rPr>
              <a:t>판정 4단계: 자동 지표는 다음 단계로 가기 위한 필요조건</a:t>
            </a:r>
          </a:p>
        </p:txBody>
      </p:sp>
      <p:sp>
        <p:nvSpPr>
          <p:cNvPr id="21" name="Pentagon 20">
            <a:extLst>
              <a:ext uri="{FF2B5EF4-FFF2-40B4-BE49-F238E27FC236}">
                <a16:creationId xmlns:a16="http://schemas.microsoft.com/office/drawing/2014/main" id="{B52D5632-DC70-4B10-BD86-3D3D8E6BEB99}"/>
              </a:ext>
            </a:extLst>
          </p:cNvPr>
          <p:cNvSpPr>
            <a:spLocks noGrp="1"/>
          </p:cNvSpPr>
          <p:nvPr/>
        </p:nvSpPr>
        <p:spPr>
          <a:xfrm>
            <a:off x="830275" y="5349240"/>
            <a:ext cx="2514600" cy="640080"/>
          </a:xfrm>
          <a:prstGeom prst="homePlate">
            <a:avLst/>
          </a:prstGeom>
          <a:solidFill>
            <a:srgbClr val="FFFFFF"/>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wrap="square" lIns="45720" rIns="45720" anchor="ctr">
            <a:noAutofit/>
          </a:bodyPr>
          <a:lstStyle/>
          <a:p>
            <a:pPr algn="ctr" eaLnBrk="0" latinLnBrk="0">
              <a:spcAft>
                <a:spcPts val="200"/>
              </a:spcAft>
              <a:buNone/>
            </a:pPr>
            <a:r>
              <a:rPr sz="1400" b="0" lang="ko-KR" altLang="en-US">
                <a:solidFill>
                  <a:srgbClr val="000000"/>
                </a:solidFill>
                <a:latin typeface="나눔스퀘어 Bold"/>
                <a:ea typeface="나눔스퀘어 Bold"/>
                <a:cs typeface="나눔스퀘어 Bold"/>
              </a:rPr>
              <a:t>기술 무결성</a:t>
            </a:r>
          </a:p>
        </p:txBody>
      </p:sp>
      <p:sp>
        <p:nvSpPr>
          <p:cNvPr id="22" name="Chevron 21">
            <a:extLst>
              <a:ext uri="{FF2B5EF4-FFF2-40B4-BE49-F238E27FC236}">
                <a16:creationId xmlns:a16="http://schemas.microsoft.com/office/drawing/2014/main" id="{CADAAAB3-97FD-4FA5-BA65-3D48888038F5}"/>
              </a:ext>
            </a:extLst>
          </p:cNvPr>
          <p:cNvSpPr>
            <a:spLocks noGrp="1"/>
          </p:cNvSpPr>
          <p:nvPr/>
        </p:nvSpPr>
        <p:spPr>
          <a:xfrm>
            <a:off x="3482035" y="5349240"/>
            <a:ext cx="2514600" cy="640080"/>
          </a:xfrm>
          <a:prstGeom prst="chevron">
            <a:avLst/>
          </a:prstGeom>
          <a:solidFill>
            <a:srgbClr val="FFFFFF"/>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wrap="square" lIns="45720" rIns="45720" anchor="ctr">
            <a:noAutofit/>
          </a:bodyPr>
          <a:lstStyle/>
          <a:p>
            <a:pPr algn="ctr" eaLnBrk="0" latinLnBrk="0">
              <a:spcAft>
                <a:spcPts val="200"/>
              </a:spcAft>
              <a:buNone/>
            </a:pPr>
            <a:r>
              <a:rPr sz="1400" b="0" lang="ko-KR" altLang="en-US">
                <a:solidFill>
                  <a:srgbClr val="000000"/>
                </a:solidFill>
                <a:latin typeface="나눔스퀘어 Bold"/>
                <a:ea typeface="나눔스퀘어 Bold"/>
                <a:cs typeface="나눔스퀘어 Bold"/>
              </a:rPr>
              <a:t>MSR 인과 기여</a:t>
            </a:r>
          </a:p>
        </p:txBody>
      </p:sp>
      <p:sp>
        <p:nvSpPr>
          <p:cNvPr id="23" name="Chevron 22">
            <a:extLst>
              <a:ext uri="{FF2B5EF4-FFF2-40B4-BE49-F238E27FC236}">
                <a16:creationId xmlns:a16="http://schemas.microsoft.com/office/drawing/2014/main" id="{B69D022C-F2DF-4B06-ADD5-F32311A1A10C}"/>
              </a:ext>
            </a:extLst>
          </p:cNvPr>
          <p:cNvSpPr>
            <a:spLocks noGrp="1"/>
          </p:cNvSpPr>
          <p:nvPr/>
        </p:nvSpPr>
        <p:spPr>
          <a:xfrm>
            <a:off x="6133795" y="5349240"/>
            <a:ext cx="2514600" cy="640080"/>
          </a:xfrm>
          <a:prstGeom prst="chevron">
            <a:avLst/>
          </a:prstGeom>
          <a:solidFill>
            <a:srgbClr val="FFFFFF"/>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wrap="square" lIns="45720" rIns="45720" anchor="ctr">
            <a:noAutofit/>
          </a:bodyPr>
          <a:lstStyle/>
          <a:p>
            <a:pPr algn="ctr" eaLnBrk="0" latinLnBrk="0">
              <a:spcAft>
                <a:spcPts val="200"/>
              </a:spcAft>
              <a:buNone/>
            </a:pPr>
            <a:r>
              <a:rPr sz="1400" b="0" lang="ko-KR" altLang="en-US">
                <a:solidFill>
                  <a:srgbClr val="000000"/>
                </a:solidFill>
                <a:latin typeface="나눔스퀘어 Bold"/>
                <a:ea typeface="나눔스퀘어 Bold"/>
                <a:cs typeface="나눔스퀘어 Bold"/>
              </a:rPr>
              <a:t>프로젝션 콘텐츠 후보</a:t>
            </a:r>
          </a:p>
        </p:txBody>
      </p:sp>
      <p:sp>
        <p:nvSpPr>
          <p:cNvPr id="24" name="Chevron 23">
            <a:extLst>
              <a:ext uri="{FF2B5EF4-FFF2-40B4-BE49-F238E27FC236}">
                <a16:creationId xmlns:a16="http://schemas.microsoft.com/office/drawing/2014/main" id="{06168894-C2DE-4290-9961-9FBCAF43EEFC}"/>
              </a:ext>
            </a:extLst>
          </p:cNvPr>
          <p:cNvSpPr>
            <a:spLocks noGrp="1"/>
          </p:cNvSpPr>
          <p:nvPr/>
        </p:nvSpPr>
        <p:spPr>
          <a:xfrm>
            <a:off x="8785555" y="5349240"/>
            <a:ext cx="2514600" cy="640080"/>
          </a:xfrm>
          <a:prstGeom prst="chevron">
            <a:avLst/>
          </a:prstGeom>
          <a:solidFill>
            <a:srgbClr val="000000"/>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wrap="square" lIns="45720" rIns="45720" anchor="ctr">
            <a:noAutofit/>
          </a:bodyPr>
          <a:lstStyle/>
          <a:p>
            <a:pPr algn="ctr" eaLnBrk="0" latinLnBrk="0">
              <a:spcAft>
                <a:spcPts val="200"/>
              </a:spcAft>
              <a:buNone/>
            </a:pPr>
            <a:r>
              <a:rPr sz="1400" b="0" lang="ko-KR" altLang="en-US">
                <a:solidFill>
                  <a:srgbClr val="FFFFFF"/>
                </a:solidFill>
                <a:latin typeface="나눔스퀘어 Bold"/>
                <a:ea typeface="나눔스퀘어 Bold"/>
                <a:cs typeface="나눔스퀘어 Bold"/>
              </a:rPr>
              <a:t>사용자 승인</a:t>
            </a:r>
          </a:p>
        </p:txBody>
      </p:sp>
      <p:sp>
        <p:nvSpPr>
          <p:cNvPr id="25" name="직사각형 24">
            <a:extLst>
              <a:ext uri="{FF2B5EF4-FFF2-40B4-BE49-F238E27FC236}">
                <a16:creationId xmlns:a16="http://schemas.microsoft.com/office/drawing/2014/main" id="{675F1045-701F-4B30-AECF-FA6B62E4195D}"/>
              </a:ext>
            </a:extLst>
          </p:cNvPr>
          <p:cNvSpPr>
            <a:spLocks noGrp="1"/>
          </p:cNvSpPr>
          <p:nvPr/>
        </p:nvSpPr>
        <p:spPr>
          <a:xfrm>
            <a:off x="7086600" y="1600200"/>
            <a:ext cx="4251960" cy="3108960"/>
          </a:xfrm>
          <a:prstGeom prst="rect">
            <a:avLst/>
          </a:prstGeom>
          <a:solidFill>
            <a:srgbClr val="111820"/>
          </a:solidFill>
          <a:ln w="9525">
            <a:solidFill>
              <a:srgbClr val="D0D0D0"/>
            </a:solidFill>
          </a:ln>
        </p:spPr>
      </p:sp>
      <p:pic>
        <p:nvPicPr>
          <p:cNvPr id="41" name="그림 40"/>
          <p:cNvPicPr>
            <a:picLocks noChangeAspect="1"/>
          </p:cNvPicPr>
          <p:nvPr/>
        </p:nvPicPr>
        <p:blipFill>
          <a:blip r:embed="rId3"/>
          <a:srcRect t="10907" b="10907"/>
          <a:stretch>
            <a:fillRect/>
          </a:stretch>
        </p:blipFill>
        <p:spPr>
          <a:xfrm>
            <a:off x="7200900" y="1676400"/>
            <a:ext cx="1973580" cy="1543050"/>
          </a:xfrm>
          <a:prstGeom prst="rect">
            <a:avLst/>
          </a:prstGeom>
        </p:spPr>
      </p:pic>
      <p:pic>
        <p:nvPicPr>
          <p:cNvPr id="42" name="그림 41"/>
          <p:cNvPicPr>
            <a:picLocks noChangeAspect="1"/>
          </p:cNvPicPr>
          <p:nvPr/>
        </p:nvPicPr>
        <p:blipFill>
          <a:blip r:embed="rId4"/>
          <a:srcRect t="10907" b="10907"/>
          <a:stretch>
            <a:fillRect/>
          </a:stretch>
        </p:blipFill>
        <p:spPr>
          <a:xfrm>
            <a:off x="9250680" y="1676400"/>
            <a:ext cx="1973580" cy="1543050"/>
          </a:xfrm>
          <a:prstGeom prst="rect">
            <a:avLst/>
          </a:prstGeom>
        </p:spPr>
      </p:pic>
      <p:pic>
        <p:nvPicPr>
          <p:cNvPr id="43" name="그림 42"/>
          <p:cNvPicPr>
            <a:picLocks noChangeAspect="1"/>
          </p:cNvPicPr>
          <p:nvPr/>
        </p:nvPicPr>
        <p:blipFill>
          <a:blip r:embed="rId5"/>
          <a:srcRect t="17045" b="17045"/>
          <a:stretch>
            <a:fillRect/>
          </a:stretch>
        </p:blipFill>
        <p:spPr>
          <a:xfrm>
            <a:off x="7200900" y="3295650"/>
            <a:ext cx="4023360" cy="1104900"/>
          </a:xfrm>
          <a:prstGeom prst="rect">
            <a:avLst/>
          </a:prstGeom>
        </p:spPr>
      </p:pic>
      <p:sp>
        <p:nvSpPr>
          <p:cNvPr id="29" name="직사각형 28">
            <a:extLst>
              <a:ext uri="{FF2B5EF4-FFF2-40B4-BE49-F238E27FC236}">
                <a16:creationId xmlns:a16="http://schemas.microsoft.com/office/drawing/2014/main" id="{7A6A3848-4CD9-4266-BD22-732D60685993}"/>
              </a:ext>
            </a:extLst>
          </p:cNvPr>
          <p:cNvSpPr>
            <a:spLocks noGrp="1"/>
          </p:cNvSpPr>
          <p:nvPr/>
        </p:nvSpPr>
        <p:spPr>
          <a:xfrm>
            <a:off x="7200900" y="4400550"/>
            <a:ext cx="4023360" cy="209550"/>
          </a:xfrm>
          <a:prstGeom prst="rect">
            <a:avLst/>
          </a:prstGeom>
          <a:noFill/>
          <a:ln w="0">
            <a:noFill/>
          </a:ln>
        </p:spPr>
        <p:txBody>
          <a:bodyPr anchor="ctr">
            <a:noAutofit/>
          </a:bodyPr>
          <a:lstStyle/>
          <a:p>
            <a:pPr algn="ctr" eaLnBrk="0" latinLnBrk="0">
              <a:defRPr sz="938" b="0">
                <a:solidFill>
                  <a:srgbClr val="FFFFFF"/>
                </a:solidFill>
                <a:latin typeface="나눔스퀘어"/>
                <a:ea typeface="나눔스퀘어"/>
                <a:cs typeface="나눔스퀘어"/>
              </a:defRPr>
            </a:pPr>
            <a:r>
              <a:rPr sz="938" b="0" lang="ko-KR" altLang="en-US">
                <a:solidFill>
                  <a:srgbClr val="FFFFFF"/>
                </a:solidFill>
                <a:latin typeface="나눔스퀘어"/>
                <a:ea typeface="나눔스퀘어"/>
                <a:cs typeface="나눔스퀘어"/>
              </a:rPr>
              <a:t>선택 시작점  2.2 · 7.0 · 10.5 · 15.7 · 23.7초</a:t>
            </a:r>
          </a:p>
        </p:txBody>
      </p:sp>
    </p:spTree>
    <p:extLst>
      <p:ext uri="{BB962C8B-B14F-4D97-AF65-F5344CB8AC3E}">
        <p14:creationId xmlns:p14="http://schemas.microsoft.com/office/powerpoint/2010/main" val="52268470"/>
      </p:ext>
    </p:extLst>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r>
              <a:rPr sz="4000" b="0" lang="ko-KR" altLang="en-US">
                <a:solidFill>
                  <a:srgbClr val="000000"/>
                </a:solidFill>
                <a:latin typeface="나눔스퀘어 ExtraBold"/>
                <a:ea typeface="나눔스퀘어 ExtraBold"/>
              </a:rPr>
              <a:t>부록 I. E237 사건 시간표</a:t>
            </a:r>
          </a:p>
        </p:txBody>
      </p:sp>
      <p:sp>
        <p:nvSpPr>
          <p:cNvPr id="16" name="직선 연결선 14">
            <a:extLst>
              <a:ext uri="{FF2B5EF4-FFF2-40B4-BE49-F238E27FC236}">
                <a16:creationId xmlns:a16="http://schemas.microsoft.com/office/drawing/2014/main" id="{4A706C05-3CBD-4ACC-8BB3-4FD5C84FED87}"/>
              </a:ext>
            </a:extLst>
          </p:cNvPr>
          <p:cNvSpPr>
            <a:spLocks noGrp="1"/>
          </p:cNvSpPr>
          <p:nvPr/>
        </p:nv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7" name="직선 연결선 7">
            <a:extLst>
              <a:ext uri="{FF2B5EF4-FFF2-40B4-BE49-F238E27FC236}">
                <a16:creationId xmlns:a16="http://schemas.microsoft.com/office/drawing/2014/main" id="{9103929C-A817-4C7B-BA23-E689A0F3AA8D}"/>
              </a:ext>
            </a:extLst>
          </p:cNvPr>
          <p:cNvSpPr>
            <a:spLocks noGrp="1"/>
          </p:cNvSpPr>
          <p:nvPr/>
        </p:nv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sp>
      <p:sp>
        <p:nvSpPr>
          <p:cNvPr id="18" name="TextBox 17"/>
          <p:cNvSpPr txBox="1"/>
          <p:nvPr/>
        </p:nvSpPr>
        <p:spPr>
          <a:xfrm>
            <a:off x="830275" y="1417320"/>
            <a:ext cx="10522915" cy="320040"/>
          </a:xfrm>
          <a:prstGeom prst="rect">
            <a:avLst/>
          </a:prstGeom>
          <a:noFill/>
        </p:spPr>
        <p:txBody>
          <a:bodyPr wrap="square" anchor="t" lIns="45720" rIns="45720">
            <a:noAutofit/>
          </a:bodyPr>
          <a:lstStyle/>
          <a:p>
            <a:pPr eaLnBrk="0" latinLnBrk="0" algn="l">
              <a:spcAft>
                <a:spcPts val="400"/>
              </a:spcAft>
            </a:pPr>
            <a:r>
              <a:rPr sz="1200" b="0" lang="ko-KR" altLang="en-US">
                <a:solidFill>
                  <a:srgbClr val="595959"/>
                </a:solidFill>
                <a:latin typeface="나눔스퀘어"/>
                <a:ea typeface="나눔스퀘어"/>
              </a:rPr>
              <a:t>검은 막대: 새로 생성, 회색: 검수 후 유지, 막대 안 숫자: 사건별 percentile</a:t>
            </a:r>
          </a:p>
        </p:txBody>
      </p:sp>
      <p:sp>
        <p:nvSpPr>
          <p:cNvPr id="19" name="TextBox 18"/>
          <p:cNvSpPr txBox="1"/>
          <p:nvPr/>
        </p:nvSpPr>
        <p:spPr>
          <a:xfrm>
            <a:off x="830275" y="1901951"/>
            <a:ext cx="1280160" cy="384048"/>
          </a:xfrm>
          <a:prstGeom prst="rect">
            <a:avLst/>
          </a:prstGeom>
          <a:noFill/>
        </p:spPr>
        <p:txBody>
          <a:bodyPr wrap="square" anchor="ctr" lIns="45720" rIns="45720">
            <a:noAutofit/>
          </a:bodyPr>
          <a:lstStyle/>
          <a:p>
            <a:pPr eaLnBrk="0" latinLnBrk="0" algn="l">
              <a:spcAft>
                <a:spcPts val="400"/>
              </a:spcAft>
            </a:pPr>
            <a:r>
              <a:rPr sz="1400" b="0" lang="ko-KR" altLang="en-US">
                <a:solidFill>
                  <a:srgbClr val="000000"/>
                </a:solidFill>
                <a:latin typeface="나눔스퀘어 Bold"/>
                <a:ea typeface="나눔스퀘어 Bold"/>
              </a:rPr>
              <a:t>전면</a:t>
            </a:r>
          </a:p>
        </p:txBody>
      </p:sp>
      <p:sp>
        <p:nvSpPr>
          <p:cNvPr id="20" name="Rectangle 19"/>
          <p:cNvSpPr/>
          <p:nvPr/>
        </p:nvSpPr>
        <p:spPr>
          <a:xfrm>
            <a:off x="2923641" y="1947672"/>
            <a:ext cx="1219200" cy="292607"/>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eaLnBrk="0" latinLnBrk="0">
              <a:spcAft>
                <a:spcPts val="200"/>
              </a:spcAft>
            </a:pPr>
            <a:r>
              <a:rPr sz="1200" b="0" lang="ko-KR" altLang="en-US">
                <a:solidFill>
                  <a:srgbClr val="FFFFFF"/>
                </a:solidFill>
                <a:latin typeface="나눔스퀘어 Bold"/>
                <a:ea typeface="나눔스퀘어 Bold"/>
              </a:rPr>
              <a:t>0.86</a:t>
            </a:r>
          </a:p>
        </p:txBody>
      </p:sp>
      <p:sp>
        <p:nvSpPr>
          <p:cNvPr id="21" name="TextBox 20"/>
          <p:cNvSpPr txBox="1"/>
          <p:nvPr/>
        </p:nvSpPr>
        <p:spPr>
          <a:xfrm>
            <a:off x="830275" y="2340863"/>
            <a:ext cx="1280160" cy="384048"/>
          </a:xfrm>
          <a:prstGeom prst="rect">
            <a:avLst/>
          </a:prstGeom>
          <a:noFill/>
        </p:spPr>
        <p:txBody>
          <a:bodyPr wrap="square" anchor="ctr" lIns="45720" rIns="45720">
            <a:noAutofit/>
          </a:bodyPr>
          <a:lstStyle/>
          <a:p>
            <a:pPr eaLnBrk="0" latinLnBrk="0" algn="l">
              <a:spcAft>
                <a:spcPts val="400"/>
              </a:spcAft>
            </a:pPr>
            <a:r>
              <a:rPr sz="1400" b="0" lang="ko-KR" altLang="en-US">
                <a:solidFill>
                  <a:srgbClr val="000000"/>
                </a:solidFill>
                <a:latin typeface="나눔스퀘어 Bold"/>
                <a:ea typeface="나눔스퀘어 Bold"/>
              </a:rPr>
              <a:t>코</a:t>
            </a:r>
          </a:p>
        </p:txBody>
      </p:sp>
      <p:sp>
        <p:nvSpPr>
          <p:cNvPr id="22" name="Rectangle 21"/>
          <p:cNvSpPr/>
          <p:nvPr/>
        </p:nvSpPr>
        <p:spPr>
          <a:xfrm>
            <a:off x="3736238" y="2386584"/>
            <a:ext cx="1219199" cy="292607"/>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eaLnBrk="0" latinLnBrk="0">
              <a:spcAft>
                <a:spcPts val="200"/>
              </a:spcAft>
            </a:pPr>
            <a:r>
              <a:rPr sz="1200" b="0" lang="ko-KR" altLang="en-US">
                <a:solidFill>
                  <a:srgbClr val="FFFFFF"/>
                </a:solidFill>
                <a:latin typeface="나눔스퀘어 Bold"/>
                <a:ea typeface="나눔스퀘어 Bold"/>
              </a:rPr>
              <a:t>0.75</a:t>
            </a:r>
          </a:p>
        </p:txBody>
      </p:sp>
      <p:sp>
        <p:nvSpPr>
          <p:cNvPr id="23" name="TextBox 22"/>
          <p:cNvSpPr txBox="1"/>
          <p:nvPr/>
        </p:nvSpPr>
        <p:spPr>
          <a:xfrm>
            <a:off x="830275" y="2779775"/>
            <a:ext cx="1280160" cy="384048"/>
          </a:xfrm>
          <a:prstGeom prst="rect">
            <a:avLst/>
          </a:prstGeom>
          <a:noFill/>
        </p:spPr>
        <p:txBody>
          <a:bodyPr wrap="square" anchor="ctr" lIns="45720" rIns="45720">
            <a:noAutofit/>
          </a:bodyPr>
          <a:lstStyle/>
          <a:p>
            <a:pPr eaLnBrk="0" latinLnBrk="0" algn="l">
              <a:spcAft>
                <a:spcPts val="400"/>
              </a:spcAft>
            </a:pPr>
            <a:r>
              <a:rPr sz="1400" b="0" lang="ko-KR" altLang="en-US">
                <a:solidFill>
                  <a:srgbClr val="000000"/>
                </a:solidFill>
                <a:latin typeface="나눔스퀘어 Bold"/>
                <a:ea typeface="나눔스퀘어 Bold"/>
              </a:rPr>
              <a:t>눈</a:t>
            </a:r>
          </a:p>
        </p:txBody>
      </p:sp>
      <p:sp>
        <p:nvSpPr>
          <p:cNvPr id="24" name="Rectangle 23"/>
          <p:cNvSpPr/>
          <p:nvPr/>
        </p:nvSpPr>
        <p:spPr>
          <a:xfrm>
            <a:off x="7000341" y="2825496"/>
            <a:ext cx="1219200" cy="292607"/>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eaLnBrk="0" latinLnBrk="0">
              <a:spcAft>
                <a:spcPts val="200"/>
              </a:spcAft>
            </a:pPr>
            <a:r>
              <a:rPr sz="1200" b="0" lang="ko-KR" altLang="en-US">
                <a:solidFill>
                  <a:srgbClr val="FFFFFF"/>
                </a:solidFill>
                <a:latin typeface="나눔스퀘어 Bold"/>
                <a:ea typeface="나눔스퀘어 Bold"/>
              </a:rPr>
              <a:t>0.58</a:t>
            </a:r>
          </a:p>
        </p:txBody>
      </p:sp>
      <p:sp>
        <p:nvSpPr>
          <p:cNvPr id="25" name="TextBox 24"/>
          <p:cNvSpPr txBox="1"/>
          <p:nvPr/>
        </p:nvSpPr>
        <p:spPr>
          <a:xfrm>
            <a:off x="830275" y="3218687"/>
            <a:ext cx="1280160" cy="384048"/>
          </a:xfrm>
          <a:prstGeom prst="rect">
            <a:avLst/>
          </a:prstGeom>
          <a:noFill/>
        </p:spPr>
        <p:txBody>
          <a:bodyPr wrap="square" anchor="ctr" lIns="45720" rIns="45720">
            <a:noAutofit/>
          </a:bodyPr>
          <a:lstStyle/>
          <a:p>
            <a:pPr eaLnBrk="0" latinLnBrk="0" algn="l">
              <a:spcAft>
                <a:spcPts val="400"/>
              </a:spcAft>
            </a:pPr>
            <a:r>
              <a:rPr sz="1400" b="0" lang="ko-KR" altLang="en-US">
                <a:solidFill>
                  <a:srgbClr val="000000"/>
                </a:solidFill>
                <a:latin typeface="나눔스퀘어 Bold"/>
                <a:ea typeface="나눔스퀘어 Bold"/>
              </a:rPr>
              <a:t>귀</a:t>
            </a:r>
          </a:p>
        </p:txBody>
      </p:sp>
      <p:sp>
        <p:nvSpPr>
          <p:cNvPr id="26" name="Rectangle 25"/>
          <p:cNvSpPr/>
          <p:nvPr/>
        </p:nvSpPr>
        <p:spPr>
          <a:xfrm>
            <a:off x="7000341" y="3264408"/>
            <a:ext cx="1828800" cy="292607"/>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eaLnBrk="0" latinLnBrk="0">
              <a:spcAft>
                <a:spcPts val="200"/>
              </a:spcAft>
            </a:pPr>
            <a:r>
              <a:rPr sz="1200" b="0" lang="ko-KR" altLang="en-US">
                <a:solidFill>
                  <a:srgbClr val="000000"/>
                </a:solidFill>
                <a:latin typeface="나눔스퀘어 Bold"/>
                <a:ea typeface="나눔스퀘어 Bold"/>
              </a:rPr>
              <a:t>0.61</a:t>
            </a:r>
          </a:p>
        </p:txBody>
      </p:sp>
      <p:sp>
        <p:nvSpPr>
          <p:cNvPr id="27" name="TextBox 26"/>
          <p:cNvSpPr txBox="1"/>
          <p:nvPr/>
        </p:nvSpPr>
        <p:spPr>
          <a:xfrm>
            <a:off x="830275" y="3657599"/>
            <a:ext cx="1280160" cy="384048"/>
          </a:xfrm>
          <a:prstGeom prst="rect">
            <a:avLst/>
          </a:prstGeom>
          <a:noFill/>
        </p:spPr>
        <p:txBody>
          <a:bodyPr wrap="square" anchor="ctr" lIns="45720" rIns="45720">
            <a:noAutofit/>
          </a:bodyPr>
          <a:lstStyle/>
          <a:p>
            <a:pPr eaLnBrk="0" latinLnBrk="0" algn="l">
              <a:spcAft>
                <a:spcPts val="400"/>
              </a:spcAft>
            </a:pPr>
            <a:r>
              <a:rPr sz="1400" b="0" lang="ko-KR" altLang="en-US">
                <a:solidFill>
                  <a:srgbClr val="000000"/>
                </a:solidFill>
                <a:latin typeface="나눔스퀘어 Bold"/>
                <a:ea typeface="나눔스퀘어 Bold"/>
              </a:rPr>
              <a:t>입</a:t>
            </a:r>
          </a:p>
        </p:txBody>
      </p:sp>
      <p:sp>
        <p:nvSpPr>
          <p:cNvPr id="28" name="Rectangle 27"/>
          <p:cNvSpPr/>
          <p:nvPr/>
        </p:nvSpPr>
        <p:spPr>
          <a:xfrm>
            <a:off x="8359140" y="3703320"/>
            <a:ext cx="914400" cy="292607"/>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eaLnBrk="0" latinLnBrk="0">
              <a:spcAft>
                <a:spcPts val="200"/>
              </a:spcAft>
            </a:pPr>
            <a:r>
              <a:rPr sz="1200" b="0" lang="ko-KR" altLang="en-US">
                <a:solidFill>
                  <a:srgbClr val="000000"/>
                </a:solidFill>
                <a:latin typeface="나눔스퀘어 Bold"/>
                <a:ea typeface="나눔스퀘어 Bold"/>
              </a:rPr>
              <a:t>0.82</a:t>
            </a:r>
          </a:p>
        </p:txBody>
      </p:sp>
      <p:sp>
        <p:nvSpPr>
          <p:cNvPr id="29" name="TextBox 28"/>
          <p:cNvSpPr txBox="1"/>
          <p:nvPr/>
        </p:nvSpPr>
        <p:spPr>
          <a:xfrm>
            <a:off x="830275" y="4096511"/>
            <a:ext cx="1280160" cy="384048"/>
          </a:xfrm>
          <a:prstGeom prst="rect">
            <a:avLst/>
          </a:prstGeom>
          <a:noFill/>
        </p:spPr>
        <p:txBody>
          <a:bodyPr wrap="square" anchor="ctr" lIns="45720" rIns="45720">
            <a:noAutofit/>
          </a:bodyPr>
          <a:lstStyle/>
          <a:p>
            <a:pPr eaLnBrk="0" latinLnBrk="0" algn="l">
              <a:spcAft>
                <a:spcPts val="400"/>
              </a:spcAft>
            </a:pPr>
            <a:r>
              <a:rPr sz="1400" b="0" lang="ko-KR" altLang="en-US">
                <a:solidFill>
                  <a:srgbClr val="000000"/>
                </a:solidFill>
                <a:latin typeface="나눔스퀘어 Bold"/>
                <a:ea typeface="나눔스퀘어 Bold"/>
              </a:rPr>
              <a:t>후면·정수리</a:t>
            </a:r>
          </a:p>
        </p:txBody>
      </p:sp>
      <p:sp>
        <p:nvSpPr>
          <p:cNvPr id="30" name="Rectangle 29"/>
          <p:cNvSpPr/>
          <p:nvPr/>
        </p:nvSpPr>
        <p:spPr>
          <a:xfrm>
            <a:off x="9451238" y="4142231"/>
            <a:ext cx="1828799" cy="292607"/>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eaLnBrk="0" latinLnBrk="0">
              <a:spcAft>
                <a:spcPts val="200"/>
              </a:spcAft>
            </a:pPr>
            <a:r>
              <a:rPr sz="1200" b="0" lang="ko-KR" altLang="en-US">
                <a:solidFill>
                  <a:srgbClr val="000000"/>
                </a:solidFill>
                <a:latin typeface="나눔스퀘어 Bold"/>
                <a:ea typeface="나눔스퀘어 Bold"/>
              </a:rPr>
              <a:t>0.80</a:t>
            </a:r>
          </a:p>
        </p:txBody>
      </p:sp>
      <p:cxnSp>
        <p:nvCxnSpPr>
          <p:cNvPr id="31" name="Connector 30"/>
          <p:cNvCxnSpPr/>
          <p:nvPr/>
        </p:nvCxnSpPr>
        <p:spPr>
          <a:xfrm>
            <a:off x="2148840" y="4553712"/>
            <a:ext cx="9144000"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148840" y="4553712"/>
            <a:ext cx="0"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874520" y="4626864"/>
            <a:ext cx="548640" cy="256032"/>
          </a:xfrm>
          <a:prstGeom prst="rect">
            <a:avLst/>
          </a:prstGeom>
          <a:noFill/>
        </p:spPr>
        <p:txBody>
          <a:bodyPr wrap="square" anchor="t" lIns="45720" rIns="45720">
            <a:noAutofit/>
          </a:bodyPr>
          <a:lstStyle/>
          <a:p>
            <a:pPr eaLnBrk="0" latinLnBrk="0" algn="ctr">
              <a:spcAft>
                <a:spcPts val="400"/>
              </a:spcAft>
            </a:pPr>
            <a:r>
              <a:rPr sz="1100" b="0" lang="ko-KR" altLang="en-US">
                <a:solidFill>
                  <a:srgbClr val="595959"/>
                </a:solidFill>
                <a:latin typeface="나눔스퀘어"/>
                <a:ea typeface="나눔스퀘어"/>
              </a:rPr>
              <a:t>0s</a:t>
            </a:r>
          </a:p>
        </p:txBody>
      </p:sp>
      <p:cxnSp>
        <p:nvCxnSpPr>
          <p:cNvPr id="34" name="Connector 33"/>
          <p:cNvCxnSpPr/>
          <p:nvPr/>
        </p:nvCxnSpPr>
        <p:spPr>
          <a:xfrm>
            <a:off x="3672840" y="4553712"/>
            <a:ext cx="0"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398520" y="4626864"/>
            <a:ext cx="548640" cy="256032"/>
          </a:xfrm>
          <a:prstGeom prst="rect">
            <a:avLst/>
          </a:prstGeom>
          <a:noFill/>
        </p:spPr>
        <p:txBody>
          <a:bodyPr wrap="square" anchor="t" lIns="45720" rIns="45720">
            <a:noAutofit/>
          </a:bodyPr>
          <a:lstStyle/>
          <a:p>
            <a:pPr eaLnBrk="0" latinLnBrk="0" algn="ctr">
              <a:spcAft>
                <a:spcPts val="400"/>
              </a:spcAft>
            </a:pPr>
            <a:r>
              <a:rPr sz="1100" b="0" lang="ko-KR" altLang="en-US">
                <a:solidFill>
                  <a:srgbClr val="595959"/>
                </a:solidFill>
                <a:latin typeface="나눔스퀘어"/>
                <a:ea typeface="나눔스퀘어"/>
              </a:rPr>
              <a:t>5s</a:t>
            </a:r>
          </a:p>
        </p:txBody>
      </p:sp>
      <p:cxnSp>
        <p:nvCxnSpPr>
          <p:cNvPr id="36" name="Connector 35"/>
          <p:cNvCxnSpPr/>
          <p:nvPr/>
        </p:nvCxnSpPr>
        <p:spPr>
          <a:xfrm>
            <a:off x="5196840" y="4553712"/>
            <a:ext cx="0"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922520" y="4626864"/>
            <a:ext cx="548640" cy="256032"/>
          </a:xfrm>
          <a:prstGeom prst="rect">
            <a:avLst/>
          </a:prstGeom>
          <a:noFill/>
        </p:spPr>
        <p:txBody>
          <a:bodyPr wrap="square" anchor="t" lIns="45720" rIns="45720">
            <a:noAutofit/>
          </a:bodyPr>
          <a:lstStyle/>
          <a:p>
            <a:pPr eaLnBrk="0" latinLnBrk="0" algn="ctr">
              <a:spcAft>
                <a:spcPts val="400"/>
              </a:spcAft>
            </a:pPr>
            <a:r>
              <a:rPr sz="1100" b="0" lang="ko-KR" altLang="en-US">
                <a:solidFill>
                  <a:srgbClr val="595959"/>
                </a:solidFill>
                <a:latin typeface="나눔스퀘어"/>
                <a:ea typeface="나눔스퀘어"/>
              </a:rPr>
              <a:t>10s</a:t>
            </a:r>
          </a:p>
        </p:txBody>
      </p:sp>
      <p:cxnSp>
        <p:nvCxnSpPr>
          <p:cNvPr id="38" name="Connector 37"/>
          <p:cNvCxnSpPr/>
          <p:nvPr/>
        </p:nvCxnSpPr>
        <p:spPr>
          <a:xfrm>
            <a:off x="6720840" y="4553712"/>
            <a:ext cx="0"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46520" y="4626864"/>
            <a:ext cx="548640" cy="256032"/>
          </a:xfrm>
          <a:prstGeom prst="rect">
            <a:avLst/>
          </a:prstGeom>
          <a:noFill/>
        </p:spPr>
        <p:txBody>
          <a:bodyPr wrap="square" anchor="t" lIns="45720" rIns="45720">
            <a:noAutofit/>
          </a:bodyPr>
          <a:lstStyle/>
          <a:p>
            <a:pPr eaLnBrk="0" latinLnBrk="0" algn="ctr">
              <a:spcAft>
                <a:spcPts val="400"/>
              </a:spcAft>
            </a:pPr>
            <a:r>
              <a:rPr sz="1100" b="0" lang="ko-KR" altLang="en-US">
                <a:solidFill>
                  <a:srgbClr val="595959"/>
                </a:solidFill>
                <a:latin typeface="나눔스퀘어"/>
                <a:ea typeface="나눔스퀘어"/>
              </a:rPr>
              <a:t>15s</a:t>
            </a:r>
          </a:p>
        </p:txBody>
      </p:sp>
      <p:cxnSp>
        <p:nvCxnSpPr>
          <p:cNvPr id="40" name="Connector 39"/>
          <p:cNvCxnSpPr/>
          <p:nvPr/>
        </p:nvCxnSpPr>
        <p:spPr>
          <a:xfrm>
            <a:off x="8244839" y="4553712"/>
            <a:ext cx="0"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970519" y="4626864"/>
            <a:ext cx="548640" cy="256032"/>
          </a:xfrm>
          <a:prstGeom prst="rect">
            <a:avLst/>
          </a:prstGeom>
          <a:noFill/>
        </p:spPr>
        <p:txBody>
          <a:bodyPr wrap="square" anchor="t" lIns="45720" rIns="45720">
            <a:noAutofit/>
          </a:bodyPr>
          <a:lstStyle/>
          <a:p>
            <a:pPr eaLnBrk="0" latinLnBrk="0" algn="ctr">
              <a:spcAft>
                <a:spcPts val="400"/>
              </a:spcAft>
            </a:pPr>
            <a:r>
              <a:rPr sz="1100" b="0" lang="ko-KR" altLang="en-US">
                <a:solidFill>
                  <a:srgbClr val="595959"/>
                </a:solidFill>
                <a:latin typeface="나눔스퀘어"/>
                <a:ea typeface="나눔스퀘어"/>
              </a:rPr>
              <a:t>20s</a:t>
            </a:r>
          </a:p>
        </p:txBody>
      </p:sp>
      <p:cxnSp>
        <p:nvCxnSpPr>
          <p:cNvPr id="42" name="Connector 41"/>
          <p:cNvCxnSpPr/>
          <p:nvPr/>
        </p:nvCxnSpPr>
        <p:spPr>
          <a:xfrm>
            <a:off x="9768840" y="4553712"/>
            <a:ext cx="0"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494520" y="4626864"/>
            <a:ext cx="548640" cy="256032"/>
          </a:xfrm>
          <a:prstGeom prst="rect">
            <a:avLst/>
          </a:prstGeom>
          <a:noFill/>
        </p:spPr>
        <p:txBody>
          <a:bodyPr wrap="square" anchor="t" lIns="45720" rIns="45720">
            <a:noAutofit/>
          </a:bodyPr>
          <a:lstStyle/>
          <a:p>
            <a:pPr eaLnBrk="0" latinLnBrk="0" algn="ctr">
              <a:spcAft>
                <a:spcPts val="400"/>
              </a:spcAft>
            </a:pPr>
            <a:r>
              <a:rPr sz="1100" b="0" lang="ko-KR" altLang="en-US">
                <a:solidFill>
                  <a:srgbClr val="595959"/>
                </a:solidFill>
                <a:latin typeface="나눔스퀘어"/>
                <a:ea typeface="나눔스퀘어"/>
              </a:rPr>
              <a:t>25s</a:t>
            </a:r>
          </a:p>
        </p:txBody>
      </p:sp>
      <p:cxnSp>
        <p:nvCxnSpPr>
          <p:cNvPr id="44" name="Connector 43"/>
          <p:cNvCxnSpPr/>
          <p:nvPr/>
        </p:nvCxnSpPr>
        <p:spPr>
          <a:xfrm>
            <a:off x="11292840" y="4553712"/>
            <a:ext cx="0"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1018519" y="4626864"/>
            <a:ext cx="548640" cy="256032"/>
          </a:xfrm>
          <a:prstGeom prst="rect">
            <a:avLst/>
          </a:prstGeom>
          <a:noFill/>
        </p:spPr>
        <p:txBody>
          <a:bodyPr wrap="square" anchor="t" lIns="45720" rIns="45720">
            <a:noAutofit/>
          </a:bodyPr>
          <a:lstStyle/>
          <a:p>
            <a:pPr eaLnBrk="0" latinLnBrk="0" algn="ctr">
              <a:spcAft>
                <a:spcPts val="400"/>
              </a:spcAft>
            </a:pPr>
            <a:r>
              <a:rPr sz="1100" b="0" lang="ko-KR" altLang="en-US">
                <a:solidFill>
                  <a:srgbClr val="595959"/>
                </a:solidFill>
                <a:latin typeface="나눔스퀘어"/>
                <a:ea typeface="나눔스퀘어"/>
              </a:rPr>
              <a:t>30s</a:t>
            </a:r>
          </a:p>
        </p:txBody>
      </p:sp>
      <p:cxnSp>
        <p:nvCxnSpPr>
          <p:cNvPr id="46" name="Connector 45"/>
          <p:cNvCxnSpPr/>
          <p:nvPr/>
        </p:nvCxnSpPr>
        <p:spPr>
          <a:xfrm>
            <a:off x="5793638" y="1874519"/>
            <a:ext cx="0" cy="2633473"/>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866790" y="1920239"/>
            <a:ext cx="2011680" cy="731520"/>
          </a:xfrm>
          <a:prstGeom prst="rect">
            <a:avLst/>
          </a:prstGeom>
          <a:noFill/>
        </p:spPr>
        <p:txBody>
          <a:bodyPr wrap="square" anchor="t" lIns="45720" rIns="45720">
            <a:noAutofit/>
          </a:bodyPr>
          <a:lstStyle/>
          <a:p>
            <a:pPr eaLnBrk="0" latinLnBrk="0" algn="l">
              <a:spcAft>
                <a:spcPts val="0"/>
              </a:spcAft>
            </a:pPr>
            <a:r>
              <a:rPr sz="1100" b="0" lang="ko-KR" altLang="en-US">
                <a:solidFill>
                  <a:srgbClr val="595959"/>
                </a:solidFill>
                <a:latin typeface="나눔스퀘어"/>
                <a:ea typeface="나눔스퀘어"/>
              </a:rPr>
              <a:t>11.96초 사건 없음</a:t>
            </a:r>
          </a:p>
          <a:p>
            <a:pPr eaLnBrk="0" latinLnBrk="0" algn="l">
              <a:spcAft>
                <a:spcPts val="0"/>
              </a:spcAft>
            </a:pPr>
            <a:r>
              <a:rPr sz="1100" b="0" lang="ko-KR" altLang="en-US">
                <a:solidFill>
                  <a:srgbClr val="595959"/>
                </a:solidFill>
                <a:latin typeface="나눔스퀘어"/>
                <a:ea typeface="나눔스퀘어"/>
              </a:rPr>
              <a:t>최고 0.50 &lt; 임계값</a:t>
            </a:r>
          </a:p>
        </p:txBody>
      </p:sp>
      <p:sp>
        <p:nvSpPr>
          <p:cNvPr id="48" name="TextBox 47"/>
          <p:cNvSpPr txBox="1"/>
          <p:nvPr/>
        </p:nvSpPr>
        <p:spPr>
          <a:xfrm>
            <a:off x="830275" y="4937760"/>
            <a:ext cx="10522915" cy="1188720"/>
          </a:xfrm>
          <a:prstGeom prst="rect">
            <a:avLst/>
          </a:prstGeom>
          <a:noFill/>
        </p:spPr>
        <p:txBody>
          <a:bodyPr wrap="square" anchor="t" lIns="45720" rIns="45720">
            <a:noAutofit/>
          </a:bodyPr>
          <a:lstStyle/>
          <a:p>
            <a:pPr eaLnBrk="0" latinLnBrk="0" algn="l">
              <a:spcAft>
                <a:spcPts val="600"/>
              </a:spcAft>
            </a:pPr>
            <a:r>
              <a:rPr sz="1200" b="0" lang="ko-KR" altLang="en-US">
                <a:solidFill>
                  <a:srgbClr val="595959"/>
                </a:solidFill>
                <a:latin typeface="나눔스퀘어"/>
                <a:ea typeface="나눔스퀘어"/>
              </a:rPr>
              <a:t>오디오 근거  전면: reorientation 0.711, slow novelty 0.894 · 코: novelty fast 0.593, attack 0.398 · 귀·입: micro detail, attack · 눈: harmonic sustain, brightness · 후면: bass 0.775, reservoir 0.873</a:t>
            </a:r>
          </a:p>
          <a:p>
            <a:pPr eaLnBrk="0" latinLnBrk="0" algn="l">
              <a:spcAft>
                <a:spcPts val="600"/>
              </a:spcAft>
            </a:pPr>
            <a:r>
              <a:rPr sz="1200" b="0" lang="ko-KR" altLang="en-US">
                <a:solidFill>
                  <a:srgbClr val="595959"/>
                </a:solidFill>
                <a:latin typeface="나눔스퀘어"/>
                <a:ea typeface="나눔스퀘어"/>
              </a:rPr>
              <a:t>입력  OpenEyeSignal_030.wav (30초, 48 kHz stereo), 출력 1024², 24 fps, 720 frame</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4498</Words>
  <Application>Microsoft Office PowerPoint</Application>
  <DocSecurity>0</DocSecurity>
  <PresentationFormat>와이드스크린</PresentationFormat>
  <Paragraphs>432</Paragraphs>
  <Slides>30</Slides>
  <Notes>29</Notes>
  <HiddenSlides>0</HiddenSlides>
  <MMClips>1</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30</vt:i4>
      </vt:variant>
    </vt:vector>
  </HeadingPairs>
  <TitlesOfParts>
    <vt:vector size="36" baseType="lpstr">
      <vt:lpstr>나눔스퀘어</vt:lpstr>
      <vt:lpstr>나눔스퀘어 Bold</vt:lpstr>
      <vt:lpstr>나눔스퀘어 ExtraBold</vt:lpstr>
      <vt:lpstr>맑은 고딕</vt:lpstr>
      <vt:lpstr>Arial</vt:lpstr>
      <vt:lpstr>Office 테마</vt:lpstr>
      <vt:lpstr>의미 있는 표면 영역 그래프와 연속 UV 상태를 이용한 오디오 반응형 프로젝션 매핑 콘텐츠 저작</vt:lpstr>
      <vt:lpstr>발표자 소개</vt:lpstr>
      <vt:lpstr>Introduction</vt:lpstr>
      <vt:lpstr>물체의 형태에 맞춘 프로젝션 매핑</vt:lpstr>
      <vt:lpstr>콘텐츠 제작의 어려움</vt:lpstr>
      <vt:lpstr>생성형 모델을 그대로 쓸 때의 문제</vt:lpstr>
      <vt:lpstr>관련 연구</vt:lpstr>
      <vt:lpstr>연구 목표와 기여점</vt:lpstr>
      <vt:lpstr>Method</vt:lpstr>
      <vt:lpstr>시스템 개요</vt:lpstr>
      <vt:lpstr>① MSR과 MSRG</vt:lpstr>
      <vt:lpstr>② 오디오를 표면 역할로 연결</vt:lpstr>
      <vt:lpstr>③ 국소 생성과 UV 통합</vt:lpstr>
      <vt:lpstr>Experiments</vt:lpstr>
      <vt:lpstr>실험 환경과 평가 지표</vt:lpstr>
      <vt:lpstr>PowerPoint 프레젠테이션</vt:lpstr>
      <vt:lpstr>결과 ② 영역별 반응과 오디오</vt:lpstr>
      <vt:lpstr>PowerPoint 프레젠테이션</vt:lpstr>
      <vt:lpstr>결과 ③ 표면 일관성</vt:lpstr>
      <vt:lpstr>현재 결과: TheRock 30초 UV 영상</vt:lpstr>
      <vt:lpstr>Conclusion</vt:lpstr>
      <vt:lpstr>연구의 연장선: 실물 투사</vt:lpstr>
      <vt:lpstr>한계점과 향후 계획</vt:lpstr>
      <vt:lpstr>결론</vt:lpstr>
      <vt:lpstr>감사합니다</vt:lpstr>
      <vt:lpstr>Appendix</vt:lpstr>
      <vt:lpstr>부록 A. 주장 범위</vt:lpstr>
      <vt:lpstr>부록 B. 실패에서 만든 원칙</vt:lpstr>
      <vt:lpstr>부록 C. 예상 질문</vt:lpstr>
      <vt:lpstr>부록 D. 카메라 없는 DLT 보정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민수 강</cp:lastModifiedBy>
  <cp:revision>1</cp:revision>
  <dcterms:created xsi:type="dcterms:W3CDTF">2026-10-05T21:06:50Z</dcterms:created>
  <dcterms:modified xsi:type="dcterms:W3CDTF">2026-10-05T21:12:55Z</dcterms:modified>
</cp:coreProperties>
</file>